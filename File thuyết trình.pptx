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Proxima Nova Heavy" charset="1" panose="02000506030000020004"/>
      <p:regular r:id="rId18"/>
    </p:embeddedFont>
    <p:embeddedFont>
      <p:font typeface="Proxima Nova Bold" charset="1" panose="02000506030000020004"/>
      <p:regular r:id="rId19"/>
    </p:embeddedFont>
    <p:embeddedFont>
      <p:font typeface="Sprite Graffiti" charset="1" panose="00000500000000000000"/>
      <p:regular r:id="rId20"/>
    </p:embeddedFont>
    <p:embeddedFont>
      <p:font typeface="Proxima Nova Heavy Italics" charset="1" panose="02000506030000020004"/>
      <p:regular r:id="rId21"/>
    </p:embeddedFont>
    <p:embeddedFont>
      <p:font typeface="Proxima Nova" charset="1" panose="02000506030000020004"/>
      <p:regular r:id="rId22"/>
    </p:embeddedFont>
    <p:embeddedFont>
      <p:font typeface="Proxima Nova Bold Italics" charset="1" panose="02000506030000020004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Relationship Id="rId3" Target="../media/image7.png" Type="http://schemas.openxmlformats.org/officeDocument/2006/relationships/image"/><Relationship Id="rId4" Target="../media/image8.svg" Type="http://schemas.openxmlformats.org/officeDocument/2006/relationships/image"/><Relationship Id="rId5" Target="../media/image9.png" Type="http://schemas.openxmlformats.org/officeDocument/2006/relationships/image"/><Relationship Id="rId6" Target="../media/image10.svg" Type="http://schemas.openxmlformats.org/officeDocument/2006/relationships/image"/><Relationship Id="rId7" Target="../media/image11.png" Type="http://schemas.openxmlformats.org/officeDocument/2006/relationships/image"/><Relationship Id="rId8" Target="../media/image12.png" Type="http://schemas.openxmlformats.org/officeDocument/2006/relationships/image"/><Relationship Id="rId9" Target="../media/image2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image2.png" Type="http://schemas.openxmlformats.org/officeDocument/2006/relationships/image"/><Relationship Id="rId4" Target="../media/image13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png" Type="http://schemas.openxmlformats.org/officeDocument/2006/relationships/image"/><Relationship Id="rId4" Target="../media/image16.png" Type="http://schemas.openxmlformats.org/officeDocument/2006/relationships/image"/><Relationship Id="rId5" Target="../media/image2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0.png" Type="http://schemas.openxmlformats.org/officeDocument/2006/relationships/image"/><Relationship Id="rId6" Target="../media/image21.svg" Type="http://schemas.openxmlformats.org/officeDocument/2006/relationships/image"/><Relationship Id="rId7" Target="../media/image22.png" Type="http://schemas.openxmlformats.org/officeDocument/2006/relationships/image"/><Relationship Id="rId8" Target="../media/image23.svg" Type="http://schemas.openxmlformats.org/officeDocument/2006/relationships/image"/><Relationship Id="rId9" Target="../media/image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media/image25.svg" Type="http://schemas.openxmlformats.org/officeDocument/2006/relationships/image"/><Relationship Id="rId4" Target="../media/image26.png" Type="http://schemas.openxmlformats.org/officeDocument/2006/relationships/image"/><Relationship Id="rId5" Target="../media/image27.svg" Type="http://schemas.openxmlformats.org/officeDocument/2006/relationships/image"/><Relationship Id="rId6" Target="../media/image15.png" Type="http://schemas.openxmlformats.org/officeDocument/2006/relationships/image"/><Relationship Id="rId7" Target="../media/image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59" t="-630" r="-11425" b="-32015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158456" y="-367399"/>
            <a:ext cx="13041477" cy="11238567"/>
            <a:chOff x="0" y="0"/>
            <a:chExt cx="3434792" cy="295995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434792" cy="2959952"/>
            </a:xfrm>
            <a:custGeom>
              <a:avLst/>
              <a:gdLst/>
              <a:ahLst/>
              <a:cxnLst/>
              <a:rect r="r" b="b" t="t" l="l"/>
              <a:pathLst>
                <a:path h="2959952" w="3434792">
                  <a:moveTo>
                    <a:pt x="0" y="0"/>
                  </a:moveTo>
                  <a:lnTo>
                    <a:pt x="3434792" y="0"/>
                  </a:lnTo>
                  <a:lnTo>
                    <a:pt x="3434792" y="2959952"/>
                  </a:lnTo>
                  <a:lnTo>
                    <a:pt x="0" y="2959952"/>
                  </a:lnTo>
                  <a:close/>
                </a:path>
              </a:pathLst>
            </a:custGeom>
            <a:gradFill rotWithShape="true">
              <a:gsLst>
                <a:gs pos="0">
                  <a:srgbClr val="002772">
                    <a:alpha val="100000"/>
                  </a:srgbClr>
                </a:gs>
                <a:gs pos="50000">
                  <a:srgbClr val="042B75">
                    <a:alpha val="100000"/>
                  </a:srgbClr>
                </a:gs>
                <a:gs pos="100000">
                  <a:srgbClr val="002872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3434792" cy="29980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-204071" y="3524974"/>
            <a:ext cx="438110" cy="1780314"/>
            <a:chOff x="0" y="0"/>
            <a:chExt cx="115387" cy="46888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5387" cy="468889"/>
            </a:xfrm>
            <a:custGeom>
              <a:avLst/>
              <a:gdLst/>
              <a:ahLst/>
              <a:cxnLst/>
              <a:rect r="r" b="b" t="t" l="l"/>
              <a:pathLst>
                <a:path h="468889" w="115387">
                  <a:moveTo>
                    <a:pt x="0" y="0"/>
                  </a:moveTo>
                  <a:lnTo>
                    <a:pt x="115387" y="0"/>
                  </a:lnTo>
                  <a:lnTo>
                    <a:pt x="115387" y="468889"/>
                  </a:lnTo>
                  <a:lnTo>
                    <a:pt x="0" y="468889"/>
                  </a:lnTo>
                  <a:close/>
                </a:path>
              </a:pathLst>
            </a:custGeom>
            <a:gradFill rotWithShape="true">
              <a:gsLst>
                <a:gs pos="0">
                  <a:srgbClr val="235BBB">
                    <a:alpha val="100000"/>
                  </a:srgbClr>
                </a:gs>
                <a:gs pos="100000">
                  <a:srgbClr val="347FFF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15387" cy="5069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361715" y="3524974"/>
            <a:ext cx="666985" cy="1780314"/>
            <a:chOff x="0" y="0"/>
            <a:chExt cx="175667" cy="46888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75667" cy="468889"/>
            </a:xfrm>
            <a:custGeom>
              <a:avLst/>
              <a:gdLst/>
              <a:ahLst/>
              <a:cxnLst/>
              <a:rect r="r" b="b" t="t" l="l"/>
              <a:pathLst>
                <a:path h="468889" w="175667">
                  <a:moveTo>
                    <a:pt x="0" y="0"/>
                  </a:moveTo>
                  <a:lnTo>
                    <a:pt x="175667" y="0"/>
                  </a:lnTo>
                  <a:lnTo>
                    <a:pt x="175667" y="468889"/>
                  </a:lnTo>
                  <a:lnTo>
                    <a:pt x="0" y="468889"/>
                  </a:lnTo>
                  <a:close/>
                </a:path>
              </a:pathLst>
            </a:custGeom>
            <a:gradFill rotWithShape="true">
              <a:gsLst>
                <a:gs pos="0">
                  <a:srgbClr val="C08846">
                    <a:alpha val="100000"/>
                  </a:srgbClr>
                </a:gs>
                <a:gs pos="100000">
                  <a:srgbClr val="FFC87B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75667" cy="5069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790147" y="6628067"/>
            <a:ext cx="5218672" cy="2385976"/>
            <a:chOff x="0" y="0"/>
            <a:chExt cx="1317394" cy="60231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17394" cy="602312"/>
            </a:xfrm>
            <a:custGeom>
              <a:avLst/>
              <a:gdLst/>
              <a:ahLst/>
              <a:cxnLst/>
              <a:rect r="r" b="b" t="t" l="l"/>
              <a:pathLst>
                <a:path h="602312" w="1317394">
                  <a:moveTo>
                    <a:pt x="75659" y="0"/>
                  </a:moveTo>
                  <a:lnTo>
                    <a:pt x="1241736" y="0"/>
                  </a:lnTo>
                  <a:cubicBezTo>
                    <a:pt x="1283521" y="0"/>
                    <a:pt x="1317394" y="33874"/>
                    <a:pt x="1317394" y="75659"/>
                  </a:cubicBezTo>
                  <a:lnTo>
                    <a:pt x="1317394" y="526654"/>
                  </a:lnTo>
                  <a:cubicBezTo>
                    <a:pt x="1317394" y="568439"/>
                    <a:pt x="1283521" y="602312"/>
                    <a:pt x="1241736" y="602312"/>
                  </a:cubicBezTo>
                  <a:lnTo>
                    <a:pt x="75659" y="602312"/>
                  </a:lnTo>
                  <a:cubicBezTo>
                    <a:pt x="33874" y="602312"/>
                    <a:pt x="0" y="568439"/>
                    <a:pt x="0" y="526654"/>
                  </a:cubicBezTo>
                  <a:lnTo>
                    <a:pt x="0" y="75659"/>
                  </a:lnTo>
                  <a:cubicBezTo>
                    <a:pt x="0" y="33874"/>
                    <a:pt x="33874" y="0"/>
                    <a:pt x="7565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C08846">
                    <a:alpha val="100000"/>
                  </a:srgbClr>
                </a:gs>
                <a:gs pos="100000">
                  <a:srgbClr val="FFC87B">
                    <a:alpha val="100000"/>
                  </a:srgbClr>
                </a:gs>
              </a:gsLst>
              <a:lin ang="5400000"/>
            </a:gradFill>
            <a:ln cap="rnd">
              <a:noFill/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317394" cy="6404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61715" y="6628067"/>
            <a:ext cx="5199668" cy="929728"/>
            <a:chOff x="0" y="0"/>
            <a:chExt cx="1312597" cy="234699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312597" cy="234699"/>
            </a:xfrm>
            <a:custGeom>
              <a:avLst/>
              <a:gdLst/>
              <a:ahLst/>
              <a:cxnLst/>
              <a:rect r="r" b="b" t="t" l="l"/>
              <a:pathLst>
                <a:path h="234699" w="1312597">
                  <a:moveTo>
                    <a:pt x="75935" y="0"/>
                  </a:moveTo>
                  <a:lnTo>
                    <a:pt x="1236662" y="0"/>
                  </a:lnTo>
                  <a:cubicBezTo>
                    <a:pt x="1256801" y="0"/>
                    <a:pt x="1276115" y="8000"/>
                    <a:pt x="1290356" y="22241"/>
                  </a:cubicBezTo>
                  <a:cubicBezTo>
                    <a:pt x="1304596" y="36482"/>
                    <a:pt x="1312597" y="55796"/>
                    <a:pt x="1312597" y="75935"/>
                  </a:cubicBezTo>
                  <a:lnTo>
                    <a:pt x="1312597" y="158764"/>
                  </a:lnTo>
                  <a:cubicBezTo>
                    <a:pt x="1312597" y="178903"/>
                    <a:pt x="1304596" y="198218"/>
                    <a:pt x="1290356" y="212458"/>
                  </a:cubicBezTo>
                  <a:cubicBezTo>
                    <a:pt x="1276115" y="226699"/>
                    <a:pt x="1256801" y="234699"/>
                    <a:pt x="1236662" y="234699"/>
                  </a:cubicBezTo>
                  <a:lnTo>
                    <a:pt x="75935" y="234699"/>
                  </a:lnTo>
                  <a:cubicBezTo>
                    <a:pt x="55796" y="234699"/>
                    <a:pt x="36482" y="226699"/>
                    <a:pt x="22241" y="212458"/>
                  </a:cubicBezTo>
                  <a:cubicBezTo>
                    <a:pt x="8000" y="198218"/>
                    <a:pt x="0" y="178903"/>
                    <a:pt x="0" y="158764"/>
                  </a:cubicBezTo>
                  <a:lnTo>
                    <a:pt x="0" y="75935"/>
                  </a:lnTo>
                  <a:cubicBezTo>
                    <a:pt x="0" y="55796"/>
                    <a:pt x="8000" y="36482"/>
                    <a:pt x="22241" y="22241"/>
                  </a:cubicBezTo>
                  <a:cubicBezTo>
                    <a:pt x="36482" y="8000"/>
                    <a:pt x="55796" y="0"/>
                    <a:pt x="7593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235BBB">
                    <a:alpha val="100000"/>
                  </a:srgbClr>
                </a:gs>
                <a:gs pos="100000">
                  <a:srgbClr val="347FFF">
                    <a:alpha val="100000"/>
                  </a:srgbClr>
                </a:gs>
              </a:gsLst>
              <a:lin ang="5400000"/>
            </a:gradFill>
            <a:ln cap="rnd">
              <a:noFill/>
              <a:prstDash val="solid"/>
              <a:round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312597" cy="2727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2883021" y="0"/>
            <a:ext cx="5367543" cy="1720968"/>
          </a:xfrm>
          <a:custGeom>
            <a:avLst/>
            <a:gdLst/>
            <a:ahLst/>
            <a:cxnLst/>
            <a:rect r="r" b="b" t="t" l="l"/>
            <a:pathLst>
              <a:path h="1720968" w="5367543">
                <a:moveTo>
                  <a:pt x="0" y="0"/>
                </a:moveTo>
                <a:lnTo>
                  <a:pt x="5367542" y="0"/>
                </a:lnTo>
                <a:lnTo>
                  <a:pt x="5367542" y="1720968"/>
                </a:lnTo>
                <a:lnTo>
                  <a:pt x="0" y="1720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538578" y="3060274"/>
            <a:ext cx="9470241" cy="2871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40"/>
              </a:lnSpc>
            </a:pPr>
            <a:r>
              <a:rPr lang="en-US" b="true" sz="6500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XÁC THỰC SINH TRẮC HỌC TRÊN THIẾT BỊ DI ĐỘNG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95208" y="6946660"/>
            <a:ext cx="1206119" cy="3847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7"/>
              </a:lnSpc>
            </a:pPr>
            <a:r>
              <a:rPr lang="en-US" b="true" sz="2609">
                <a:solidFill>
                  <a:srgbClr val="F5FC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GVHD: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124611" y="6946660"/>
            <a:ext cx="1395835" cy="3847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7"/>
              </a:lnSpc>
            </a:pPr>
            <a:r>
              <a:rPr lang="en-US" b="true" sz="2609">
                <a:solidFill>
                  <a:srgbClr val="F5FC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Tên SV :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901327" y="6917119"/>
            <a:ext cx="3660057" cy="4142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8"/>
              </a:lnSpc>
            </a:pPr>
            <a:r>
              <a:rPr lang="en-US" b="true" sz="2800">
                <a:solidFill>
                  <a:srgbClr val="F5FC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Nguyễn Mạnh Hùng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520446" y="6946660"/>
            <a:ext cx="3488373" cy="1758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9"/>
              </a:lnSpc>
            </a:pPr>
            <a:r>
              <a:rPr lang="en-US" sz="3000" b="true">
                <a:solidFill>
                  <a:srgbClr val="F5FC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Nguyễn</a:t>
            </a:r>
            <a:r>
              <a:rPr lang="en-US" sz="3000" b="true">
                <a:solidFill>
                  <a:srgbClr val="F5FC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Hữu Phúc</a:t>
            </a:r>
          </a:p>
          <a:p>
            <a:pPr algn="l">
              <a:lnSpc>
                <a:spcPts val="3479"/>
              </a:lnSpc>
            </a:pPr>
            <a:r>
              <a:rPr lang="en-US" sz="3000" b="true">
                <a:solidFill>
                  <a:srgbClr val="F5FC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Hồng Thắng Quân</a:t>
            </a:r>
          </a:p>
          <a:p>
            <a:pPr algn="l">
              <a:lnSpc>
                <a:spcPts val="3479"/>
              </a:lnSpc>
            </a:pPr>
            <a:r>
              <a:rPr lang="en-US" sz="3000" b="true">
                <a:solidFill>
                  <a:srgbClr val="F5FC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Tạ Thanh Mạnh</a:t>
            </a:r>
          </a:p>
          <a:p>
            <a:pPr algn="l">
              <a:lnSpc>
                <a:spcPts val="3479"/>
              </a:lnSpc>
            </a:pPr>
            <a:r>
              <a:rPr lang="en-US" b="true" sz="3000">
                <a:solidFill>
                  <a:srgbClr val="F5FC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Nguyễn Hoài An</a:t>
            </a:r>
          </a:p>
        </p:txBody>
      </p:sp>
      <p:sp>
        <p:nvSpPr>
          <p:cNvPr name="TextBox 24" id="24"/>
          <p:cNvSpPr txBox="true"/>
          <p:nvPr/>
        </p:nvSpPr>
        <p:spPr>
          <a:xfrm rot="608533">
            <a:off x="12429960" y="4272951"/>
            <a:ext cx="5062914" cy="1769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805"/>
              </a:lnSpc>
            </a:pPr>
            <a:r>
              <a:rPr lang="en-US" sz="11900">
                <a:gradFill>
                  <a:gsLst>
                    <a:gs pos="0">
                      <a:srgbClr val="FFE4C2">
                        <a:alpha val="100000"/>
                      </a:srgbClr>
                    </a:gs>
                    <a:gs pos="100000">
                      <a:srgbClr val="87F8FF">
                        <a:alpha val="100000"/>
                      </a:srgbClr>
                    </a:gs>
                  </a:gsLst>
                  <a:lin ang="0"/>
                </a:gradFill>
                <a:latin typeface="Sprite Graffiti"/>
                <a:ea typeface="Sprite Graffiti"/>
                <a:cs typeface="Sprite Graffiti"/>
                <a:sym typeface="Sprite Graffiti"/>
              </a:rPr>
              <a:t>Nhóm 2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457761" y="1205407"/>
            <a:ext cx="10952572" cy="9314847"/>
          </a:xfrm>
          <a:custGeom>
            <a:avLst/>
            <a:gdLst/>
            <a:ahLst/>
            <a:cxnLst/>
            <a:rect r="r" b="b" t="t" l="l"/>
            <a:pathLst>
              <a:path h="9314847" w="10952572">
                <a:moveTo>
                  <a:pt x="0" y="0"/>
                </a:moveTo>
                <a:lnTo>
                  <a:pt x="10952571" y="0"/>
                </a:lnTo>
                <a:lnTo>
                  <a:pt x="10952571" y="9314847"/>
                </a:lnTo>
                <a:lnTo>
                  <a:pt x="0" y="93148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06" t="0" r="-32396" b="-16523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396431" y="696152"/>
            <a:ext cx="6229247" cy="9824101"/>
            <a:chOff x="0" y="0"/>
            <a:chExt cx="1640625" cy="258741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40625" cy="2587418"/>
            </a:xfrm>
            <a:custGeom>
              <a:avLst/>
              <a:gdLst/>
              <a:ahLst/>
              <a:cxnLst/>
              <a:rect r="r" b="b" t="t" l="l"/>
              <a:pathLst>
                <a:path h="2587418" w="1640625">
                  <a:moveTo>
                    <a:pt x="0" y="0"/>
                  </a:moveTo>
                  <a:lnTo>
                    <a:pt x="1640625" y="0"/>
                  </a:lnTo>
                  <a:lnTo>
                    <a:pt x="1640625" y="2587418"/>
                  </a:lnTo>
                  <a:lnTo>
                    <a:pt x="0" y="2587418"/>
                  </a:lnTo>
                  <a:close/>
                </a:path>
              </a:pathLst>
            </a:custGeom>
            <a:gradFill rotWithShape="true">
              <a:gsLst>
                <a:gs pos="0">
                  <a:srgbClr val="F5FCFF">
                    <a:alpha val="0"/>
                  </a:srgbClr>
                </a:gs>
                <a:gs pos="100000">
                  <a:srgbClr val="F5FC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640625" cy="26255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-189806" y="-202673"/>
            <a:ext cx="18719200" cy="1431252"/>
            <a:chOff x="0" y="0"/>
            <a:chExt cx="4930160" cy="37695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930160" cy="376955"/>
            </a:xfrm>
            <a:custGeom>
              <a:avLst/>
              <a:gdLst/>
              <a:ahLst/>
              <a:cxnLst/>
              <a:rect r="r" b="b" t="t" l="l"/>
              <a:pathLst>
                <a:path h="376955" w="4930160">
                  <a:moveTo>
                    <a:pt x="0" y="0"/>
                  </a:moveTo>
                  <a:lnTo>
                    <a:pt x="4930160" y="0"/>
                  </a:lnTo>
                  <a:lnTo>
                    <a:pt x="4930160" y="376955"/>
                  </a:lnTo>
                  <a:lnTo>
                    <a:pt x="0" y="37695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4930160" cy="4150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-189806" y="439295"/>
            <a:ext cx="347972" cy="513715"/>
            <a:chOff x="0" y="0"/>
            <a:chExt cx="91647" cy="13529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1647" cy="135299"/>
            </a:xfrm>
            <a:custGeom>
              <a:avLst/>
              <a:gdLst/>
              <a:ahLst/>
              <a:cxnLst/>
              <a:rect r="r" b="b" t="t" l="l"/>
              <a:pathLst>
                <a:path h="135299" w="91647">
                  <a:moveTo>
                    <a:pt x="0" y="0"/>
                  </a:moveTo>
                  <a:lnTo>
                    <a:pt x="91647" y="0"/>
                  </a:lnTo>
                  <a:lnTo>
                    <a:pt x="91647" y="135299"/>
                  </a:lnTo>
                  <a:lnTo>
                    <a:pt x="0" y="135299"/>
                  </a:lnTo>
                  <a:close/>
                </a:path>
              </a:pathLst>
            </a:custGeom>
            <a:solidFill>
              <a:srgbClr val="3065CB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91647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028700" y="363095"/>
            <a:ext cx="11264030" cy="646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  <a:spcBef>
                <a:spcPct val="0"/>
              </a:spcBef>
            </a:pPr>
            <a:r>
              <a:rPr lang="en-US" b="true" sz="3799" i="true">
                <a:solidFill>
                  <a:srgbClr val="061647"/>
                </a:solidFill>
                <a:latin typeface="Proxima Nova Heavy Italics"/>
                <a:ea typeface="Proxima Nova Heavy Italics"/>
                <a:cs typeface="Proxima Nova Heavy Italics"/>
                <a:sym typeface="Proxima Nova Heavy Italics"/>
              </a:rPr>
              <a:t>MỤC LỤC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57744" y="7468575"/>
            <a:ext cx="10015651" cy="2600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00"/>
              </a:lnSpc>
            </a:pPr>
            <a:r>
              <a:rPr lang="en-US" b="true" sz="12000">
                <a:solidFill>
                  <a:srgbClr val="F5FC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PROBLEM STATEMENT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144000" y="2100068"/>
            <a:ext cx="8405702" cy="6444832"/>
            <a:chOff x="0" y="0"/>
            <a:chExt cx="2121924" cy="162692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21924" cy="1626924"/>
            </a:xfrm>
            <a:custGeom>
              <a:avLst/>
              <a:gdLst/>
              <a:ahLst/>
              <a:cxnLst/>
              <a:rect r="r" b="b" t="t" l="l"/>
              <a:pathLst>
                <a:path h="1626924" w="2121924">
                  <a:moveTo>
                    <a:pt x="46973" y="0"/>
                  </a:moveTo>
                  <a:lnTo>
                    <a:pt x="2074951" y="0"/>
                  </a:lnTo>
                  <a:cubicBezTo>
                    <a:pt x="2100893" y="0"/>
                    <a:pt x="2121924" y="21030"/>
                    <a:pt x="2121924" y="46973"/>
                  </a:cubicBezTo>
                  <a:lnTo>
                    <a:pt x="2121924" y="1579952"/>
                  </a:lnTo>
                  <a:cubicBezTo>
                    <a:pt x="2121924" y="1605894"/>
                    <a:pt x="2100893" y="1626924"/>
                    <a:pt x="2074951" y="1626924"/>
                  </a:cubicBezTo>
                  <a:lnTo>
                    <a:pt x="46973" y="1626924"/>
                  </a:lnTo>
                  <a:cubicBezTo>
                    <a:pt x="21030" y="1626924"/>
                    <a:pt x="0" y="1605894"/>
                    <a:pt x="0" y="1579952"/>
                  </a:cubicBezTo>
                  <a:lnTo>
                    <a:pt x="0" y="46973"/>
                  </a:lnTo>
                  <a:cubicBezTo>
                    <a:pt x="0" y="21030"/>
                    <a:pt x="21030" y="0"/>
                    <a:pt x="46973" y="0"/>
                  </a:cubicBezTo>
                  <a:close/>
                </a:path>
              </a:pathLst>
            </a:custGeom>
            <a:solidFill>
              <a:srgbClr val="3065CB"/>
            </a:solidFill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121924" cy="16650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943374" y="1525403"/>
            <a:ext cx="4806954" cy="991241"/>
            <a:chOff x="0" y="0"/>
            <a:chExt cx="1213461" cy="25022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13461" cy="250228"/>
            </a:xfrm>
            <a:custGeom>
              <a:avLst/>
              <a:gdLst/>
              <a:ahLst/>
              <a:cxnLst/>
              <a:rect r="r" b="b" t="t" l="l"/>
              <a:pathLst>
                <a:path h="250228" w="1213461">
                  <a:moveTo>
                    <a:pt x="53149" y="0"/>
                  </a:moveTo>
                  <a:lnTo>
                    <a:pt x="1160312" y="0"/>
                  </a:lnTo>
                  <a:cubicBezTo>
                    <a:pt x="1189665" y="0"/>
                    <a:pt x="1213461" y="23795"/>
                    <a:pt x="1213461" y="53149"/>
                  </a:cubicBezTo>
                  <a:lnTo>
                    <a:pt x="1213461" y="197079"/>
                  </a:lnTo>
                  <a:cubicBezTo>
                    <a:pt x="1213461" y="211175"/>
                    <a:pt x="1207861" y="224693"/>
                    <a:pt x="1197894" y="234661"/>
                  </a:cubicBezTo>
                  <a:cubicBezTo>
                    <a:pt x="1187926" y="244628"/>
                    <a:pt x="1174408" y="250228"/>
                    <a:pt x="1160312" y="250228"/>
                  </a:cubicBezTo>
                  <a:lnTo>
                    <a:pt x="53149" y="250228"/>
                  </a:lnTo>
                  <a:cubicBezTo>
                    <a:pt x="39053" y="250228"/>
                    <a:pt x="25534" y="244628"/>
                    <a:pt x="15567" y="234661"/>
                  </a:cubicBezTo>
                  <a:cubicBezTo>
                    <a:pt x="5600" y="224693"/>
                    <a:pt x="0" y="211175"/>
                    <a:pt x="0" y="197079"/>
                  </a:cubicBezTo>
                  <a:lnTo>
                    <a:pt x="0" y="53149"/>
                  </a:lnTo>
                  <a:cubicBezTo>
                    <a:pt x="0" y="39053"/>
                    <a:pt x="5600" y="25534"/>
                    <a:pt x="15567" y="15567"/>
                  </a:cubicBezTo>
                  <a:cubicBezTo>
                    <a:pt x="25534" y="5600"/>
                    <a:pt x="39053" y="0"/>
                    <a:pt x="5314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C08846">
                    <a:alpha val="100000"/>
                  </a:srgbClr>
                </a:gs>
                <a:gs pos="100000">
                  <a:srgbClr val="FFC87B">
                    <a:alpha val="100000"/>
                  </a:srgbClr>
                </a:gs>
              </a:gsLst>
              <a:lin ang="5400000"/>
            </a:gradFill>
            <a:ln w="38100" cap="rnd">
              <a:solidFill>
                <a:srgbClr val="D39C56"/>
              </a:solidFill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213461" cy="2883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2215748" y="1775596"/>
            <a:ext cx="2392876" cy="548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9"/>
              </a:lnSpc>
            </a:pPr>
            <a:r>
              <a:rPr lang="en-US" b="true" sz="3999">
                <a:solidFill>
                  <a:srgbClr val="000000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MỤC LỤC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565072" y="2746793"/>
            <a:ext cx="7694228" cy="538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80"/>
              </a:lnSpc>
            </a:pPr>
            <a:r>
              <a:rPr lang="en-US" sz="3843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1. Giới thiệu đề tài &amp; Mục tiêu</a:t>
            </a:r>
          </a:p>
          <a:p>
            <a:pPr algn="ctr">
              <a:lnSpc>
                <a:spcPts val="5380"/>
              </a:lnSpc>
            </a:pPr>
            <a:r>
              <a:rPr lang="en-US" sz="3843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2. Công nghệ chính sử dụng</a:t>
            </a:r>
          </a:p>
          <a:p>
            <a:pPr algn="ctr">
              <a:lnSpc>
                <a:spcPts val="5380"/>
              </a:lnSpc>
            </a:pPr>
            <a:r>
              <a:rPr lang="en-US" sz="3843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3. Kiến trúc &amp; Nguyên lý hoạt động</a:t>
            </a:r>
          </a:p>
          <a:p>
            <a:pPr algn="ctr">
              <a:lnSpc>
                <a:spcPts val="5380"/>
              </a:lnSpc>
            </a:pPr>
            <a:r>
              <a:rPr lang="en-US" sz="3843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4. Thiết kế giao diện ứng dụng</a:t>
            </a:r>
          </a:p>
          <a:p>
            <a:pPr algn="ctr">
              <a:lnSpc>
                <a:spcPts val="5380"/>
              </a:lnSpc>
            </a:pPr>
            <a:r>
              <a:rPr lang="en-US" sz="3843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5. Demo trực tiếp các tính năng</a:t>
            </a:r>
          </a:p>
          <a:p>
            <a:pPr algn="ctr">
              <a:lnSpc>
                <a:spcPts val="5380"/>
              </a:lnSpc>
            </a:pPr>
            <a:r>
              <a:rPr lang="en-US" sz="3843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6. Đánh giá ưu điểm &amp; Hạn chế</a:t>
            </a:r>
          </a:p>
          <a:p>
            <a:pPr algn="ctr">
              <a:lnSpc>
                <a:spcPts val="5380"/>
              </a:lnSpc>
            </a:pPr>
            <a:r>
              <a:rPr lang="en-US" sz="3843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rPr>
              <a:t>7</a:t>
            </a:r>
            <a:r>
              <a:rPr lang="en-US" sz="3843" b="true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. Kết luận &amp; Hướng phát triển</a:t>
            </a:r>
          </a:p>
          <a:p>
            <a:pPr algn="ctr">
              <a:lnSpc>
                <a:spcPts val="5380"/>
              </a:lnSpc>
            </a:pP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89806" y="-1570622"/>
            <a:ext cx="18719200" cy="8331971"/>
          </a:xfrm>
          <a:custGeom>
            <a:avLst/>
            <a:gdLst/>
            <a:ahLst/>
            <a:cxnLst/>
            <a:rect r="r" b="b" t="t" l="l"/>
            <a:pathLst>
              <a:path h="8331971" w="18719200">
                <a:moveTo>
                  <a:pt x="0" y="0"/>
                </a:moveTo>
                <a:lnTo>
                  <a:pt x="18719200" y="0"/>
                </a:lnTo>
                <a:lnTo>
                  <a:pt x="18719200" y="8331972"/>
                </a:lnTo>
                <a:lnTo>
                  <a:pt x="0" y="83319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498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189806" y="-202673"/>
            <a:ext cx="18719200" cy="1431252"/>
            <a:chOff x="0" y="0"/>
            <a:chExt cx="4930160" cy="37695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30160" cy="376955"/>
            </a:xfrm>
            <a:custGeom>
              <a:avLst/>
              <a:gdLst/>
              <a:ahLst/>
              <a:cxnLst/>
              <a:rect r="r" b="b" t="t" l="l"/>
              <a:pathLst>
                <a:path h="376955" w="4930160">
                  <a:moveTo>
                    <a:pt x="0" y="0"/>
                  </a:moveTo>
                  <a:lnTo>
                    <a:pt x="4930160" y="0"/>
                  </a:lnTo>
                  <a:lnTo>
                    <a:pt x="4930160" y="376955"/>
                  </a:lnTo>
                  <a:lnTo>
                    <a:pt x="0" y="37695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930160" cy="4150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512011" y="4482152"/>
            <a:ext cx="6628078" cy="4074978"/>
            <a:chOff x="0" y="0"/>
            <a:chExt cx="1745667" cy="107324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745667" cy="1073245"/>
            </a:xfrm>
            <a:custGeom>
              <a:avLst/>
              <a:gdLst/>
              <a:ahLst/>
              <a:cxnLst/>
              <a:rect r="r" b="b" t="t" l="l"/>
              <a:pathLst>
                <a:path h="1073245" w="1745667">
                  <a:moveTo>
                    <a:pt x="59570" y="0"/>
                  </a:moveTo>
                  <a:lnTo>
                    <a:pt x="1686096" y="0"/>
                  </a:lnTo>
                  <a:cubicBezTo>
                    <a:pt x="1718996" y="0"/>
                    <a:pt x="1745667" y="26671"/>
                    <a:pt x="1745667" y="59570"/>
                  </a:cubicBezTo>
                  <a:lnTo>
                    <a:pt x="1745667" y="1013675"/>
                  </a:lnTo>
                  <a:cubicBezTo>
                    <a:pt x="1745667" y="1029474"/>
                    <a:pt x="1739391" y="1044626"/>
                    <a:pt x="1728219" y="1055797"/>
                  </a:cubicBezTo>
                  <a:cubicBezTo>
                    <a:pt x="1717047" y="1066969"/>
                    <a:pt x="1701895" y="1073245"/>
                    <a:pt x="1686096" y="1073245"/>
                  </a:cubicBezTo>
                  <a:lnTo>
                    <a:pt x="59570" y="1073245"/>
                  </a:lnTo>
                  <a:cubicBezTo>
                    <a:pt x="43771" y="1073245"/>
                    <a:pt x="28619" y="1066969"/>
                    <a:pt x="17448" y="1055797"/>
                  </a:cubicBezTo>
                  <a:cubicBezTo>
                    <a:pt x="6276" y="1044626"/>
                    <a:pt x="0" y="1029474"/>
                    <a:pt x="0" y="1013675"/>
                  </a:cubicBezTo>
                  <a:lnTo>
                    <a:pt x="0" y="59570"/>
                  </a:lnTo>
                  <a:cubicBezTo>
                    <a:pt x="0" y="43771"/>
                    <a:pt x="6276" y="28619"/>
                    <a:pt x="17448" y="17448"/>
                  </a:cubicBezTo>
                  <a:cubicBezTo>
                    <a:pt x="28619" y="6276"/>
                    <a:pt x="43771" y="0"/>
                    <a:pt x="5957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235BBB">
                    <a:alpha val="100000"/>
                  </a:srgbClr>
                </a:gs>
                <a:gs pos="100000">
                  <a:srgbClr val="347FFF">
                    <a:alpha val="100000"/>
                  </a:srgbClr>
                </a:gs>
              </a:gsLst>
              <a:lin ang="5400000"/>
            </a:gradFill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745667" cy="11113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091865" y="4508370"/>
            <a:ext cx="5663679" cy="4048760"/>
            <a:chOff x="0" y="0"/>
            <a:chExt cx="1491669" cy="106634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91669" cy="1066340"/>
            </a:xfrm>
            <a:custGeom>
              <a:avLst/>
              <a:gdLst/>
              <a:ahLst/>
              <a:cxnLst/>
              <a:rect r="r" b="b" t="t" l="l"/>
              <a:pathLst>
                <a:path h="1066340" w="1491669">
                  <a:moveTo>
                    <a:pt x="69714" y="0"/>
                  </a:moveTo>
                  <a:lnTo>
                    <a:pt x="1421955" y="0"/>
                  </a:lnTo>
                  <a:cubicBezTo>
                    <a:pt x="1440444" y="0"/>
                    <a:pt x="1458176" y="7345"/>
                    <a:pt x="1471250" y="20419"/>
                  </a:cubicBezTo>
                  <a:cubicBezTo>
                    <a:pt x="1484324" y="33493"/>
                    <a:pt x="1491669" y="51225"/>
                    <a:pt x="1491669" y="69714"/>
                  </a:cubicBezTo>
                  <a:lnTo>
                    <a:pt x="1491669" y="996626"/>
                  </a:lnTo>
                  <a:cubicBezTo>
                    <a:pt x="1491669" y="1015115"/>
                    <a:pt x="1484324" y="1032847"/>
                    <a:pt x="1471250" y="1045921"/>
                  </a:cubicBezTo>
                  <a:cubicBezTo>
                    <a:pt x="1458176" y="1058995"/>
                    <a:pt x="1440444" y="1066340"/>
                    <a:pt x="1421955" y="1066340"/>
                  </a:cubicBezTo>
                  <a:lnTo>
                    <a:pt x="69714" y="1066340"/>
                  </a:lnTo>
                  <a:cubicBezTo>
                    <a:pt x="51225" y="1066340"/>
                    <a:pt x="33493" y="1058995"/>
                    <a:pt x="20419" y="1045921"/>
                  </a:cubicBezTo>
                  <a:cubicBezTo>
                    <a:pt x="7345" y="1032847"/>
                    <a:pt x="0" y="1015115"/>
                    <a:pt x="0" y="996626"/>
                  </a:cubicBezTo>
                  <a:lnTo>
                    <a:pt x="0" y="69714"/>
                  </a:lnTo>
                  <a:cubicBezTo>
                    <a:pt x="0" y="51225"/>
                    <a:pt x="7345" y="33493"/>
                    <a:pt x="20419" y="20419"/>
                  </a:cubicBezTo>
                  <a:cubicBezTo>
                    <a:pt x="33493" y="7345"/>
                    <a:pt x="51225" y="0"/>
                    <a:pt x="6971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C08846">
                    <a:alpha val="100000"/>
                  </a:srgbClr>
                </a:gs>
                <a:gs pos="100000">
                  <a:srgbClr val="FFC87B">
                    <a:alpha val="100000"/>
                  </a:srgbClr>
                </a:gs>
              </a:gsLst>
              <a:lin ang="5400000"/>
            </a:gradFill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491669" cy="11044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-189806" y="439295"/>
            <a:ext cx="347972" cy="513715"/>
            <a:chOff x="0" y="0"/>
            <a:chExt cx="91647" cy="13529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1647" cy="135299"/>
            </a:xfrm>
            <a:custGeom>
              <a:avLst/>
              <a:gdLst/>
              <a:ahLst/>
              <a:cxnLst/>
              <a:rect r="r" b="b" t="t" l="l"/>
              <a:pathLst>
                <a:path h="135299" w="91647">
                  <a:moveTo>
                    <a:pt x="0" y="0"/>
                  </a:moveTo>
                  <a:lnTo>
                    <a:pt x="91647" y="0"/>
                  </a:lnTo>
                  <a:lnTo>
                    <a:pt x="91647" y="135299"/>
                  </a:lnTo>
                  <a:lnTo>
                    <a:pt x="0" y="135299"/>
                  </a:lnTo>
                  <a:close/>
                </a:path>
              </a:pathLst>
            </a:custGeom>
            <a:solidFill>
              <a:srgbClr val="3065CB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91647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265152" y="439295"/>
            <a:ext cx="493718" cy="513715"/>
            <a:chOff x="0" y="0"/>
            <a:chExt cx="130033" cy="135299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30033" cy="135299"/>
            </a:xfrm>
            <a:custGeom>
              <a:avLst/>
              <a:gdLst/>
              <a:ahLst/>
              <a:cxnLst/>
              <a:rect r="r" b="b" t="t" l="l"/>
              <a:pathLst>
                <a:path h="135299" w="130033">
                  <a:moveTo>
                    <a:pt x="0" y="0"/>
                  </a:moveTo>
                  <a:lnTo>
                    <a:pt x="130033" y="0"/>
                  </a:lnTo>
                  <a:lnTo>
                    <a:pt x="130033" y="135299"/>
                  </a:lnTo>
                  <a:lnTo>
                    <a:pt x="0" y="135299"/>
                  </a:lnTo>
                  <a:close/>
                </a:path>
              </a:pathLst>
            </a:custGeom>
            <a:gradFill rotWithShape="true">
              <a:gsLst>
                <a:gs pos="0">
                  <a:srgbClr val="C08846">
                    <a:alpha val="100000"/>
                  </a:srgbClr>
                </a:gs>
                <a:gs pos="100000">
                  <a:srgbClr val="FFC87B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30033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6751674" y="4693102"/>
            <a:ext cx="4784651" cy="4114800"/>
          </a:xfrm>
          <a:custGeom>
            <a:avLst/>
            <a:gdLst/>
            <a:ahLst/>
            <a:cxnLst/>
            <a:rect r="r" b="b" t="t" l="l"/>
            <a:pathLst>
              <a:path h="4114800" w="4784651">
                <a:moveTo>
                  <a:pt x="0" y="0"/>
                </a:moveTo>
                <a:lnTo>
                  <a:pt x="4784652" y="0"/>
                </a:lnTo>
                <a:lnTo>
                  <a:pt x="478465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028700" y="363095"/>
            <a:ext cx="8850302" cy="646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  <a:spcBef>
                <a:spcPct val="0"/>
              </a:spcBef>
            </a:pPr>
            <a:r>
              <a:rPr lang="en-US" b="true" sz="3799" i="true">
                <a:solidFill>
                  <a:srgbClr val="061647"/>
                </a:solidFill>
                <a:latin typeface="Proxima Nova Heavy Italics"/>
                <a:ea typeface="Proxima Nova Heavy Italics"/>
                <a:cs typeface="Proxima Nova Heavy Italics"/>
                <a:sym typeface="Proxima Nova Heavy Italics"/>
              </a:rPr>
              <a:t>GIỚI THIỆU ĐỀ TÀI &amp; MỤC TIÊU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12011" y="4895311"/>
            <a:ext cx="6519744" cy="3191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44" indent="-280672" lvl="1">
              <a:lnSpc>
                <a:spcPts val="3640"/>
              </a:lnSpc>
              <a:buFont typeface="Arial"/>
              <a:buChar char="•"/>
            </a:pPr>
            <a:r>
              <a:rPr lang="en-US" b="true" sz="2600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Vấn đề đặt ra:</a:t>
            </a:r>
          </a:p>
          <a:p>
            <a:pPr algn="l" marL="561344" indent="-280672" lvl="1">
              <a:lnSpc>
                <a:spcPts val="3640"/>
              </a:lnSpc>
              <a:buFont typeface="Arial"/>
              <a:buChar char="•"/>
            </a:pPr>
            <a:r>
              <a:rPr lang="en-US" b="true" sz="2600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Mật khẩu truyền thống dễ bị lộ, khó nhớ và tiềm ẩn nguy cơ tấn công giả mạo (phishing).</a:t>
            </a:r>
          </a:p>
          <a:p>
            <a:pPr algn="l" marL="561344" indent="-280672" lvl="1">
              <a:lnSpc>
                <a:spcPts val="3640"/>
              </a:lnSpc>
              <a:buFont typeface="Arial"/>
              <a:buChar char="•"/>
            </a:pPr>
            <a:r>
              <a:rPr lang="en-US" b="true" sz="2600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Ứng dụng di động hiện đại đòi hỏi phươ</a:t>
            </a:r>
            <a:r>
              <a:rPr lang="en-US" b="true" sz="2600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ng thức đăng nhập vừa an toàn tuyệt đối, vừa tiện lợi (1 chạm).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175080" y="4908420"/>
            <a:ext cx="5497249" cy="3191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44" indent="-280672" lvl="1">
              <a:lnSpc>
                <a:spcPts val="3640"/>
              </a:lnSpc>
              <a:buFont typeface="Arial"/>
              <a:buChar char="•"/>
            </a:pPr>
            <a:r>
              <a:rPr lang="en-US" b="true" sz="2600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Mục tiêu giải quyết:</a:t>
            </a:r>
          </a:p>
          <a:p>
            <a:pPr algn="l" marL="561344" indent="-280672" lvl="1">
              <a:lnSpc>
                <a:spcPts val="3640"/>
              </a:lnSpc>
              <a:buFont typeface="Arial"/>
              <a:buChar char="•"/>
            </a:pPr>
            <a:r>
              <a:rPr lang="en-US" b="true" sz="2600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Triển khai giải pháp xác thực sinh trắc học cục bộ (Vân tay / Face ID) trên</a:t>
            </a:r>
            <a:r>
              <a:rPr lang="en-US" b="true" sz="2600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Flutter.</a:t>
            </a:r>
          </a:p>
          <a:p>
            <a:pPr algn="l" marL="561344" indent="-280672" lvl="1">
              <a:lnSpc>
                <a:spcPts val="3640"/>
              </a:lnSpc>
              <a:buFont typeface="Arial"/>
              <a:buChar char="•"/>
            </a:pPr>
            <a:r>
              <a:rPr lang="en-US" b="true" sz="2600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Mã hóa khóa bảo mật trực tiếp vào phần cứng an toàn của thiết bị (Android KeyStore).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13924628" y="0"/>
            <a:ext cx="4325936" cy="1387003"/>
          </a:xfrm>
          <a:custGeom>
            <a:avLst/>
            <a:gdLst/>
            <a:ahLst/>
            <a:cxnLst/>
            <a:rect r="r" b="b" t="t" l="l"/>
            <a:pathLst>
              <a:path h="1387003" w="4325936">
                <a:moveTo>
                  <a:pt x="0" y="0"/>
                </a:moveTo>
                <a:lnTo>
                  <a:pt x="4325935" y="0"/>
                </a:lnTo>
                <a:lnTo>
                  <a:pt x="4325935" y="1387003"/>
                </a:lnTo>
                <a:lnTo>
                  <a:pt x="0" y="13870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circle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89806" y="-202673"/>
            <a:ext cx="18719200" cy="1431252"/>
            <a:chOff x="0" y="0"/>
            <a:chExt cx="4930160" cy="37695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930160" cy="376955"/>
            </a:xfrm>
            <a:custGeom>
              <a:avLst/>
              <a:gdLst/>
              <a:ahLst/>
              <a:cxnLst/>
              <a:rect r="r" b="b" t="t" l="l"/>
              <a:pathLst>
                <a:path h="376955" w="4930160">
                  <a:moveTo>
                    <a:pt x="0" y="0"/>
                  </a:moveTo>
                  <a:lnTo>
                    <a:pt x="4930160" y="0"/>
                  </a:lnTo>
                  <a:lnTo>
                    <a:pt x="4930160" y="376955"/>
                  </a:lnTo>
                  <a:lnTo>
                    <a:pt x="0" y="37695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930160" cy="4150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89806" y="439295"/>
            <a:ext cx="347972" cy="513715"/>
            <a:chOff x="0" y="0"/>
            <a:chExt cx="91647" cy="13529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1647" cy="135299"/>
            </a:xfrm>
            <a:custGeom>
              <a:avLst/>
              <a:gdLst/>
              <a:ahLst/>
              <a:cxnLst/>
              <a:rect r="r" b="b" t="t" l="l"/>
              <a:pathLst>
                <a:path h="135299" w="91647">
                  <a:moveTo>
                    <a:pt x="0" y="0"/>
                  </a:moveTo>
                  <a:lnTo>
                    <a:pt x="91647" y="0"/>
                  </a:lnTo>
                  <a:lnTo>
                    <a:pt x="91647" y="135299"/>
                  </a:lnTo>
                  <a:lnTo>
                    <a:pt x="0" y="135299"/>
                  </a:lnTo>
                  <a:close/>
                </a:path>
              </a:pathLst>
            </a:custGeom>
            <a:solidFill>
              <a:srgbClr val="3065C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91647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65152" y="439295"/>
            <a:ext cx="493718" cy="513715"/>
            <a:chOff x="0" y="0"/>
            <a:chExt cx="130033" cy="13529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0033" cy="135299"/>
            </a:xfrm>
            <a:custGeom>
              <a:avLst/>
              <a:gdLst/>
              <a:ahLst/>
              <a:cxnLst/>
              <a:rect r="r" b="b" t="t" l="l"/>
              <a:pathLst>
                <a:path h="135299" w="130033">
                  <a:moveTo>
                    <a:pt x="0" y="0"/>
                  </a:moveTo>
                  <a:lnTo>
                    <a:pt x="130033" y="0"/>
                  </a:lnTo>
                  <a:lnTo>
                    <a:pt x="130033" y="135299"/>
                  </a:lnTo>
                  <a:lnTo>
                    <a:pt x="0" y="135299"/>
                  </a:lnTo>
                  <a:close/>
                </a:path>
              </a:pathLst>
            </a:custGeom>
            <a:gradFill rotWithShape="true">
              <a:gsLst>
                <a:gs pos="0">
                  <a:srgbClr val="C08846">
                    <a:alpha val="100000"/>
                  </a:srgbClr>
                </a:gs>
                <a:gs pos="100000">
                  <a:srgbClr val="FFC87B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30033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401403" y="6352854"/>
            <a:ext cx="13183349" cy="3819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00"/>
              </a:lnSpc>
            </a:pPr>
            <a:r>
              <a:rPr lang="en-US" b="true" sz="12000">
                <a:solidFill>
                  <a:srgbClr val="D8E5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THEORETICAL FRAMEWORK &amp; OVERVIEW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10133954" y="1701538"/>
            <a:ext cx="6901596" cy="8229600"/>
          </a:xfrm>
          <a:custGeom>
            <a:avLst/>
            <a:gdLst/>
            <a:ahLst/>
            <a:cxnLst/>
            <a:rect r="r" b="b" t="t" l="l"/>
            <a:pathLst>
              <a:path h="8229600" w="6901596">
                <a:moveTo>
                  <a:pt x="0" y="0"/>
                </a:moveTo>
                <a:lnTo>
                  <a:pt x="6901596" y="0"/>
                </a:lnTo>
                <a:lnTo>
                  <a:pt x="6901596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7870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028700" y="1900345"/>
            <a:ext cx="7998032" cy="2253991"/>
          </a:xfrm>
          <a:custGeom>
            <a:avLst/>
            <a:gdLst/>
            <a:ahLst/>
            <a:cxnLst/>
            <a:rect r="r" b="b" t="t" l="l"/>
            <a:pathLst>
              <a:path h="2253991" w="7998032">
                <a:moveTo>
                  <a:pt x="0" y="0"/>
                </a:moveTo>
                <a:lnTo>
                  <a:pt x="7998032" y="0"/>
                </a:lnTo>
                <a:lnTo>
                  <a:pt x="7998032" y="2253991"/>
                </a:lnTo>
                <a:lnTo>
                  <a:pt x="0" y="22539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028700" y="7332252"/>
            <a:ext cx="7998032" cy="2253991"/>
          </a:xfrm>
          <a:custGeom>
            <a:avLst/>
            <a:gdLst/>
            <a:ahLst/>
            <a:cxnLst/>
            <a:rect r="r" b="b" t="t" l="l"/>
            <a:pathLst>
              <a:path h="2253991" w="7998032">
                <a:moveTo>
                  <a:pt x="0" y="0"/>
                </a:moveTo>
                <a:lnTo>
                  <a:pt x="7998032" y="0"/>
                </a:lnTo>
                <a:lnTo>
                  <a:pt x="7998032" y="2253990"/>
                </a:lnTo>
                <a:lnTo>
                  <a:pt x="0" y="225399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028700" y="4459136"/>
            <a:ext cx="7998032" cy="2253991"/>
          </a:xfrm>
          <a:custGeom>
            <a:avLst/>
            <a:gdLst/>
            <a:ahLst/>
            <a:cxnLst/>
            <a:rect r="r" b="b" t="t" l="l"/>
            <a:pathLst>
              <a:path h="2253991" w="7998032">
                <a:moveTo>
                  <a:pt x="0" y="0"/>
                </a:moveTo>
                <a:lnTo>
                  <a:pt x="7998032" y="0"/>
                </a:lnTo>
                <a:lnTo>
                  <a:pt x="7998032" y="2253991"/>
                </a:lnTo>
                <a:lnTo>
                  <a:pt x="0" y="225399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594136" y="2859320"/>
            <a:ext cx="6867160" cy="905664"/>
            <a:chOff x="0" y="0"/>
            <a:chExt cx="2089681" cy="27559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089681" cy="275594"/>
            </a:xfrm>
            <a:custGeom>
              <a:avLst/>
              <a:gdLst/>
              <a:ahLst/>
              <a:cxnLst/>
              <a:rect r="r" b="b" t="t" l="l"/>
              <a:pathLst>
                <a:path h="275594" w="2089681">
                  <a:moveTo>
                    <a:pt x="98082" y="0"/>
                  </a:moveTo>
                  <a:lnTo>
                    <a:pt x="1991598" y="0"/>
                  </a:lnTo>
                  <a:cubicBezTo>
                    <a:pt x="2045768" y="0"/>
                    <a:pt x="2089681" y="43913"/>
                    <a:pt x="2089681" y="98082"/>
                  </a:cubicBezTo>
                  <a:lnTo>
                    <a:pt x="2089681" y="177512"/>
                  </a:lnTo>
                  <a:cubicBezTo>
                    <a:pt x="2089681" y="231681"/>
                    <a:pt x="2045768" y="275594"/>
                    <a:pt x="1991598" y="275594"/>
                  </a:cubicBezTo>
                  <a:lnTo>
                    <a:pt x="98082" y="275594"/>
                  </a:lnTo>
                  <a:cubicBezTo>
                    <a:pt x="43913" y="275594"/>
                    <a:pt x="0" y="231681"/>
                    <a:pt x="0" y="177512"/>
                  </a:cubicBezTo>
                  <a:lnTo>
                    <a:pt x="0" y="98082"/>
                  </a:lnTo>
                  <a:cubicBezTo>
                    <a:pt x="0" y="43913"/>
                    <a:pt x="43913" y="0"/>
                    <a:pt x="9808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2089681" cy="313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613931" y="8343579"/>
            <a:ext cx="6867160" cy="725477"/>
            <a:chOff x="0" y="0"/>
            <a:chExt cx="2089681" cy="220763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089681" cy="220763"/>
            </a:xfrm>
            <a:custGeom>
              <a:avLst/>
              <a:gdLst/>
              <a:ahLst/>
              <a:cxnLst/>
              <a:rect r="r" b="b" t="t" l="l"/>
              <a:pathLst>
                <a:path h="220763" w="2089681">
                  <a:moveTo>
                    <a:pt x="98082" y="0"/>
                  </a:moveTo>
                  <a:lnTo>
                    <a:pt x="1991598" y="0"/>
                  </a:lnTo>
                  <a:cubicBezTo>
                    <a:pt x="2045768" y="0"/>
                    <a:pt x="2089681" y="43913"/>
                    <a:pt x="2089681" y="98082"/>
                  </a:cubicBezTo>
                  <a:lnTo>
                    <a:pt x="2089681" y="122681"/>
                  </a:lnTo>
                  <a:cubicBezTo>
                    <a:pt x="2089681" y="176850"/>
                    <a:pt x="2045768" y="220763"/>
                    <a:pt x="1991598" y="220763"/>
                  </a:cubicBezTo>
                  <a:lnTo>
                    <a:pt x="98082" y="220763"/>
                  </a:lnTo>
                  <a:cubicBezTo>
                    <a:pt x="43913" y="220763"/>
                    <a:pt x="0" y="176850"/>
                    <a:pt x="0" y="122681"/>
                  </a:cubicBezTo>
                  <a:lnTo>
                    <a:pt x="0" y="98082"/>
                  </a:lnTo>
                  <a:cubicBezTo>
                    <a:pt x="0" y="43913"/>
                    <a:pt x="43913" y="0"/>
                    <a:pt x="9808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2089681" cy="2588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94136" y="5418111"/>
            <a:ext cx="6867160" cy="725477"/>
            <a:chOff x="0" y="0"/>
            <a:chExt cx="2089681" cy="220763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089681" cy="220763"/>
            </a:xfrm>
            <a:custGeom>
              <a:avLst/>
              <a:gdLst/>
              <a:ahLst/>
              <a:cxnLst/>
              <a:rect r="r" b="b" t="t" l="l"/>
              <a:pathLst>
                <a:path h="220763" w="2089681">
                  <a:moveTo>
                    <a:pt x="98082" y="0"/>
                  </a:moveTo>
                  <a:lnTo>
                    <a:pt x="1991598" y="0"/>
                  </a:lnTo>
                  <a:cubicBezTo>
                    <a:pt x="2045768" y="0"/>
                    <a:pt x="2089681" y="43913"/>
                    <a:pt x="2089681" y="98082"/>
                  </a:cubicBezTo>
                  <a:lnTo>
                    <a:pt x="2089681" y="122681"/>
                  </a:lnTo>
                  <a:cubicBezTo>
                    <a:pt x="2089681" y="176850"/>
                    <a:pt x="2045768" y="220763"/>
                    <a:pt x="1991598" y="220763"/>
                  </a:cubicBezTo>
                  <a:lnTo>
                    <a:pt x="98082" y="220763"/>
                  </a:lnTo>
                  <a:cubicBezTo>
                    <a:pt x="43913" y="220763"/>
                    <a:pt x="0" y="176850"/>
                    <a:pt x="0" y="122681"/>
                  </a:cubicBezTo>
                  <a:lnTo>
                    <a:pt x="0" y="98082"/>
                  </a:lnTo>
                  <a:cubicBezTo>
                    <a:pt x="0" y="43913"/>
                    <a:pt x="43913" y="0"/>
                    <a:pt x="9808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089681" cy="2588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10133954" y="1701538"/>
            <a:ext cx="3450798" cy="3716573"/>
          </a:xfrm>
          <a:custGeom>
            <a:avLst/>
            <a:gdLst/>
            <a:ahLst/>
            <a:cxnLst/>
            <a:rect r="r" b="b" t="t" l="l"/>
            <a:pathLst>
              <a:path h="3716573" w="3450798">
                <a:moveTo>
                  <a:pt x="0" y="0"/>
                </a:moveTo>
                <a:lnTo>
                  <a:pt x="3450798" y="0"/>
                </a:lnTo>
                <a:lnTo>
                  <a:pt x="3450798" y="3716573"/>
                </a:lnTo>
                <a:lnTo>
                  <a:pt x="0" y="371657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-7701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3584752" y="5418111"/>
            <a:ext cx="3450798" cy="4513027"/>
          </a:xfrm>
          <a:custGeom>
            <a:avLst/>
            <a:gdLst/>
            <a:ahLst/>
            <a:cxnLst/>
            <a:rect r="r" b="b" t="t" l="l"/>
            <a:pathLst>
              <a:path h="4513027" w="3450798">
                <a:moveTo>
                  <a:pt x="0" y="0"/>
                </a:moveTo>
                <a:lnTo>
                  <a:pt x="3450798" y="0"/>
                </a:lnTo>
                <a:lnTo>
                  <a:pt x="3450798" y="4513027"/>
                </a:lnTo>
                <a:lnTo>
                  <a:pt x="0" y="45130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2532" t="0" r="-8961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1028700" y="382145"/>
            <a:ext cx="8850302" cy="570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b="true" sz="3399" i="true">
                <a:solidFill>
                  <a:srgbClr val="061647"/>
                </a:solidFill>
                <a:latin typeface="Proxima Nova Heavy Italics"/>
                <a:ea typeface="Proxima Nova Heavy Italics"/>
                <a:cs typeface="Proxima Nova Heavy Italics"/>
                <a:sym typeface="Proxima Nova Heavy Italics"/>
              </a:rPr>
              <a:t>CÔNG NGHỆ CHÍNH SỬ DỤNG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28700" y="2156398"/>
            <a:ext cx="7998032" cy="570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FL</a:t>
            </a:r>
            <a:r>
              <a:rPr lang="en-US" b="true" sz="3399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UTTER + DART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28700" y="4715189"/>
            <a:ext cx="7998032" cy="570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PACKAGE C</a:t>
            </a:r>
            <a:r>
              <a:rPr lang="en-US" b="true" sz="3399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HÍNH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594136" y="3060134"/>
            <a:ext cx="6867160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75"/>
              </a:lnSpc>
            </a:pPr>
            <a:r>
              <a:rPr lang="en-US" b="true" sz="2500">
                <a:gradFill>
                  <a:gsLst>
                    <a:gs pos="0">
                      <a:srgbClr val="235BBB">
                        <a:alpha val="100000"/>
                      </a:srgbClr>
                    </a:gs>
                    <a:gs pos="100000">
                      <a:srgbClr val="347FFF">
                        <a:alpha val="100000"/>
                      </a:srgbClr>
                    </a:gs>
                  </a:gsLst>
                  <a:lin ang="5400000"/>
                </a:gradFill>
                <a:latin typeface="Proxima Nova Bold"/>
                <a:ea typeface="Proxima Nova Bold"/>
                <a:cs typeface="Proxima Nova Bold"/>
                <a:sym typeface="Proxima Nova Bold"/>
              </a:rPr>
              <a:t>Xây dựng giao diện và phát triển ứng dụng di động.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613931" y="8544393"/>
            <a:ext cx="7113695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75"/>
              </a:lnSpc>
            </a:pPr>
            <a:r>
              <a:rPr lang="en-US" b="true" sz="2500">
                <a:gradFill>
                  <a:gsLst>
                    <a:gs pos="0">
                      <a:srgbClr val="235BBB">
                        <a:alpha val="100000"/>
                      </a:srgbClr>
                    </a:gs>
                    <a:gs pos="100000">
                      <a:srgbClr val="347FFF">
                        <a:alpha val="100000"/>
                      </a:srgbClr>
                    </a:gs>
                  </a:gsLst>
                  <a:lin ang="5400000"/>
                </a:gradFill>
                <a:latin typeface="Proxima Nova Bold"/>
                <a:ea typeface="Proxima Nova Bold"/>
                <a:cs typeface="Proxima Nova Bold"/>
                <a:sym typeface="Proxima Nova Bold"/>
              </a:rPr>
              <a:t>Tích hợp Android KeyStore 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668680" y="5548050"/>
            <a:ext cx="6718072" cy="603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375"/>
              </a:lnSpc>
            </a:pPr>
            <a:r>
              <a:rPr lang="en-US" b="true" sz="2500">
                <a:gradFill>
                  <a:gsLst>
                    <a:gs pos="0">
                      <a:srgbClr val="C08846">
                        <a:alpha val="100000"/>
                      </a:srgbClr>
                    </a:gs>
                    <a:gs pos="100000">
                      <a:srgbClr val="FFC87B">
                        <a:alpha val="100000"/>
                      </a:srgbClr>
                    </a:gs>
                  </a:gsLst>
                  <a:lin ang="5400000"/>
                </a:gradFill>
                <a:latin typeface="Proxima Nova Bold"/>
                <a:ea typeface="Proxima Nova Bold"/>
                <a:cs typeface="Proxima Nova Bold"/>
                <a:sym typeface="Proxima Nova Bold"/>
              </a:rPr>
              <a:t>biometr</a:t>
            </a:r>
            <a:r>
              <a:rPr lang="en-US" b="true" sz="2500" strike="noStrike" u="none">
                <a:gradFill>
                  <a:gsLst>
                    <a:gs pos="0">
                      <a:srgbClr val="C08846">
                        <a:alpha val="100000"/>
                      </a:srgbClr>
                    </a:gs>
                    <a:gs pos="100000">
                      <a:srgbClr val="FFC87B">
                        <a:alpha val="100000"/>
                      </a:srgbClr>
                    </a:gs>
                  </a:gsLst>
                  <a:lin ang="5400000"/>
                </a:gradFill>
                <a:latin typeface="Proxima Nova Bold"/>
                <a:ea typeface="Proxima Nova Bold"/>
                <a:cs typeface="Proxima Nova Bold"/>
                <a:sym typeface="Proxima Nova Bold"/>
              </a:rPr>
              <a:t>ic_storage / local_auth</a:t>
            </a:r>
            <a:r>
              <a:rPr lang="en-US" b="true" sz="2500" strike="noStrike" u="none">
                <a:gradFill>
                  <a:gsLst>
                    <a:gs pos="0">
                      <a:srgbClr val="C08846">
                        <a:alpha val="100000"/>
                      </a:srgbClr>
                    </a:gs>
                    <a:gs pos="100000">
                      <a:srgbClr val="FFC87B">
                        <a:alpha val="100000"/>
                      </a:srgbClr>
                    </a:gs>
                  </a:gsLst>
                  <a:lin ang="5400000"/>
                </a:gradFill>
                <a:latin typeface="Proxima Nova Bold"/>
                <a:ea typeface="Proxima Nova Bold"/>
                <a:cs typeface="Proxima Nova Bold"/>
                <a:sym typeface="Proxima Nova Bold"/>
              </a:rPr>
              <a:t>:</a:t>
            </a:r>
            <a:r>
              <a:rPr lang="en-US" b="true" sz="2500" strike="noStrike" u="none">
                <a:gradFill>
                  <a:gsLst>
                    <a:gs pos="0">
                      <a:srgbClr val="C08846">
                        <a:alpha val="100000"/>
                      </a:srgbClr>
                    </a:gs>
                    <a:gs pos="100000">
                      <a:srgbClr val="FFC87B">
                        <a:alpha val="100000"/>
                      </a:srgbClr>
                    </a:gs>
                  </a:gsLst>
                  <a:lin ang="5400000"/>
                </a:gradFill>
                <a:latin typeface="Proxima Nova Bold"/>
                <a:ea typeface="Proxima Nova Bold"/>
                <a:cs typeface="Proxima Nova Bold"/>
                <a:sym typeface="Proxima Nova Bold"/>
              </a:rPr>
              <a:t> </a:t>
            </a:r>
            <a:r>
              <a:rPr lang="en-US" b="true" sz="2500" strike="noStrike" u="none">
                <a:gradFill>
                  <a:gsLst>
                    <a:gs pos="0">
                      <a:srgbClr val="C08846">
                        <a:alpha val="100000"/>
                      </a:srgbClr>
                    </a:gs>
                    <a:gs pos="100000">
                      <a:srgbClr val="FFC87B">
                        <a:alpha val="100000"/>
                      </a:srgbClr>
                    </a:gs>
                  </a:gsLst>
                  <a:lin ang="5400000"/>
                </a:gradFill>
                <a:latin typeface="Proxima Nova Bold"/>
                <a:ea typeface="Proxima Nova Bold"/>
                <a:cs typeface="Proxima Nova Bold"/>
                <a:sym typeface="Proxima Nova Bold"/>
              </a:rPr>
              <a:t>V</a:t>
            </a:r>
            <a:r>
              <a:rPr lang="en-US" b="true" sz="2500" strike="noStrike" u="none">
                <a:gradFill>
                  <a:gsLst>
                    <a:gs pos="0">
                      <a:srgbClr val="C08846">
                        <a:alpha val="100000"/>
                      </a:srgbClr>
                    </a:gs>
                    <a:gs pos="100000">
                      <a:srgbClr val="FFC87B">
                        <a:alpha val="100000"/>
                      </a:srgbClr>
                    </a:gs>
                  </a:gsLst>
                  <a:lin ang="5400000"/>
                </a:gradFill>
                <a:latin typeface="Proxima Nova Bold"/>
                <a:ea typeface="Proxima Nova Bold"/>
                <a:cs typeface="Proxima Nova Bold"/>
                <a:sym typeface="Proxima Nova Bold"/>
              </a:rPr>
              <a:t>ân tay, Face ID &amp; mã hóa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28700" y="7467914"/>
            <a:ext cx="7998032" cy="570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BẢO MẬT PHẦN CỨNG</a:t>
            </a:r>
          </a:p>
        </p:txBody>
      </p:sp>
      <p:sp>
        <p:nvSpPr>
          <p:cNvPr name="Freeform 34" id="34"/>
          <p:cNvSpPr/>
          <p:nvPr/>
        </p:nvSpPr>
        <p:spPr>
          <a:xfrm flipH="false" flipV="false" rot="0">
            <a:off x="13584752" y="0"/>
            <a:ext cx="4665811" cy="1495976"/>
          </a:xfrm>
          <a:custGeom>
            <a:avLst/>
            <a:gdLst/>
            <a:ahLst/>
            <a:cxnLst/>
            <a:rect r="r" b="b" t="t" l="l"/>
            <a:pathLst>
              <a:path h="1495976" w="4665811">
                <a:moveTo>
                  <a:pt x="0" y="0"/>
                </a:moveTo>
                <a:lnTo>
                  <a:pt x="4665811" y="0"/>
                </a:lnTo>
                <a:lnTo>
                  <a:pt x="4665811" y="1495976"/>
                </a:lnTo>
                <a:lnTo>
                  <a:pt x="0" y="149597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cover dir="rd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5820" y="1734515"/>
            <a:ext cx="18719200" cy="8127983"/>
          </a:xfrm>
          <a:custGeom>
            <a:avLst/>
            <a:gdLst/>
            <a:ahLst/>
            <a:cxnLst/>
            <a:rect r="r" b="b" t="t" l="l"/>
            <a:pathLst>
              <a:path h="8127983" w="18719200">
                <a:moveTo>
                  <a:pt x="0" y="0"/>
                </a:moveTo>
                <a:lnTo>
                  <a:pt x="18719200" y="0"/>
                </a:lnTo>
                <a:lnTo>
                  <a:pt x="18719200" y="8127983"/>
                </a:lnTo>
                <a:lnTo>
                  <a:pt x="0" y="81279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224" r="0" b="-4736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189806" y="-202673"/>
            <a:ext cx="18719200" cy="1602531"/>
            <a:chOff x="0" y="0"/>
            <a:chExt cx="4930160" cy="42206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30160" cy="422066"/>
            </a:xfrm>
            <a:custGeom>
              <a:avLst/>
              <a:gdLst/>
              <a:ahLst/>
              <a:cxnLst/>
              <a:rect r="r" b="b" t="t" l="l"/>
              <a:pathLst>
                <a:path h="422066" w="4930160">
                  <a:moveTo>
                    <a:pt x="0" y="0"/>
                  </a:moveTo>
                  <a:lnTo>
                    <a:pt x="4930160" y="0"/>
                  </a:lnTo>
                  <a:lnTo>
                    <a:pt x="4930160" y="422066"/>
                  </a:lnTo>
                  <a:lnTo>
                    <a:pt x="0" y="42206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930160" cy="46016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-189806" y="439295"/>
            <a:ext cx="347972" cy="513715"/>
            <a:chOff x="0" y="0"/>
            <a:chExt cx="91647" cy="13529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1647" cy="135299"/>
            </a:xfrm>
            <a:custGeom>
              <a:avLst/>
              <a:gdLst/>
              <a:ahLst/>
              <a:cxnLst/>
              <a:rect r="r" b="b" t="t" l="l"/>
              <a:pathLst>
                <a:path h="135299" w="91647">
                  <a:moveTo>
                    <a:pt x="0" y="0"/>
                  </a:moveTo>
                  <a:lnTo>
                    <a:pt x="91647" y="0"/>
                  </a:lnTo>
                  <a:lnTo>
                    <a:pt x="91647" y="135299"/>
                  </a:lnTo>
                  <a:lnTo>
                    <a:pt x="0" y="135299"/>
                  </a:lnTo>
                  <a:close/>
                </a:path>
              </a:pathLst>
            </a:custGeom>
            <a:solidFill>
              <a:srgbClr val="3065CB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91647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65152" y="439295"/>
            <a:ext cx="493718" cy="513715"/>
            <a:chOff x="0" y="0"/>
            <a:chExt cx="130033" cy="13529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30033" cy="135299"/>
            </a:xfrm>
            <a:custGeom>
              <a:avLst/>
              <a:gdLst/>
              <a:ahLst/>
              <a:cxnLst/>
              <a:rect r="r" b="b" t="t" l="l"/>
              <a:pathLst>
                <a:path h="135299" w="130033">
                  <a:moveTo>
                    <a:pt x="0" y="0"/>
                  </a:moveTo>
                  <a:lnTo>
                    <a:pt x="130033" y="0"/>
                  </a:lnTo>
                  <a:lnTo>
                    <a:pt x="130033" y="135299"/>
                  </a:lnTo>
                  <a:lnTo>
                    <a:pt x="0" y="135299"/>
                  </a:lnTo>
                  <a:close/>
                </a:path>
              </a:pathLst>
            </a:custGeom>
            <a:gradFill rotWithShape="true">
              <a:gsLst>
                <a:gs pos="0">
                  <a:srgbClr val="C08846">
                    <a:alpha val="100000"/>
                  </a:srgbClr>
                </a:gs>
                <a:gs pos="100000">
                  <a:srgbClr val="FFC87B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30033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0" y="1734515"/>
            <a:ext cx="18250563" cy="8552485"/>
            <a:chOff x="0" y="0"/>
            <a:chExt cx="4806733" cy="225250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806733" cy="2252506"/>
            </a:xfrm>
            <a:custGeom>
              <a:avLst/>
              <a:gdLst/>
              <a:ahLst/>
              <a:cxnLst/>
              <a:rect r="r" b="b" t="t" l="l"/>
              <a:pathLst>
                <a:path h="2252506" w="4806733">
                  <a:moveTo>
                    <a:pt x="0" y="0"/>
                  </a:moveTo>
                  <a:lnTo>
                    <a:pt x="4806733" y="0"/>
                  </a:lnTo>
                  <a:lnTo>
                    <a:pt x="4806733" y="2252506"/>
                  </a:lnTo>
                  <a:lnTo>
                    <a:pt x="0" y="2252506"/>
                  </a:lnTo>
                  <a:close/>
                </a:path>
              </a:pathLst>
            </a:custGeom>
            <a:solidFill>
              <a:srgbClr val="000E28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4806733" cy="22906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13884534" y="0"/>
            <a:ext cx="4366029" cy="1399858"/>
          </a:xfrm>
          <a:custGeom>
            <a:avLst/>
            <a:gdLst/>
            <a:ahLst/>
            <a:cxnLst/>
            <a:rect r="r" b="b" t="t" l="l"/>
            <a:pathLst>
              <a:path h="1399858" w="4366029">
                <a:moveTo>
                  <a:pt x="0" y="0"/>
                </a:moveTo>
                <a:lnTo>
                  <a:pt x="4366029" y="0"/>
                </a:lnTo>
                <a:lnTo>
                  <a:pt x="4366029" y="1399858"/>
                </a:lnTo>
                <a:lnTo>
                  <a:pt x="0" y="139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-26628" y="1734515"/>
            <a:ext cx="18303820" cy="8552485"/>
          </a:xfrm>
          <a:custGeom>
            <a:avLst/>
            <a:gdLst/>
            <a:ahLst/>
            <a:cxnLst/>
            <a:rect r="r" b="b" t="t" l="l"/>
            <a:pathLst>
              <a:path h="8552485" w="18303820">
                <a:moveTo>
                  <a:pt x="0" y="0"/>
                </a:moveTo>
                <a:lnTo>
                  <a:pt x="18303820" y="0"/>
                </a:lnTo>
                <a:lnTo>
                  <a:pt x="18303820" y="8552485"/>
                </a:lnTo>
                <a:lnTo>
                  <a:pt x="0" y="85524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7058" r="-665" b="-456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028700" y="363095"/>
            <a:ext cx="12258783" cy="646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  <a:spcBef>
                <a:spcPct val="0"/>
              </a:spcBef>
            </a:pPr>
            <a:r>
              <a:rPr lang="en-US" b="true" sz="3799" i="true">
                <a:solidFill>
                  <a:srgbClr val="061647"/>
                </a:solidFill>
                <a:latin typeface="Proxima Nova Heavy Italics"/>
                <a:ea typeface="Proxima Nova Heavy Italics"/>
                <a:cs typeface="Proxima Nova Heavy Italics"/>
                <a:sym typeface="Proxima Nova Heavy Italics"/>
              </a:rPr>
              <a:t>KIẾN TRÚC &amp; NGUYÊN LÝ HOẠT ĐỘNG</a:t>
            </a:r>
          </a:p>
        </p:txBody>
      </p:sp>
    </p:spTree>
  </p:cSld>
  <p:clrMapOvr>
    <a:masterClrMapping/>
  </p:clrMapOvr>
  <p:transition spd="fast">
    <p:cover dir="rd"/>
  </p:transition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5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89806" y="-202673"/>
            <a:ext cx="18719200" cy="1431252"/>
            <a:chOff x="0" y="0"/>
            <a:chExt cx="4930160" cy="37695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930160" cy="376955"/>
            </a:xfrm>
            <a:custGeom>
              <a:avLst/>
              <a:gdLst/>
              <a:ahLst/>
              <a:cxnLst/>
              <a:rect r="r" b="b" t="t" l="l"/>
              <a:pathLst>
                <a:path h="376955" w="4930160">
                  <a:moveTo>
                    <a:pt x="0" y="0"/>
                  </a:moveTo>
                  <a:lnTo>
                    <a:pt x="4930160" y="0"/>
                  </a:lnTo>
                  <a:lnTo>
                    <a:pt x="4930160" y="376955"/>
                  </a:lnTo>
                  <a:lnTo>
                    <a:pt x="0" y="37695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930160" cy="4150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89806" y="439295"/>
            <a:ext cx="347972" cy="513715"/>
            <a:chOff x="0" y="0"/>
            <a:chExt cx="91647" cy="13529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1647" cy="135299"/>
            </a:xfrm>
            <a:custGeom>
              <a:avLst/>
              <a:gdLst/>
              <a:ahLst/>
              <a:cxnLst/>
              <a:rect r="r" b="b" t="t" l="l"/>
              <a:pathLst>
                <a:path h="135299" w="91647">
                  <a:moveTo>
                    <a:pt x="0" y="0"/>
                  </a:moveTo>
                  <a:lnTo>
                    <a:pt x="91647" y="0"/>
                  </a:lnTo>
                  <a:lnTo>
                    <a:pt x="91647" y="135299"/>
                  </a:lnTo>
                  <a:lnTo>
                    <a:pt x="0" y="135299"/>
                  </a:lnTo>
                  <a:close/>
                </a:path>
              </a:pathLst>
            </a:custGeom>
            <a:solidFill>
              <a:srgbClr val="3065C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91647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65152" y="439295"/>
            <a:ext cx="493718" cy="513715"/>
            <a:chOff x="0" y="0"/>
            <a:chExt cx="130033" cy="13529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0033" cy="135299"/>
            </a:xfrm>
            <a:custGeom>
              <a:avLst/>
              <a:gdLst/>
              <a:ahLst/>
              <a:cxnLst/>
              <a:rect r="r" b="b" t="t" l="l"/>
              <a:pathLst>
                <a:path h="135299" w="130033">
                  <a:moveTo>
                    <a:pt x="0" y="0"/>
                  </a:moveTo>
                  <a:lnTo>
                    <a:pt x="130033" y="0"/>
                  </a:lnTo>
                  <a:lnTo>
                    <a:pt x="130033" y="135299"/>
                  </a:lnTo>
                  <a:lnTo>
                    <a:pt x="0" y="135299"/>
                  </a:lnTo>
                  <a:close/>
                </a:path>
              </a:pathLst>
            </a:custGeom>
            <a:gradFill rotWithShape="true">
              <a:gsLst>
                <a:gs pos="0">
                  <a:srgbClr val="C08846">
                    <a:alpha val="100000"/>
                  </a:srgbClr>
                </a:gs>
                <a:gs pos="100000">
                  <a:srgbClr val="FFC87B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30033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73783" y="1114986"/>
            <a:ext cx="4503619" cy="4503619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C08846">
                    <a:alpha val="100000"/>
                  </a:srgbClr>
                </a:gs>
                <a:gs pos="100000">
                  <a:srgbClr val="FFC87B">
                    <a:alpha val="100000"/>
                  </a:srgbClr>
                </a:gs>
              </a:gsLst>
              <a:lin ang="5400000"/>
            </a:gradFill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255232" y="540311"/>
            <a:ext cx="4503619" cy="4503619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C08846">
                    <a:alpha val="100000"/>
                  </a:srgbClr>
                </a:gs>
                <a:gs pos="100000">
                  <a:srgbClr val="FFC87B">
                    <a:alpha val="100000"/>
                  </a:srgbClr>
                </a:gs>
              </a:gsLst>
              <a:lin ang="5400000"/>
            </a:gradFill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6705195" y="1114986"/>
            <a:ext cx="4503619" cy="4503619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235BBB">
                    <a:alpha val="100000"/>
                  </a:srgbClr>
                </a:gs>
                <a:gs pos="100000">
                  <a:srgbClr val="347FFF">
                    <a:alpha val="100000"/>
                  </a:srgbClr>
                </a:gs>
              </a:gsLst>
              <a:lin ang="5400000"/>
            </a:gradFill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5400000">
            <a:off x="5768972" y="3103528"/>
            <a:ext cx="831561" cy="526535"/>
            <a:chOff x="0" y="0"/>
            <a:chExt cx="740010" cy="46856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40010" cy="468566"/>
            </a:xfrm>
            <a:custGeom>
              <a:avLst/>
              <a:gdLst/>
              <a:ahLst/>
              <a:cxnLst/>
              <a:rect r="r" b="b" t="t" l="l"/>
              <a:pathLst>
                <a:path h="468566" w="740010">
                  <a:moveTo>
                    <a:pt x="370005" y="0"/>
                  </a:moveTo>
                  <a:lnTo>
                    <a:pt x="740010" y="468566"/>
                  </a:lnTo>
                  <a:lnTo>
                    <a:pt x="0" y="468566"/>
                  </a:lnTo>
                  <a:lnTo>
                    <a:pt x="370005" y="0"/>
                  </a:lnTo>
                  <a:close/>
                </a:path>
              </a:pathLst>
            </a:custGeom>
            <a:solidFill>
              <a:srgbClr val="002772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115627" y="179448"/>
              <a:ext cx="508757" cy="2556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4519147">
            <a:off x="11410254" y="3103528"/>
            <a:ext cx="831561" cy="526535"/>
            <a:chOff x="0" y="0"/>
            <a:chExt cx="740010" cy="46856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40010" cy="468566"/>
            </a:xfrm>
            <a:custGeom>
              <a:avLst/>
              <a:gdLst/>
              <a:ahLst/>
              <a:cxnLst/>
              <a:rect r="r" b="b" t="t" l="l"/>
              <a:pathLst>
                <a:path h="468566" w="740010">
                  <a:moveTo>
                    <a:pt x="370005" y="0"/>
                  </a:moveTo>
                  <a:lnTo>
                    <a:pt x="740010" y="468566"/>
                  </a:lnTo>
                  <a:lnTo>
                    <a:pt x="0" y="468566"/>
                  </a:lnTo>
                  <a:lnTo>
                    <a:pt x="370005" y="0"/>
                  </a:lnTo>
                  <a:close/>
                </a:path>
              </a:pathLst>
            </a:custGeom>
            <a:solidFill>
              <a:srgbClr val="002772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115627" y="179448"/>
              <a:ext cx="508757" cy="2556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1028700" y="382145"/>
            <a:ext cx="10180114" cy="570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b="true" sz="3399" i="true">
                <a:solidFill>
                  <a:srgbClr val="061647"/>
                </a:solidFill>
                <a:latin typeface="Proxima Nova Heavy Italics"/>
                <a:ea typeface="Proxima Nova Heavy Italics"/>
                <a:cs typeface="Proxima Nova Heavy Italics"/>
                <a:sym typeface="Proxima Nova Heavy Italics"/>
              </a:rPr>
              <a:t>LUỒNG NGƯỜI DÙNG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353561" y="2725446"/>
            <a:ext cx="3206887" cy="121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b="true" sz="3500" i="true">
                <a:solidFill>
                  <a:srgbClr val="FFFFFF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Đăng nhập tài khoản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543725" y="3044533"/>
            <a:ext cx="3563735" cy="58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b="true" sz="3499" i="true">
                <a:solidFill>
                  <a:srgbClr val="FFFFFF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Mở ứng dụng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098710" y="1841208"/>
            <a:ext cx="2816664" cy="183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b="true" sz="3500" i="true">
                <a:solidFill>
                  <a:srgbClr val="FFFFFF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Kích hoạt xác thực sinh trắc học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2255232" y="5783381"/>
            <a:ext cx="4503619" cy="4503619"/>
            <a:chOff x="0" y="0"/>
            <a:chExt cx="812800" cy="8128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235BBB">
                    <a:alpha val="100000"/>
                  </a:srgbClr>
                </a:gs>
                <a:gs pos="100000">
                  <a:srgbClr val="347FFF">
                    <a:alpha val="100000"/>
                  </a:srgbClr>
                </a:gs>
              </a:gsLst>
              <a:lin ang="5400000"/>
            </a:gradFill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6705195" y="5783381"/>
            <a:ext cx="4503619" cy="4503619"/>
            <a:chOff x="0" y="0"/>
            <a:chExt cx="812800" cy="8128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C08846">
                    <a:alpha val="100000"/>
                  </a:srgbClr>
                </a:gs>
                <a:gs pos="100000">
                  <a:srgbClr val="FFC87B">
                    <a:alpha val="100000"/>
                  </a:srgbClr>
                </a:gs>
              </a:gsLst>
              <a:lin ang="5400000"/>
            </a:gradFill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35" id="35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073783" y="5780530"/>
            <a:ext cx="4503619" cy="4503619"/>
            <a:chOff x="0" y="0"/>
            <a:chExt cx="812800" cy="8128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235BBB">
                    <a:alpha val="100000"/>
                  </a:srgbClr>
                </a:gs>
                <a:gs pos="100000">
                  <a:srgbClr val="347FFF">
                    <a:alpha val="100000"/>
                  </a:srgbClr>
                </a:gs>
              </a:gsLst>
              <a:lin ang="5400000"/>
            </a:gradFill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-10800000">
            <a:off x="14091261" y="5256846"/>
            <a:ext cx="831561" cy="526535"/>
            <a:chOff x="0" y="0"/>
            <a:chExt cx="740010" cy="46856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40010" cy="468566"/>
            </a:xfrm>
            <a:custGeom>
              <a:avLst/>
              <a:gdLst/>
              <a:ahLst/>
              <a:cxnLst/>
              <a:rect r="r" b="b" t="t" l="l"/>
              <a:pathLst>
                <a:path h="468566" w="740010">
                  <a:moveTo>
                    <a:pt x="370005" y="0"/>
                  </a:moveTo>
                  <a:lnTo>
                    <a:pt x="740010" y="468566"/>
                  </a:lnTo>
                  <a:lnTo>
                    <a:pt x="0" y="468566"/>
                  </a:lnTo>
                  <a:lnTo>
                    <a:pt x="370005" y="0"/>
                  </a:lnTo>
                  <a:close/>
                </a:path>
              </a:pathLst>
            </a:custGeom>
            <a:solidFill>
              <a:srgbClr val="002772"/>
            </a:solidFill>
          </p:spPr>
        </p:sp>
        <p:sp>
          <p:nvSpPr>
            <p:cNvPr name="TextBox 41" id="41"/>
            <p:cNvSpPr txBox="true"/>
            <p:nvPr/>
          </p:nvSpPr>
          <p:spPr>
            <a:xfrm>
              <a:off x="115627" y="179448"/>
              <a:ext cx="508757" cy="2556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13098710" y="6774716"/>
            <a:ext cx="2816664" cy="2454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b="true" sz="3500" i="true">
                <a:solidFill>
                  <a:srgbClr val="FFFFFF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Lần sau mở ứng dụng → chọn Face ID / Vân tay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7548672" y="7081427"/>
            <a:ext cx="2816664" cy="183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b="true" sz="3500" i="true">
                <a:solidFill>
                  <a:srgbClr val="FFFFFF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Hệ thống xác thực người dùng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917260" y="6804025"/>
            <a:ext cx="2816664" cy="2454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b="true" sz="3500" i="true">
                <a:solidFill>
                  <a:srgbClr val="FFFFFF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Xác thực thành công → truy cập ứng dụng</a:t>
            </a:r>
          </a:p>
        </p:txBody>
      </p:sp>
      <p:grpSp>
        <p:nvGrpSpPr>
          <p:cNvPr name="Group 45" id="45"/>
          <p:cNvGrpSpPr/>
          <p:nvPr/>
        </p:nvGrpSpPr>
        <p:grpSpPr>
          <a:xfrm rot="-5400000">
            <a:off x="11313476" y="7769072"/>
            <a:ext cx="831561" cy="526535"/>
            <a:chOff x="0" y="0"/>
            <a:chExt cx="740010" cy="468566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40010" cy="468566"/>
            </a:xfrm>
            <a:custGeom>
              <a:avLst/>
              <a:gdLst/>
              <a:ahLst/>
              <a:cxnLst/>
              <a:rect r="r" b="b" t="t" l="l"/>
              <a:pathLst>
                <a:path h="468566" w="740010">
                  <a:moveTo>
                    <a:pt x="370005" y="0"/>
                  </a:moveTo>
                  <a:lnTo>
                    <a:pt x="740010" y="468566"/>
                  </a:lnTo>
                  <a:lnTo>
                    <a:pt x="0" y="468566"/>
                  </a:lnTo>
                  <a:lnTo>
                    <a:pt x="370005" y="0"/>
                  </a:lnTo>
                  <a:close/>
                </a:path>
              </a:pathLst>
            </a:custGeom>
            <a:solidFill>
              <a:srgbClr val="002772"/>
            </a:solidFill>
          </p:spPr>
        </p:sp>
        <p:sp>
          <p:nvSpPr>
            <p:cNvPr name="TextBox 47" id="47"/>
            <p:cNvSpPr txBox="true"/>
            <p:nvPr/>
          </p:nvSpPr>
          <p:spPr>
            <a:xfrm>
              <a:off x="115627" y="179448"/>
              <a:ext cx="508757" cy="2556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8" id="48"/>
          <p:cNvGrpSpPr/>
          <p:nvPr/>
        </p:nvGrpSpPr>
        <p:grpSpPr>
          <a:xfrm rot="-5400000">
            <a:off x="5768972" y="7769072"/>
            <a:ext cx="831561" cy="526535"/>
            <a:chOff x="0" y="0"/>
            <a:chExt cx="740010" cy="46856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40010" cy="468566"/>
            </a:xfrm>
            <a:custGeom>
              <a:avLst/>
              <a:gdLst/>
              <a:ahLst/>
              <a:cxnLst/>
              <a:rect r="r" b="b" t="t" l="l"/>
              <a:pathLst>
                <a:path h="468566" w="740010">
                  <a:moveTo>
                    <a:pt x="370005" y="0"/>
                  </a:moveTo>
                  <a:lnTo>
                    <a:pt x="740010" y="468566"/>
                  </a:lnTo>
                  <a:lnTo>
                    <a:pt x="0" y="468566"/>
                  </a:lnTo>
                  <a:lnTo>
                    <a:pt x="370005" y="0"/>
                  </a:lnTo>
                  <a:close/>
                </a:path>
              </a:pathLst>
            </a:custGeom>
            <a:solidFill>
              <a:srgbClr val="002772"/>
            </a:solidFill>
          </p:spPr>
        </p:sp>
        <p:sp>
          <p:nvSpPr>
            <p:cNvPr name="TextBox 50" id="50"/>
            <p:cNvSpPr txBox="true"/>
            <p:nvPr/>
          </p:nvSpPr>
          <p:spPr>
            <a:xfrm>
              <a:off x="115627" y="179448"/>
              <a:ext cx="508757" cy="2556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</p:spTree>
  </p:cSld>
  <p:clrMapOvr>
    <a:masterClrMapping/>
  </p:clrMapOvr>
  <p:transition spd="fast">
    <p:cover dir="rd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5FCFF">
                <a:alpha val="100000"/>
              </a:srgbClr>
            </a:gs>
            <a:gs pos="33333">
              <a:srgbClr val="F5FCFF">
                <a:alpha val="100000"/>
              </a:srgbClr>
            </a:gs>
            <a:gs pos="66667">
              <a:srgbClr val="F5FCFF">
                <a:alpha val="100000"/>
              </a:srgbClr>
            </a:gs>
            <a:gs pos="100000">
              <a:srgbClr val="C5E3FF">
                <a:alpha val="100000"/>
              </a:srgbClr>
            </a:gs>
          </a:gsLst>
          <a:path path="circle">
            <a:fillToRect l="0" r="100000" t="0" b="100000"/>
          </a:path>
          <a:tileRect r="0" l="-100000" b="0" t="-1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89806" y="-202673"/>
            <a:ext cx="18719200" cy="1431252"/>
            <a:chOff x="0" y="0"/>
            <a:chExt cx="4930160" cy="37695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930160" cy="376955"/>
            </a:xfrm>
            <a:custGeom>
              <a:avLst/>
              <a:gdLst/>
              <a:ahLst/>
              <a:cxnLst/>
              <a:rect r="r" b="b" t="t" l="l"/>
              <a:pathLst>
                <a:path h="376955" w="4930160">
                  <a:moveTo>
                    <a:pt x="0" y="0"/>
                  </a:moveTo>
                  <a:lnTo>
                    <a:pt x="4930160" y="0"/>
                  </a:lnTo>
                  <a:lnTo>
                    <a:pt x="4930160" y="376955"/>
                  </a:lnTo>
                  <a:lnTo>
                    <a:pt x="0" y="37695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930160" cy="4150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89806" y="439295"/>
            <a:ext cx="347972" cy="513715"/>
            <a:chOff x="0" y="0"/>
            <a:chExt cx="91647" cy="13529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1647" cy="135299"/>
            </a:xfrm>
            <a:custGeom>
              <a:avLst/>
              <a:gdLst/>
              <a:ahLst/>
              <a:cxnLst/>
              <a:rect r="r" b="b" t="t" l="l"/>
              <a:pathLst>
                <a:path h="135299" w="91647">
                  <a:moveTo>
                    <a:pt x="0" y="0"/>
                  </a:moveTo>
                  <a:lnTo>
                    <a:pt x="91647" y="0"/>
                  </a:lnTo>
                  <a:lnTo>
                    <a:pt x="91647" y="135299"/>
                  </a:lnTo>
                  <a:lnTo>
                    <a:pt x="0" y="135299"/>
                  </a:lnTo>
                  <a:close/>
                </a:path>
              </a:pathLst>
            </a:custGeom>
            <a:solidFill>
              <a:srgbClr val="3065C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91647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65152" y="439295"/>
            <a:ext cx="493718" cy="513715"/>
            <a:chOff x="0" y="0"/>
            <a:chExt cx="130033" cy="13529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0033" cy="135299"/>
            </a:xfrm>
            <a:custGeom>
              <a:avLst/>
              <a:gdLst/>
              <a:ahLst/>
              <a:cxnLst/>
              <a:rect r="r" b="b" t="t" l="l"/>
              <a:pathLst>
                <a:path h="135299" w="130033">
                  <a:moveTo>
                    <a:pt x="0" y="0"/>
                  </a:moveTo>
                  <a:lnTo>
                    <a:pt x="130033" y="0"/>
                  </a:lnTo>
                  <a:lnTo>
                    <a:pt x="130033" y="135299"/>
                  </a:lnTo>
                  <a:lnTo>
                    <a:pt x="0" y="135299"/>
                  </a:lnTo>
                  <a:close/>
                </a:path>
              </a:pathLst>
            </a:custGeom>
            <a:gradFill rotWithShape="true">
              <a:gsLst>
                <a:gs pos="0">
                  <a:srgbClr val="C08846">
                    <a:alpha val="100000"/>
                  </a:srgbClr>
                </a:gs>
                <a:gs pos="100000">
                  <a:srgbClr val="FFC87B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30033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2441542" y="1442262"/>
            <a:ext cx="3896850" cy="8448455"/>
          </a:xfrm>
          <a:custGeom>
            <a:avLst/>
            <a:gdLst/>
            <a:ahLst/>
            <a:cxnLst/>
            <a:rect r="r" b="b" t="t" l="l"/>
            <a:pathLst>
              <a:path h="8448455" w="3896850">
                <a:moveTo>
                  <a:pt x="0" y="0"/>
                </a:moveTo>
                <a:lnTo>
                  <a:pt x="3896849" y="0"/>
                </a:lnTo>
                <a:lnTo>
                  <a:pt x="3896849" y="8448455"/>
                </a:lnTo>
                <a:lnTo>
                  <a:pt x="0" y="844845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441542" y="1442262"/>
            <a:ext cx="3906995" cy="8448455"/>
          </a:xfrm>
          <a:custGeom>
            <a:avLst/>
            <a:gdLst/>
            <a:ahLst/>
            <a:cxnLst/>
            <a:rect r="r" b="b" t="t" l="l"/>
            <a:pathLst>
              <a:path h="8448455" w="3906995">
                <a:moveTo>
                  <a:pt x="0" y="0"/>
                </a:moveTo>
                <a:lnTo>
                  <a:pt x="3906995" y="0"/>
                </a:lnTo>
                <a:lnTo>
                  <a:pt x="3906995" y="8448455"/>
                </a:lnTo>
                <a:lnTo>
                  <a:pt x="0" y="84484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7393" t="0" r="-189328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029700" y="1976120"/>
            <a:ext cx="8229600" cy="8229600"/>
          </a:xfrm>
          <a:custGeom>
            <a:avLst/>
            <a:gdLst/>
            <a:ahLst/>
            <a:cxnLst/>
            <a:rect r="r" b="b" t="t" l="l"/>
            <a:pathLst>
              <a:path h="8229600" w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028700" y="382145"/>
            <a:ext cx="8850302" cy="570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b="true" sz="3399" i="true">
                <a:solidFill>
                  <a:srgbClr val="061647"/>
                </a:solidFill>
                <a:latin typeface="Proxima Nova Heavy Italics"/>
                <a:ea typeface="Proxima Nova Heavy Italics"/>
                <a:cs typeface="Proxima Nova Heavy Italics"/>
                <a:sym typeface="Proxima Nova Heavy Italics"/>
              </a:rPr>
              <a:t>THIẾT KẾ GIAO DIỆN ỨNG DỤNG (UI/UX)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8883227" y="2510001"/>
            <a:ext cx="8234073" cy="684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</a:p>
          <a:p>
            <a:pPr algn="l" marL="561344" indent="-280672" lvl="1">
              <a:lnSpc>
                <a:spcPts val="3640"/>
              </a:lnSpc>
              <a:buFont typeface="Arial"/>
              <a:buChar char="•"/>
            </a:pPr>
            <a:r>
              <a:rPr lang="en-US" b="true" sz="2600">
                <a:solidFill>
                  <a:srgbClr val="3065CB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Đăng nhập truyền thống:</a:t>
            </a:r>
          </a:p>
          <a:p>
            <a:pPr algn="l" marL="561344" indent="-280672" lvl="1">
              <a:lnSpc>
                <a:spcPts val="3640"/>
              </a:lnSpc>
              <a:buFont typeface="Arial"/>
              <a:buChar char="•"/>
            </a:pPr>
            <a:r>
              <a:rPr lang="en-US" b="true" sz="2600">
                <a:solidFill>
                  <a:srgbClr val="3065CB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Nhập Số điện thoại / Email và Mật khẩu. </a:t>
            </a:r>
          </a:p>
          <a:p>
            <a:pPr algn="l" marL="561344" indent="-280672" lvl="1">
              <a:lnSpc>
                <a:spcPts val="3640"/>
              </a:lnSpc>
              <a:buFont typeface="Arial"/>
              <a:buChar char="•"/>
            </a:pPr>
            <a:r>
              <a:rPr lang="en-US" b="true" sz="2600">
                <a:solidFill>
                  <a:srgbClr val="3065CB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Có nút ẩn/hiện mật khẩu bảo mật. </a:t>
            </a:r>
          </a:p>
          <a:p>
            <a:pPr algn="l" marL="561344" indent="-280672" lvl="1">
              <a:lnSpc>
                <a:spcPts val="3640"/>
              </a:lnSpc>
              <a:buFont typeface="Arial"/>
              <a:buChar char="•"/>
            </a:pPr>
            <a:r>
              <a:rPr lang="en-US" b="true" sz="2600">
                <a:solidFill>
                  <a:srgbClr val="3065CB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Xác thực nhanh bằng Sinh trắc học:</a:t>
            </a:r>
          </a:p>
          <a:p>
            <a:pPr algn="l" marL="561344" indent="-280672" lvl="1">
              <a:lnSpc>
                <a:spcPts val="3640"/>
              </a:lnSpc>
              <a:buFont typeface="Arial"/>
              <a:buChar char="•"/>
            </a:pPr>
            <a:r>
              <a:rPr lang="en-US" b="true" sz="2600">
                <a:solidFill>
                  <a:srgbClr val="3065CB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Nút kích hoạt quét vân tay / Face ID đặt ở vị trí thuận tiện thao tác. </a:t>
            </a:r>
          </a:p>
          <a:p>
            <a:pPr algn="l" marL="561344" indent="-280672" lvl="1">
              <a:lnSpc>
                <a:spcPts val="3640"/>
              </a:lnSpc>
              <a:buFont typeface="Arial"/>
              <a:buChar char="•"/>
            </a:pPr>
            <a:r>
              <a:rPr lang="en-US" b="true" sz="2600">
                <a:solidFill>
                  <a:srgbClr val="3065CB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Tích hợp cơ chế tự động mở hộp thoại quét vân tay ngay khi vào app.</a:t>
            </a:r>
          </a:p>
          <a:p>
            <a:pPr algn="l" marL="561344" indent="-280672" lvl="1">
              <a:lnSpc>
                <a:spcPts val="3640"/>
              </a:lnSpc>
              <a:buFont typeface="Arial"/>
              <a:buChar char="•"/>
            </a:pPr>
            <a:r>
              <a:rPr lang="en-US" b="true" sz="2600">
                <a:solidFill>
                  <a:srgbClr val="3065CB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Xử lý trạng thái &amp; Phản hồi (Feedback):</a:t>
            </a:r>
          </a:p>
          <a:p>
            <a:pPr algn="l" marL="561344" indent="-280672" lvl="1">
              <a:lnSpc>
                <a:spcPts val="3640"/>
              </a:lnSpc>
              <a:buFont typeface="Arial"/>
              <a:buChar char="•"/>
            </a:pPr>
            <a:r>
              <a:rPr lang="en-US" b="true" sz="2600">
                <a:solidFill>
                  <a:srgbClr val="3065CB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Hiển thị thông báo (SnackBar/Toast) phản hồi tức thì khi người dùng hủy thao tác hoặc xác thực thất bại. </a:t>
            </a:r>
          </a:p>
          <a:p>
            <a:pPr algn="l" marL="561344" indent="-280672" lvl="1">
              <a:lnSpc>
                <a:spcPts val="3640"/>
              </a:lnSpc>
              <a:buFont typeface="Arial"/>
              <a:buChar char="•"/>
            </a:pPr>
            <a:r>
              <a:rPr lang="en-US" b="true" sz="2600">
                <a:solidFill>
                  <a:srgbClr val="3065CB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Tự động điều hướng và lưu trữ phiên đăng nhập an toàn khi xác thực thành công.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169547" y="2235363"/>
            <a:ext cx="7661434" cy="59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b="true" sz="3500">
                <a:gradFill>
                  <a:gsLst>
                    <a:gs pos="0">
                      <a:srgbClr val="C08846">
                        <a:alpha val="100000"/>
                      </a:srgbClr>
                    </a:gs>
                    <a:gs pos="100000">
                      <a:srgbClr val="FFC87B">
                        <a:alpha val="100000"/>
                      </a:srgbClr>
                    </a:gs>
                  </a:gsLst>
                  <a:lin ang="5400000"/>
                </a:gradFill>
                <a:latin typeface="Proxima Nova Bold"/>
                <a:ea typeface="Proxima Nova Bold"/>
                <a:cs typeface="Proxima Nova Bold"/>
                <a:sym typeface="Proxima Nova Bold"/>
              </a:rPr>
              <a:t>GIAO DIỆN ĐĂNG NHẬP &amp; XÁC THỰC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3752280" y="0"/>
            <a:ext cx="4498283" cy="1442262"/>
          </a:xfrm>
          <a:custGeom>
            <a:avLst/>
            <a:gdLst/>
            <a:ahLst/>
            <a:cxnLst/>
            <a:rect r="r" b="b" t="t" l="l"/>
            <a:pathLst>
              <a:path h="1442262" w="4498283">
                <a:moveTo>
                  <a:pt x="0" y="0"/>
                </a:moveTo>
                <a:lnTo>
                  <a:pt x="4498283" y="0"/>
                </a:lnTo>
                <a:lnTo>
                  <a:pt x="4498283" y="1442262"/>
                </a:lnTo>
                <a:lnTo>
                  <a:pt x="0" y="14422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cover dir="rd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2772">
                <a:alpha val="100000"/>
              </a:srgbClr>
            </a:gs>
            <a:gs pos="50000">
              <a:srgbClr val="356BD1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58166" y="1791328"/>
            <a:ext cx="10068243" cy="2600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00"/>
              </a:lnSpc>
            </a:pPr>
            <a:r>
              <a:rPr lang="en-US" b="true" sz="12000">
                <a:solidFill>
                  <a:srgbClr val="3065CB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OPTIMAL SOLUTIONS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-189806" y="-202673"/>
            <a:ext cx="18719200" cy="1431252"/>
            <a:chOff x="0" y="0"/>
            <a:chExt cx="4930160" cy="37695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30160" cy="376955"/>
            </a:xfrm>
            <a:custGeom>
              <a:avLst/>
              <a:gdLst/>
              <a:ahLst/>
              <a:cxnLst/>
              <a:rect r="r" b="b" t="t" l="l"/>
              <a:pathLst>
                <a:path h="376955" w="4930160">
                  <a:moveTo>
                    <a:pt x="0" y="0"/>
                  </a:moveTo>
                  <a:lnTo>
                    <a:pt x="4930160" y="0"/>
                  </a:lnTo>
                  <a:lnTo>
                    <a:pt x="4930160" y="376955"/>
                  </a:lnTo>
                  <a:lnTo>
                    <a:pt x="0" y="37695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930160" cy="4150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-189806" y="439295"/>
            <a:ext cx="347972" cy="513715"/>
            <a:chOff x="0" y="0"/>
            <a:chExt cx="91647" cy="13529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1647" cy="135299"/>
            </a:xfrm>
            <a:custGeom>
              <a:avLst/>
              <a:gdLst/>
              <a:ahLst/>
              <a:cxnLst/>
              <a:rect r="r" b="b" t="t" l="l"/>
              <a:pathLst>
                <a:path h="135299" w="91647">
                  <a:moveTo>
                    <a:pt x="0" y="0"/>
                  </a:moveTo>
                  <a:lnTo>
                    <a:pt x="91647" y="0"/>
                  </a:lnTo>
                  <a:lnTo>
                    <a:pt x="91647" y="135299"/>
                  </a:lnTo>
                  <a:lnTo>
                    <a:pt x="0" y="135299"/>
                  </a:lnTo>
                  <a:close/>
                </a:path>
              </a:pathLst>
            </a:custGeom>
            <a:solidFill>
              <a:srgbClr val="3065CB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91647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65152" y="439295"/>
            <a:ext cx="493718" cy="513715"/>
            <a:chOff x="0" y="0"/>
            <a:chExt cx="130033" cy="13529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30033" cy="135299"/>
            </a:xfrm>
            <a:custGeom>
              <a:avLst/>
              <a:gdLst/>
              <a:ahLst/>
              <a:cxnLst/>
              <a:rect r="r" b="b" t="t" l="l"/>
              <a:pathLst>
                <a:path h="135299" w="130033">
                  <a:moveTo>
                    <a:pt x="0" y="0"/>
                  </a:moveTo>
                  <a:lnTo>
                    <a:pt x="130033" y="0"/>
                  </a:lnTo>
                  <a:lnTo>
                    <a:pt x="130033" y="135299"/>
                  </a:lnTo>
                  <a:lnTo>
                    <a:pt x="0" y="135299"/>
                  </a:lnTo>
                  <a:close/>
                </a:path>
              </a:pathLst>
            </a:custGeom>
            <a:gradFill rotWithShape="true">
              <a:gsLst>
                <a:gs pos="0">
                  <a:srgbClr val="C08846">
                    <a:alpha val="100000"/>
                  </a:srgbClr>
                </a:gs>
                <a:gs pos="100000">
                  <a:srgbClr val="FFC87B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30033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0" y="1028700"/>
            <a:ext cx="9954926" cy="9665390"/>
          </a:xfrm>
          <a:custGeom>
            <a:avLst/>
            <a:gdLst/>
            <a:ahLst/>
            <a:cxnLst/>
            <a:rect r="r" b="b" t="t" l="l"/>
            <a:pathLst>
              <a:path h="9665390" w="9954926">
                <a:moveTo>
                  <a:pt x="0" y="0"/>
                </a:moveTo>
                <a:lnTo>
                  <a:pt x="9954926" y="0"/>
                </a:lnTo>
                <a:lnTo>
                  <a:pt x="9954926" y="9665390"/>
                </a:lnTo>
                <a:lnTo>
                  <a:pt x="0" y="96653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8279" r="-66896" b="-6422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-7662578">
            <a:off x="8027733" y="2039681"/>
            <a:ext cx="2051435" cy="4079850"/>
            <a:chOff x="0" y="0"/>
            <a:chExt cx="540296" cy="107452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40296" cy="1074528"/>
            </a:xfrm>
            <a:custGeom>
              <a:avLst/>
              <a:gdLst/>
              <a:ahLst/>
              <a:cxnLst/>
              <a:rect r="r" b="b" t="t" l="l"/>
              <a:pathLst>
                <a:path h="1074528" w="540296">
                  <a:moveTo>
                    <a:pt x="270148" y="0"/>
                  </a:moveTo>
                  <a:lnTo>
                    <a:pt x="540296" y="1074528"/>
                  </a:lnTo>
                  <a:lnTo>
                    <a:pt x="0" y="1074528"/>
                  </a:lnTo>
                  <a:lnTo>
                    <a:pt x="27014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10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</p:spPr>
        </p:sp>
        <p:sp>
          <p:nvSpPr>
            <p:cNvPr name="TextBox 15" id="15"/>
            <p:cNvSpPr txBox="true"/>
            <p:nvPr/>
          </p:nvSpPr>
          <p:spPr>
            <a:xfrm>
              <a:off x="84421" y="460788"/>
              <a:ext cx="371453" cy="536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-3121120">
            <a:off x="8025639" y="4852396"/>
            <a:ext cx="2051435" cy="4079850"/>
            <a:chOff x="0" y="0"/>
            <a:chExt cx="540296" cy="107452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40296" cy="1074528"/>
            </a:xfrm>
            <a:custGeom>
              <a:avLst/>
              <a:gdLst/>
              <a:ahLst/>
              <a:cxnLst/>
              <a:rect r="r" b="b" t="t" l="l"/>
              <a:pathLst>
                <a:path h="1074528" w="540296">
                  <a:moveTo>
                    <a:pt x="270148" y="0"/>
                  </a:moveTo>
                  <a:lnTo>
                    <a:pt x="540296" y="1074528"/>
                  </a:lnTo>
                  <a:lnTo>
                    <a:pt x="0" y="1074528"/>
                  </a:lnTo>
                  <a:lnTo>
                    <a:pt x="27014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10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</p:spPr>
        </p:sp>
        <p:sp>
          <p:nvSpPr>
            <p:cNvPr name="TextBox 18" id="18"/>
            <p:cNvSpPr txBox="true"/>
            <p:nvPr/>
          </p:nvSpPr>
          <p:spPr>
            <a:xfrm>
              <a:off x="84421" y="460788"/>
              <a:ext cx="371453" cy="536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-3577904">
            <a:off x="7389742" y="4724664"/>
            <a:ext cx="2354885" cy="2858053"/>
            <a:chOff x="0" y="0"/>
            <a:chExt cx="620217" cy="75273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20217" cy="752738"/>
            </a:xfrm>
            <a:custGeom>
              <a:avLst/>
              <a:gdLst/>
              <a:ahLst/>
              <a:cxnLst/>
              <a:rect r="r" b="b" t="t" l="l"/>
              <a:pathLst>
                <a:path h="752738" w="620217">
                  <a:moveTo>
                    <a:pt x="310108" y="0"/>
                  </a:moveTo>
                  <a:lnTo>
                    <a:pt x="620217" y="752738"/>
                  </a:lnTo>
                  <a:lnTo>
                    <a:pt x="0" y="752738"/>
                  </a:lnTo>
                  <a:lnTo>
                    <a:pt x="310108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10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</p:spPr>
        </p:sp>
        <p:sp>
          <p:nvSpPr>
            <p:cNvPr name="TextBox 21" id="21"/>
            <p:cNvSpPr txBox="true"/>
            <p:nvPr/>
          </p:nvSpPr>
          <p:spPr>
            <a:xfrm>
              <a:off x="96909" y="311386"/>
              <a:ext cx="426399" cy="3875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1094816">
            <a:off x="7914565" y="2819343"/>
            <a:ext cx="461363" cy="205306"/>
          </a:xfrm>
          <a:custGeom>
            <a:avLst/>
            <a:gdLst/>
            <a:ahLst/>
            <a:cxnLst/>
            <a:rect r="r" b="b" t="t" l="l"/>
            <a:pathLst>
              <a:path h="205306" w="461363">
                <a:moveTo>
                  <a:pt x="0" y="0"/>
                </a:moveTo>
                <a:lnTo>
                  <a:pt x="461362" y="0"/>
                </a:lnTo>
                <a:lnTo>
                  <a:pt x="461362" y="205306"/>
                </a:lnTo>
                <a:lnTo>
                  <a:pt x="0" y="20530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1073274">
            <a:off x="7468766" y="2605302"/>
            <a:ext cx="391158" cy="283589"/>
          </a:xfrm>
          <a:custGeom>
            <a:avLst/>
            <a:gdLst/>
            <a:ahLst/>
            <a:cxnLst/>
            <a:rect r="r" b="b" t="t" l="l"/>
            <a:pathLst>
              <a:path h="283589" w="391158">
                <a:moveTo>
                  <a:pt x="0" y="0"/>
                </a:moveTo>
                <a:lnTo>
                  <a:pt x="391157" y="0"/>
                </a:lnTo>
                <a:lnTo>
                  <a:pt x="391157" y="283589"/>
                </a:lnTo>
                <a:lnTo>
                  <a:pt x="0" y="28358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1029082">
            <a:off x="7058689" y="2455752"/>
            <a:ext cx="330576" cy="330576"/>
          </a:xfrm>
          <a:custGeom>
            <a:avLst/>
            <a:gdLst/>
            <a:ahLst/>
            <a:cxnLst/>
            <a:rect r="r" b="b" t="t" l="l"/>
            <a:pathLst>
              <a:path h="330576" w="330576">
                <a:moveTo>
                  <a:pt x="0" y="0"/>
                </a:moveTo>
                <a:lnTo>
                  <a:pt x="330576" y="0"/>
                </a:lnTo>
                <a:lnTo>
                  <a:pt x="330576" y="330576"/>
                </a:lnTo>
                <a:lnTo>
                  <a:pt x="0" y="33057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12542141" y="3874583"/>
            <a:ext cx="3086100" cy="3086100"/>
            <a:chOff x="0" y="0"/>
            <a:chExt cx="812800" cy="812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61647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165100"/>
              <a:ext cx="711200" cy="444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028700" y="382145"/>
            <a:ext cx="8850302" cy="570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b="true" sz="3399" i="true">
                <a:solidFill>
                  <a:srgbClr val="061647"/>
                </a:solidFill>
                <a:latin typeface="Proxima Nova Heavy Italics"/>
                <a:ea typeface="Proxima Nova Heavy Italics"/>
                <a:cs typeface="Proxima Nova Heavy Italics"/>
                <a:sym typeface="Proxima Nova Heavy Italics"/>
              </a:rPr>
              <a:t>KỊCH BẢN DEMO THỰC TẾ (LIVE DEMO)</a:t>
            </a:r>
          </a:p>
        </p:txBody>
      </p:sp>
      <p:sp>
        <p:nvSpPr>
          <p:cNvPr name="TextBox 29" id="29"/>
          <p:cNvSpPr txBox="true"/>
          <p:nvPr/>
        </p:nvSpPr>
        <p:spPr>
          <a:xfrm rot="1188773">
            <a:off x="4645460" y="4909255"/>
            <a:ext cx="2667358" cy="1070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65"/>
              </a:lnSpc>
            </a:pPr>
            <a:r>
              <a:rPr lang="en-US" b="true" sz="4004" u="sng">
                <a:solidFill>
                  <a:srgbClr val="061647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DEMO</a:t>
            </a:r>
          </a:p>
          <a:p>
            <a:pPr algn="ctr">
              <a:lnSpc>
                <a:spcPts val="4165"/>
              </a:lnSpc>
            </a:pPr>
            <a:r>
              <a:rPr lang="en-US" b="true" sz="4004" u="sng">
                <a:solidFill>
                  <a:srgbClr val="061647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LIVE</a:t>
            </a:r>
          </a:p>
        </p:txBody>
      </p:sp>
      <p:sp>
        <p:nvSpPr>
          <p:cNvPr name="Freeform 30" id="30"/>
          <p:cNvSpPr/>
          <p:nvPr/>
        </p:nvSpPr>
        <p:spPr>
          <a:xfrm flipH="false" flipV="false" rot="0">
            <a:off x="13819228" y="0"/>
            <a:ext cx="4431336" cy="1420797"/>
          </a:xfrm>
          <a:custGeom>
            <a:avLst/>
            <a:gdLst/>
            <a:ahLst/>
            <a:cxnLst/>
            <a:rect r="r" b="b" t="t" l="l"/>
            <a:pathLst>
              <a:path h="1420797" w="4431336">
                <a:moveTo>
                  <a:pt x="0" y="0"/>
                </a:moveTo>
                <a:lnTo>
                  <a:pt x="4431335" y="0"/>
                </a:lnTo>
                <a:lnTo>
                  <a:pt x="4431335" y="1420797"/>
                </a:lnTo>
                <a:lnTo>
                  <a:pt x="0" y="142079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cover dir="d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50000">
              <a:srgbClr val="71A2FF">
                <a:alpha val="100000"/>
              </a:srgbClr>
            </a:gs>
            <a:gs pos="100000">
              <a:srgbClr val="002772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340474" y="1931833"/>
            <a:ext cx="10068243" cy="2600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00"/>
              </a:lnSpc>
            </a:pPr>
            <a:r>
              <a:rPr lang="en-US" b="true" sz="12000">
                <a:solidFill>
                  <a:srgbClr val="3065CB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OPTIMAL SOLUTIONS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-189806" y="-202673"/>
            <a:ext cx="18719200" cy="1431252"/>
            <a:chOff x="0" y="0"/>
            <a:chExt cx="4930160" cy="37695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30160" cy="376955"/>
            </a:xfrm>
            <a:custGeom>
              <a:avLst/>
              <a:gdLst/>
              <a:ahLst/>
              <a:cxnLst/>
              <a:rect r="r" b="b" t="t" l="l"/>
              <a:pathLst>
                <a:path h="376955" w="4930160">
                  <a:moveTo>
                    <a:pt x="0" y="0"/>
                  </a:moveTo>
                  <a:lnTo>
                    <a:pt x="4930160" y="0"/>
                  </a:lnTo>
                  <a:lnTo>
                    <a:pt x="4930160" y="376955"/>
                  </a:lnTo>
                  <a:lnTo>
                    <a:pt x="0" y="37695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930160" cy="4150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-189806" y="439295"/>
            <a:ext cx="347972" cy="513715"/>
            <a:chOff x="0" y="0"/>
            <a:chExt cx="91647" cy="13529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1647" cy="135299"/>
            </a:xfrm>
            <a:custGeom>
              <a:avLst/>
              <a:gdLst/>
              <a:ahLst/>
              <a:cxnLst/>
              <a:rect r="r" b="b" t="t" l="l"/>
              <a:pathLst>
                <a:path h="135299" w="91647">
                  <a:moveTo>
                    <a:pt x="0" y="0"/>
                  </a:moveTo>
                  <a:lnTo>
                    <a:pt x="91647" y="0"/>
                  </a:lnTo>
                  <a:lnTo>
                    <a:pt x="91647" y="135299"/>
                  </a:lnTo>
                  <a:lnTo>
                    <a:pt x="0" y="135299"/>
                  </a:lnTo>
                  <a:close/>
                </a:path>
              </a:pathLst>
            </a:custGeom>
            <a:solidFill>
              <a:srgbClr val="3065CB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91647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65152" y="439295"/>
            <a:ext cx="493718" cy="513715"/>
            <a:chOff x="0" y="0"/>
            <a:chExt cx="130033" cy="13529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30033" cy="135299"/>
            </a:xfrm>
            <a:custGeom>
              <a:avLst/>
              <a:gdLst/>
              <a:ahLst/>
              <a:cxnLst/>
              <a:rect r="r" b="b" t="t" l="l"/>
              <a:pathLst>
                <a:path h="135299" w="130033">
                  <a:moveTo>
                    <a:pt x="0" y="0"/>
                  </a:moveTo>
                  <a:lnTo>
                    <a:pt x="130033" y="0"/>
                  </a:lnTo>
                  <a:lnTo>
                    <a:pt x="130033" y="135299"/>
                  </a:lnTo>
                  <a:lnTo>
                    <a:pt x="0" y="135299"/>
                  </a:lnTo>
                  <a:close/>
                </a:path>
              </a:pathLst>
            </a:custGeom>
            <a:gradFill rotWithShape="true">
              <a:gsLst>
                <a:gs pos="0">
                  <a:srgbClr val="C08846">
                    <a:alpha val="100000"/>
                  </a:srgbClr>
                </a:gs>
                <a:gs pos="100000">
                  <a:srgbClr val="FFC87B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30033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028700" y="382145"/>
            <a:ext cx="8850302" cy="570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b="true" sz="3399" i="true">
                <a:solidFill>
                  <a:srgbClr val="061647"/>
                </a:solidFill>
                <a:latin typeface="Proxima Nova Heavy Italics"/>
                <a:ea typeface="Proxima Nova Heavy Italics"/>
                <a:cs typeface="Proxima Nova Heavy Italics"/>
                <a:sym typeface="Proxima Nova Heavy Italics"/>
              </a:rPr>
              <a:t>TÀI LIỆU CÀI ĐẶT &amp; KHO MÃ NGUỒN (GIT)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3856101" y="0"/>
            <a:ext cx="4394462" cy="1408974"/>
          </a:xfrm>
          <a:custGeom>
            <a:avLst/>
            <a:gdLst/>
            <a:ahLst/>
            <a:cxnLst/>
            <a:rect r="r" b="b" t="t" l="l"/>
            <a:pathLst>
              <a:path h="1408974" w="4394462">
                <a:moveTo>
                  <a:pt x="0" y="0"/>
                </a:moveTo>
                <a:lnTo>
                  <a:pt x="4394462" y="0"/>
                </a:lnTo>
                <a:lnTo>
                  <a:pt x="4394462" y="1408974"/>
                </a:lnTo>
                <a:lnTo>
                  <a:pt x="0" y="140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789467" y="1831181"/>
            <a:ext cx="13322266" cy="68314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1"/>
              </a:lnSpc>
              <a:spcBef>
                <a:spcPct val="0"/>
              </a:spcBef>
            </a:pPr>
            <a:r>
              <a:rPr lang="en-US" b="true" sz="3543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KHO LƯU TRỮ &amp; TÀI</a:t>
            </a:r>
            <a:r>
              <a:rPr lang="en-US" b="true" sz="3543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LIỆU </a:t>
            </a:r>
          </a:p>
          <a:p>
            <a:pPr algn="l">
              <a:lnSpc>
                <a:spcPts val="4961"/>
              </a:lnSpc>
              <a:spcBef>
                <a:spcPct val="0"/>
              </a:spcBef>
            </a:pPr>
            <a:r>
              <a:rPr lang="en-US" b="true" sz="3543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GitHub Repository:</a:t>
            </a:r>
          </a:p>
          <a:p>
            <a:pPr algn="l" marL="765102" indent="-382551" lvl="1">
              <a:lnSpc>
                <a:spcPts val="4961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43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https://github.com/nhphuc2035-commits/AppDatLichHotToc.git</a:t>
            </a:r>
          </a:p>
          <a:p>
            <a:pPr algn="l">
              <a:lnSpc>
                <a:spcPts val="4961"/>
              </a:lnSpc>
              <a:spcBef>
                <a:spcPct val="0"/>
              </a:spcBef>
            </a:pPr>
            <a:r>
              <a:rPr lang="en-US" b="true" sz="3543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Tài liệu (Document):</a:t>
            </a:r>
          </a:p>
          <a:p>
            <a:pPr algn="l" marL="765102" indent="-382551" lvl="1">
              <a:lnSpc>
                <a:spcPts val="4961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43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File Word Tài Liệu Hướng Dẫn </a:t>
            </a:r>
          </a:p>
          <a:p>
            <a:pPr algn="l">
              <a:lnSpc>
                <a:spcPts val="4961"/>
              </a:lnSpc>
              <a:spcBef>
                <a:spcPct val="0"/>
              </a:spcBef>
            </a:pPr>
            <a:r>
              <a:rPr lang="en-US" b="true" sz="3543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Yêu cầu môi trường:</a:t>
            </a:r>
          </a:p>
          <a:p>
            <a:pPr algn="l" marL="765102" indent="-382551" lvl="1">
              <a:lnSpc>
                <a:spcPts val="4961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43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Flutter SDK &gt;= 3.0 | Android API &gt;= 23</a:t>
            </a:r>
          </a:p>
          <a:p>
            <a:pPr algn="l">
              <a:lnSpc>
                <a:spcPts val="4961"/>
              </a:lnSpc>
              <a:spcBef>
                <a:spcPct val="0"/>
              </a:spcBef>
            </a:pPr>
            <a:r>
              <a:rPr lang="en-US" b="true" sz="3543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Lệnh cài đặt &amp; chạy nhanh (CLI):</a:t>
            </a:r>
          </a:p>
          <a:p>
            <a:pPr algn="l" marL="765102" indent="-382551" lvl="1">
              <a:lnSpc>
                <a:spcPts val="4961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43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flutter pub get</a:t>
            </a:r>
          </a:p>
          <a:p>
            <a:pPr algn="l" marL="765102" indent="-382551" lvl="1">
              <a:lnSpc>
                <a:spcPts val="4961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43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flutter run</a:t>
            </a:r>
          </a:p>
        </p:txBody>
      </p:sp>
    </p:spTree>
  </p:cSld>
  <p:clrMapOvr>
    <a:masterClrMapping/>
  </p:clrMapOvr>
  <p:transition spd="fast">
    <p:cover dir="d"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89806" y="-202673"/>
            <a:ext cx="18719200" cy="1431252"/>
            <a:chOff x="0" y="0"/>
            <a:chExt cx="4930160" cy="37695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930160" cy="376955"/>
            </a:xfrm>
            <a:custGeom>
              <a:avLst/>
              <a:gdLst/>
              <a:ahLst/>
              <a:cxnLst/>
              <a:rect r="r" b="b" t="t" l="l"/>
              <a:pathLst>
                <a:path h="376955" w="4930160">
                  <a:moveTo>
                    <a:pt x="0" y="0"/>
                  </a:moveTo>
                  <a:lnTo>
                    <a:pt x="4930160" y="0"/>
                  </a:lnTo>
                  <a:lnTo>
                    <a:pt x="4930160" y="376955"/>
                  </a:lnTo>
                  <a:lnTo>
                    <a:pt x="0" y="37695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930160" cy="4150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89806" y="439295"/>
            <a:ext cx="347972" cy="513715"/>
            <a:chOff x="0" y="0"/>
            <a:chExt cx="91647" cy="13529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1647" cy="135299"/>
            </a:xfrm>
            <a:custGeom>
              <a:avLst/>
              <a:gdLst/>
              <a:ahLst/>
              <a:cxnLst/>
              <a:rect r="r" b="b" t="t" l="l"/>
              <a:pathLst>
                <a:path h="135299" w="91647">
                  <a:moveTo>
                    <a:pt x="0" y="0"/>
                  </a:moveTo>
                  <a:lnTo>
                    <a:pt x="91647" y="0"/>
                  </a:lnTo>
                  <a:lnTo>
                    <a:pt x="91647" y="135299"/>
                  </a:lnTo>
                  <a:lnTo>
                    <a:pt x="0" y="135299"/>
                  </a:lnTo>
                  <a:close/>
                </a:path>
              </a:pathLst>
            </a:custGeom>
            <a:solidFill>
              <a:srgbClr val="3065C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91647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65152" y="439295"/>
            <a:ext cx="493718" cy="513715"/>
            <a:chOff x="0" y="0"/>
            <a:chExt cx="130033" cy="13529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0033" cy="135299"/>
            </a:xfrm>
            <a:custGeom>
              <a:avLst/>
              <a:gdLst/>
              <a:ahLst/>
              <a:cxnLst/>
              <a:rect r="r" b="b" t="t" l="l"/>
              <a:pathLst>
                <a:path h="135299" w="130033">
                  <a:moveTo>
                    <a:pt x="0" y="0"/>
                  </a:moveTo>
                  <a:lnTo>
                    <a:pt x="130033" y="0"/>
                  </a:lnTo>
                  <a:lnTo>
                    <a:pt x="130033" y="135299"/>
                  </a:lnTo>
                  <a:lnTo>
                    <a:pt x="0" y="135299"/>
                  </a:lnTo>
                  <a:close/>
                </a:path>
              </a:pathLst>
            </a:custGeom>
            <a:gradFill rotWithShape="true">
              <a:gsLst>
                <a:gs pos="0">
                  <a:srgbClr val="C08846">
                    <a:alpha val="100000"/>
                  </a:srgbClr>
                </a:gs>
                <a:gs pos="100000">
                  <a:srgbClr val="FFC87B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30033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592296" y="2168707"/>
            <a:ext cx="8667004" cy="7544991"/>
            <a:chOff x="0" y="0"/>
            <a:chExt cx="11556006" cy="10059988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7150"/>
              <a:ext cx="7865063" cy="7063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816771" indent="-408386" lvl="1">
                <a:lnSpc>
                  <a:spcPts val="3934"/>
                </a:lnSpc>
                <a:buFont typeface="Arial"/>
                <a:buChar char="•"/>
              </a:pPr>
              <a:r>
                <a:rPr lang="en-US" b="true" sz="3783">
                  <a:solidFill>
                    <a:srgbClr val="002772"/>
                  </a:solidFill>
                  <a:latin typeface="Proxima Nova Heavy"/>
                  <a:ea typeface="Proxima Nova Heavy"/>
                  <a:cs typeface="Proxima Nova Heavy"/>
                  <a:sym typeface="Proxima Nova Heavy"/>
                </a:rPr>
                <a:t>ƯU</a:t>
              </a:r>
              <a:r>
                <a:rPr lang="en-US" b="true" sz="3783">
                  <a:solidFill>
                    <a:srgbClr val="002772"/>
                  </a:solidFill>
                  <a:latin typeface="Proxima Nova Heavy"/>
                  <a:ea typeface="Proxima Nova Heavy"/>
                  <a:cs typeface="Proxima Nova Heavy"/>
                  <a:sym typeface="Proxima Nova Heavy"/>
                </a:rPr>
                <a:t> ĐIỂM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5339441"/>
              <a:ext cx="10071582" cy="7063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816771" indent="-408386" lvl="1">
                <a:lnSpc>
                  <a:spcPts val="3934"/>
                </a:lnSpc>
                <a:buFont typeface="Arial"/>
                <a:buChar char="•"/>
              </a:pPr>
              <a:r>
                <a:rPr lang="en-US" b="true" sz="3783">
                  <a:solidFill>
                    <a:srgbClr val="002772"/>
                  </a:solidFill>
                  <a:latin typeface="Proxima Nova Heavy"/>
                  <a:ea typeface="Proxima Nova Heavy"/>
                  <a:cs typeface="Proxima Nova Heavy"/>
                  <a:sym typeface="Proxima Nova Heavy"/>
                </a:rPr>
                <a:t>HẠ</a:t>
              </a:r>
              <a:r>
                <a:rPr lang="en-US" b="true" sz="3783">
                  <a:solidFill>
                    <a:srgbClr val="002772"/>
                  </a:solidFill>
                  <a:latin typeface="Proxima Nova Heavy"/>
                  <a:ea typeface="Proxima Nova Heavy"/>
                  <a:cs typeface="Proxima Nova Heavy"/>
                  <a:sym typeface="Proxima Nova Heavy"/>
                </a:rPr>
                <a:t>N CHẾ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8798467"/>
              <a:ext cx="10071582" cy="7063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934"/>
                </a:lnSpc>
              </a:pP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1197592" y="812832"/>
              <a:ext cx="10358414" cy="3626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561341" indent="-280670" lvl="1">
                <a:lnSpc>
                  <a:spcPts val="3640"/>
                </a:lnSpc>
                <a:buFont typeface="Arial"/>
                <a:buChar char="•"/>
              </a:pPr>
              <a:r>
                <a:rPr lang="en-US" b="true" sz="2600">
                  <a:solidFill>
                    <a:srgbClr val="002772"/>
                  </a:solidFill>
                  <a:latin typeface="Proxima Nova Bold"/>
                  <a:ea typeface="Proxima Nova Bold"/>
                  <a:cs typeface="Proxima Nova Bold"/>
                  <a:sym typeface="Proxima Nova Bold"/>
                </a:rPr>
                <a:t>Tốc độ xác thực cực nhanh (&lt; 0.5s), không cần gõ mật khẩu thủ công.</a:t>
              </a:r>
            </a:p>
            <a:p>
              <a:pPr algn="l" marL="561341" indent="-280670" lvl="1">
                <a:lnSpc>
                  <a:spcPts val="3640"/>
                </a:lnSpc>
                <a:buFont typeface="Arial"/>
                <a:buChar char="•"/>
              </a:pPr>
              <a:r>
                <a:rPr lang="en-US" b="true" sz="2600">
                  <a:solidFill>
                    <a:srgbClr val="002772"/>
                  </a:solidFill>
                  <a:latin typeface="Proxima Nova Bold"/>
                  <a:ea typeface="Proxima Nova Bold"/>
                  <a:cs typeface="Proxima Nova Bold"/>
                  <a:sym typeface="Proxima Nova Bold"/>
                </a:rPr>
                <a:t>Bảo mật cao cấp: Token không bao giờ lưu dưới dạng văn bản thô (plain text).</a:t>
              </a:r>
            </a:p>
            <a:p>
              <a:pPr algn="l" marL="561341" indent="-280670" lvl="1">
                <a:lnSpc>
                  <a:spcPts val="3640"/>
                </a:lnSpc>
                <a:buFont typeface="Arial"/>
                <a:buChar char="•"/>
              </a:pPr>
              <a:r>
                <a:rPr lang="en-US" b="true" sz="2600">
                  <a:solidFill>
                    <a:srgbClr val="002772"/>
                  </a:solidFill>
                  <a:latin typeface="Proxima Nova Bold"/>
                  <a:ea typeface="Proxima Nova Bold"/>
                  <a:cs typeface="Proxima Nova Bold"/>
                  <a:sym typeface="Proxima Nova Bold"/>
                </a:rPr>
                <a:t>Trải nghiệm người dùng mượt mà, tiện lợi cho người dùng 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1197592" y="6095123"/>
              <a:ext cx="10322900" cy="17978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561341" indent="-280670" lvl="1">
                <a:lnSpc>
                  <a:spcPts val="3640"/>
                </a:lnSpc>
                <a:buFont typeface="Arial"/>
                <a:buChar char="•"/>
              </a:pPr>
              <a:r>
                <a:rPr lang="en-US" b="true" sz="2600">
                  <a:solidFill>
                    <a:srgbClr val="002772"/>
                  </a:solidFill>
                  <a:latin typeface="Proxima Nova Bold"/>
                  <a:ea typeface="Proxima Nova Bold"/>
                  <a:cs typeface="Proxima Nova Bold"/>
                  <a:sym typeface="Proxima Nova Bold"/>
                </a:rPr>
                <a:t>P</a:t>
              </a:r>
              <a:r>
                <a:rPr lang="en-US" b="true" sz="2600">
                  <a:solidFill>
                    <a:srgbClr val="002772"/>
                  </a:solidFill>
                  <a:latin typeface="Proxima Nova Bold"/>
                  <a:ea typeface="Proxima Nova Bold"/>
                  <a:cs typeface="Proxima Nova Bold"/>
                  <a:sym typeface="Proxima Nova Bold"/>
                </a:rPr>
                <a:t>hụ thuộc vào phần cứng của thiết bị (máy cũ không có cảm biến vân tay sẽ phải dùng mã PIN).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1197592" y="9563674"/>
              <a:ext cx="10358414" cy="4963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37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144000" y="5555556"/>
            <a:ext cx="8115300" cy="412056"/>
            <a:chOff x="0" y="0"/>
            <a:chExt cx="2137363" cy="108525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37363" cy="108525"/>
            </a:xfrm>
            <a:custGeom>
              <a:avLst/>
              <a:gdLst/>
              <a:ahLst/>
              <a:cxnLst/>
              <a:rect r="r" b="b" t="t" l="l"/>
              <a:pathLst>
                <a:path h="108525" w="2137363">
                  <a:moveTo>
                    <a:pt x="2137363" y="0"/>
                  </a:moveTo>
                  <a:lnTo>
                    <a:pt x="0" y="0"/>
                  </a:lnTo>
                  <a:lnTo>
                    <a:pt x="101600" y="54263"/>
                  </a:lnTo>
                  <a:lnTo>
                    <a:pt x="0" y="108525"/>
                  </a:lnTo>
                  <a:lnTo>
                    <a:pt x="2137363" y="108525"/>
                  </a:lnTo>
                  <a:lnTo>
                    <a:pt x="2035763" y="54263"/>
                  </a:lnTo>
                  <a:lnTo>
                    <a:pt x="2137363" y="0"/>
                  </a:lnTo>
                  <a:close/>
                </a:path>
              </a:pathLst>
            </a:custGeom>
            <a:solidFill>
              <a:srgbClr val="061647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88900" y="-38100"/>
              <a:ext cx="1959563" cy="1466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2684796" y="5349528"/>
            <a:ext cx="3670565" cy="3266803"/>
          </a:xfrm>
          <a:custGeom>
            <a:avLst/>
            <a:gdLst/>
            <a:ahLst/>
            <a:cxnLst/>
            <a:rect r="r" b="b" t="t" l="l"/>
            <a:pathLst>
              <a:path h="3266803" w="3670565">
                <a:moveTo>
                  <a:pt x="0" y="0"/>
                </a:moveTo>
                <a:lnTo>
                  <a:pt x="3670565" y="0"/>
                </a:lnTo>
                <a:lnTo>
                  <a:pt x="3670565" y="3266803"/>
                </a:lnTo>
                <a:lnTo>
                  <a:pt x="0" y="32668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547638">
            <a:off x="2132703" y="2444129"/>
            <a:ext cx="3775395" cy="3794367"/>
          </a:xfrm>
          <a:custGeom>
            <a:avLst/>
            <a:gdLst/>
            <a:ahLst/>
            <a:cxnLst/>
            <a:rect r="r" b="b" t="t" l="l"/>
            <a:pathLst>
              <a:path h="3794367" w="3775395">
                <a:moveTo>
                  <a:pt x="0" y="0"/>
                </a:moveTo>
                <a:lnTo>
                  <a:pt x="3775395" y="0"/>
                </a:lnTo>
                <a:lnTo>
                  <a:pt x="3775395" y="3794367"/>
                </a:lnTo>
                <a:lnTo>
                  <a:pt x="0" y="37943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400882" y="2627583"/>
            <a:ext cx="7239037" cy="6268002"/>
          </a:xfrm>
          <a:custGeom>
            <a:avLst/>
            <a:gdLst/>
            <a:ahLst/>
            <a:cxnLst/>
            <a:rect r="r" b="b" t="t" l="l"/>
            <a:pathLst>
              <a:path h="6268002" w="7239037">
                <a:moveTo>
                  <a:pt x="0" y="0"/>
                </a:moveTo>
                <a:lnTo>
                  <a:pt x="7239037" y="0"/>
                </a:lnTo>
                <a:lnTo>
                  <a:pt x="7239037" y="6268002"/>
                </a:lnTo>
                <a:lnTo>
                  <a:pt x="0" y="626800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5675" t="0" r="-17141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80655" y="2627583"/>
            <a:ext cx="8878848" cy="6268002"/>
          </a:xfrm>
          <a:custGeom>
            <a:avLst/>
            <a:gdLst/>
            <a:ahLst/>
            <a:cxnLst/>
            <a:rect r="r" b="b" t="t" l="l"/>
            <a:pathLst>
              <a:path h="6268002" w="8878848">
                <a:moveTo>
                  <a:pt x="0" y="0"/>
                </a:moveTo>
                <a:lnTo>
                  <a:pt x="8878848" y="0"/>
                </a:lnTo>
                <a:lnTo>
                  <a:pt x="8878848" y="6268002"/>
                </a:lnTo>
                <a:lnTo>
                  <a:pt x="0" y="626800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134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1028700" y="382145"/>
            <a:ext cx="11087075" cy="570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b="true" sz="3399" i="true">
                <a:solidFill>
                  <a:srgbClr val="061647"/>
                </a:solidFill>
                <a:latin typeface="Proxima Nova Heavy Italics"/>
                <a:ea typeface="Proxima Nova Heavy Italics"/>
                <a:cs typeface="Proxima Nova Heavy Italics"/>
                <a:sym typeface="Proxima Nova Heavy Italics"/>
              </a:rPr>
              <a:t>ĐÁNH GIÁ ƯU ĐIỂM &amp; HẠN CHẾ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14418738" y="0"/>
            <a:ext cx="3831825" cy="1228579"/>
          </a:xfrm>
          <a:custGeom>
            <a:avLst/>
            <a:gdLst/>
            <a:ahLst/>
            <a:cxnLst/>
            <a:rect r="r" b="b" t="t" l="l"/>
            <a:pathLst>
              <a:path h="1228579" w="3831825">
                <a:moveTo>
                  <a:pt x="0" y="0"/>
                </a:moveTo>
                <a:lnTo>
                  <a:pt x="3831825" y="0"/>
                </a:lnTo>
                <a:lnTo>
                  <a:pt x="3831825" y="1228579"/>
                </a:lnTo>
                <a:lnTo>
                  <a:pt x="0" y="1228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fade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50000">
              <a:srgbClr val="71A2FF">
                <a:alpha val="100000"/>
              </a:srgbClr>
            </a:gs>
            <a:gs pos="100000">
              <a:srgbClr val="002772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89806" y="-202673"/>
            <a:ext cx="18719200" cy="1431252"/>
            <a:chOff x="0" y="0"/>
            <a:chExt cx="4930160" cy="37695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930160" cy="376955"/>
            </a:xfrm>
            <a:custGeom>
              <a:avLst/>
              <a:gdLst/>
              <a:ahLst/>
              <a:cxnLst/>
              <a:rect r="r" b="b" t="t" l="l"/>
              <a:pathLst>
                <a:path h="376955" w="4930160">
                  <a:moveTo>
                    <a:pt x="0" y="0"/>
                  </a:moveTo>
                  <a:lnTo>
                    <a:pt x="4930160" y="0"/>
                  </a:lnTo>
                  <a:lnTo>
                    <a:pt x="4930160" y="376955"/>
                  </a:lnTo>
                  <a:lnTo>
                    <a:pt x="0" y="37695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930160" cy="4150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89806" y="439295"/>
            <a:ext cx="347972" cy="513715"/>
            <a:chOff x="0" y="0"/>
            <a:chExt cx="91647" cy="13529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1647" cy="135299"/>
            </a:xfrm>
            <a:custGeom>
              <a:avLst/>
              <a:gdLst/>
              <a:ahLst/>
              <a:cxnLst/>
              <a:rect r="r" b="b" t="t" l="l"/>
              <a:pathLst>
                <a:path h="135299" w="91647">
                  <a:moveTo>
                    <a:pt x="0" y="0"/>
                  </a:moveTo>
                  <a:lnTo>
                    <a:pt x="91647" y="0"/>
                  </a:lnTo>
                  <a:lnTo>
                    <a:pt x="91647" y="135299"/>
                  </a:lnTo>
                  <a:lnTo>
                    <a:pt x="0" y="135299"/>
                  </a:lnTo>
                  <a:close/>
                </a:path>
              </a:pathLst>
            </a:custGeom>
            <a:solidFill>
              <a:srgbClr val="3065C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91647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65152" y="439295"/>
            <a:ext cx="493718" cy="513715"/>
            <a:chOff x="0" y="0"/>
            <a:chExt cx="130033" cy="13529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0033" cy="135299"/>
            </a:xfrm>
            <a:custGeom>
              <a:avLst/>
              <a:gdLst/>
              <a:ahLst/>
              <a:cxnLst/>
              <a:rect r="r" b="b" t="t" l="l"/>
              <a:pathLst>
                <a:path h="135299" w="130033">
                  <a:moveTo>
                    <a:pt x="0" y="0"/>
                  </a:moveTo>
                  <a:lnTo>
                    <a:pt x="130033" y="0"/>
                  </a:lnTo>
                  <a:lnTo>
                    <a:pt x="130033" y="135299"/>
                  </a:lnTo>
                  <a:lnTo>
                    <a:pt x="0" y="135299"/>
                  </a:lnTo>
                  <a:close/>
                </a:path>
              </a:pathLst>
            </a:custGeom>
            <a:gradFill rotWithShape="true">
              <a:gsLst>
                <a:gs pos="0">
                  <a:srgbClr val="C08846">
                    <a:alpha val="100000"/>
                  </a:srgbClr>
                </a:gs>
                <a:gs pos="100000">
                  <a:srgbClr val="FFC87B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30033" cy="1733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028700" y="382145"/>
            <a:ext cx="12959206" cy="570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b="true" sz="3399" i="true">
                <a:solidFill>
                  <a:srgbClr val="061647"/>
                </a:solidFill>
                <a:latin typeface="Proxima Nova Heavy Italics"/>
                <a:ea typeface="Proxima Nova Heavy Italics"/>
                <a:cs typeface="Proxima Nova Heavy Italics"/>
                <a:sym typeface="Proxima Nova Heavy Italics"/>
              </a:rPr>
              <a:t> KẾT LUẬN &amp; HƯỚNG PHÁT TRIỂN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55157" y="7279361"/>
            <a:ext cx="16777685" cy="2600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00"/>
              </a:lnSpc>
            </a:pPr>
            <a:r>
              <a:rPr lang="en-US" b="true" sz="12000">
                <a:solidFill>
                  <a:srgbClr val="83AAF6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CONCLUSION AND RECOMMENDATIONS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405160" y="2215290"/>
            <a:ext cx="7394818" cy="6606567"/>
            <a:chOff x="0" y="0"/>
            <a:chExt cx="1947606" cy="174000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947606" cy="1740001"/>
            </a:xfrm>
            <a:custGeom>
              <a:avLst/>
              <a:gdLst/>
              <a:ahLst/>
              <a:cxnLst/>
              <a:rect r="r" b="b" t="t" l="l"/>
              <a:pathLst>
                <a:path h="1740001" w="1947606">
                  <a:moveTo>
                    <a:pt x="81661" y="0"/>
                  </a:moveTo>
                  <a:lnTo>
                    <a:pt x="1865945" y="0"/>
                  </a:lnTo>
                  <a:cubicBezTo>
                    <a:pt x="1911045" y="0"/>
                    <a:pt x="1947606" y="36561"/>
                    <a:pt x="1947606" y="81661"/>
                  </a:cubicBezTo>
                  <a:lnTo>
                    <a:pt x="1947606" y="1658340"/>
                  </a:lnTo>
                  <a:cubicBezTo>
                    <a:pt x="1947606" y="1679998"/>
                    <a:pt x="1939003" y="1700769"/>
                    <a:pt x="1923688" y="1716083"/>
                  </a:cubicBezTo>
                  <a:cubicBezTo>
                    <a:pt x="1908374" y="1731398"/>
                    <a:pt x="1887603" y="1740001"/>
                    <a:pt x="1865945" y="1740001"/>
                  </a:cubicBezTo>
                  <a:lnTo>
                    <a:pt x="81661" y="1740001"/>
                  </a:lnTo>
                  <a:cubicBezTo>
                    <a:pt x="36561" y="1740001"/>
                    <a:pt x="0" y="1703440"/>
                    <a:pt x="0" y="1658340"/>
                  </a:cubicBezTo>
                  <a:lnTo>
                    <a:pt x="0" y="81661"/>
                  </a:lnTo>
                  <a:cubicBezTo>
                    <a:pt x="0" y="36561"/>
                    <a:pt x="36561" y="0"/>
                    <a:pt x="8166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235BBB">
                    <a:alpha val="100000"/>
                  </a:srgbClr>
                </a:gs>
                <a:gs pos="100000">
                  <a:srgbClr val="347FFF">
                    <a:alpha val="100000"/>
                  </a:srgbClr>
                </a:gs>
              </a:gsLst>
              <a:lin ang="5400000"/>
            </a:gradFill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947606" cy="17781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539610" y="2215290"/>
            <a:ext cx="7394818" cy="6606567"/>
            <a:chOff x="0" y="0"/>
            <a:chExt cx="1947606" cy="174000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47606" cy="1740001"/>
            </a:xfrm>
            <a:custGeom>
              <a:avLst/>
              <a:gdLst/>
              <a:ahLst/>
              <a:cxnLst/>
              <a:rect r="r" b="b" t="t" l="l"/>
              <a:pathLst>
                <a:path h="1740001" w="1947606">
                  <a:moveTo>
                    <a:pt x="81661" y="0"/>
                  </a:moveTo>
                  <a:lnTo>
                    <a:pt x="1865945" y="0"/>
                  </a:lnTo>
                  <a:cubicBezTo>
                    <a:pt x="1911045" y="0"/>
                    <a:pt x="1947606" y="36561"/>
                    <a:pt x="1947606" y="81661"/>
                  </a:cubicBezTo>
                  <a:lnTo>
                    <a:pt x="1947606" y="1658340"/>
                  </a:lnTo>
                  <a:cubicBezTo>
                    <a:pt x="1947606" y="1679998"/>
                    <a:pt x="1939003" y="1700769"/>
                    <a:pt x="1923688" y="1716083"/>
                  </a:cubicBezTo>
                  <a:cubicBezTo>
                    <a:pt x="1908374" y="1731398"/>
                    <a:pt x="1887603" y="1740001"/>
                    <a:pt x="1865945" y="1740001"/>
                  </a:cubicBezTo>
                  <a:lnTo>
                    <a:pt x="81661" y="1740001"/>
                  </a:lnTo>
                  <a:cubicBezTo>
                    <a:pt x="36561" y="1740001"/>
                    <a:pt x="0" y="1703440"/>
                    <a:pt x="0" y="1658340"/>
                  </a:cubicBezTo>
                  <a:lnTo>
                    <a:pt x="0" y="81661"/>
                  </a:lnTo>
                  <a:cubicBezTo>
                    <a:pt x="0" y="36561"/>
                    <a:pt x="36561" y="0"/>
                    <a:pt x="8166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C08846">
                    <a:alpha val="100000"/>
                  </a:srgbClr>
                </a:gs>
                <a:gs pos="100000">
                  <a:srgbClr val="FFC87B">
                    <a:alpha val="100000"/>
                  </a:srgbClr>
                </a:gs>
              </a:gsLst>
              <a:lin ang="5400000"/>
            </a:gradFill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47606" cy="17781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714089" y="2597584"/>
            <a:ext cx="6776960" cy="1937423"/>
            <a:chOff x="0" y="0"/>
            <a:chExt cx="1784878" cy="51026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784878" cy="510268"/>
            </a:xfrm>
            <a:custGeom>
              <a:avLst/>
              <a:gdLst/>
              <a:ahLst/>
              <a:cxnLst/>
              <a:rect r="r" b="b" t="t" l="l"/>
              <a:pathLst>
                <a:path h="510268" w="1784878">
                  <a:moveTo>
                    <a:pt x="114239" y="0"/>
                  </a:moveTo>
                  <a:lnTo>
                    <a:pt x="1670639" y="0"/>
                  </a:lnTo>
                  <a:cubicBezTo>
                    <a:pt x="1733732" y="0"/>
                    <a:pt x="1784878" y="51146"/>
                    <a:pt x="1784878" y="114239"/>
                  </a:cubicBezTo>
                  <a:lnTo>
                    <a:pt x="1784878" y="396029"/>
                  </a:lnTo>
                  <a:cubicBezTo>
                    <a:pt x="1784878" y="459121"/>
                    <a:pt x="1733732" y="510268"/>
                    <a:pt x="1670639" y="510268"/>
                  </a:cubicBezTo>
                  <a:lnTo>
                    <a:pt x="114239" y="510268"/>
                  </a:lnTo>
                  <a:cubicBezTo>
                    <a:pt x="51146" y="510268"/>
                    <a:pt x="0" y="459121"/>
                    <a:pt x="0" y="396029"/>
                  </a:cubicBezTo>
                  <a:lnTo>
                    <a:pt x="0" y="114239"/>
                  </a:lnTo>
                  <a:cubicBezTo>
                    <a:pt x="0" y="51146"/>
                    <a:pt x="51146" y="0"/>
                    <a:pt x="11423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784878" cy="5483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9848539" y="2597584"/>
            <a:ext cx="6776960" cy="1937423"/>
            <a:chOff x="0" y="0"/>
            <a:chExt cx="1784878" cy="51026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784878" cy="510268"/>
            </a:xfrm>
            <a:custGeom>
              <a:avLst/>
              <a:gdLst/>
              <a:ahLst/>
              <a:cxnLst/>
              <a:rect r="r" b="b" t="t" l="l"/>
              <a:pathLst>
                <a:path h="510268" w="1784878">
                  <a:moveTo>
                    <a:pt x="114239" y="0"/>
                  </a:moveTo>
                  <a:lnTo>
                    <a:pt x="1670639" y="0"/>
                  </a:lnTo>
                  <a:cubicBezTo>
                    <a:pt x="1733732" y="0"/>
                    <a:pt x="1784878" y="51146"/>
                    <a:pt x="1784878" y="114239"/>
                  </a:cubicBezTo>
                  <a:lnTo>
                    <a:pt x="1784878" y="396029"/>
                  </a:lnTo>
                  <a:cubicBezTo>
                    <a:pt x="1784878" y="459121"/>
                    <a:pt x="1733732" y="510268"/>
                    <a:pt x="1670639" y="510268"/>
                  </a:cubicBezTo>
                  <a:lnTo>
                    <a:pt x="114239" y="510268"/>
                  </a:lnTo>
                  <a:cubicBezTo>
                    <a:pt x="51146" y="510268"/>
                    <a:pt x="0" y="459121"/>
                    <a:pt x="0" y="396029"/>
                  </a:cubicBezTo>
                  <a:lnTo>
                    <a:pt x="0" y="114239"/>
                  </a:lnTo>
                  <a:cubicBezTo>
                    <a:pt x="0" y="51146"/>
                    <a:pt x="51146" y="0"/>
                    <a:pt x="11423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784878" cy="5483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942169" y="5039993"/>
            <a:ext cx="6255555" cy="3191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b="true" sz="2600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Hoàn thành xây dựng cơ chế xác thực sinh trắc học (Vân </a:t>
            </a:r>
            <a:r>
              <a:rPr lang="en-US" b="true" sz="2600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tay / Khuôn mặt) hoàn chỉnh trên ứng dụng Mobile.</a:t>
            </a:r>
          </a:p>
          <a:p>
            <a:pPr algn="l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b="true" sz="2600">
                <a:solidFill>
                  <a:srgbClr val="FFFFFF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Ứng dụng hoạt động ổn định trên thiết bị thật, giao diện thân thiện, đảm bảo tính an toàn và bảo mật.</a:t>
            </a:r>
          </a:p>
          <a:p>
            <a:pPr algn="l" marL="561341" indent="-280670" lvl="1">
              <a:lnSpc>
                <a:spcPts val="3640"/>
              </a:lnSpc>
              <a:buFont typeface="Arial"/>
              <a:buChar char="•"/>
            </a:pPr>
          </a:p>
        </p:txBody>
      </p:sp>
      <p:sp>
        <p:nvSpPr>
          <p:cNvPr name="TextBox 26" id="26"/>
          <p:cNvSpPr txBox="true"/>
          <p:nvPr/>
        </p:nvSpPr>
        <p:spPr>
          <a:xfrm rot="0">
            <a:off x="10010581" y="4896796"/>
            <a:ext cx="6452876" cy="295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19" indent="-302260" lvl="1">
              <a:lnSpc>
                <a:spcPts val="3919"/>
              </a:lnSpc>
              <a:buFont typeface="Arial"/>
              <a:buChar char="•"/>
            </a:pPr>
            <a:r>
              <a:rPr lang="en-US" b="true" sz="2799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Nâng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cấp cơ ch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ế 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nh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ận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diện khuôn mặt 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trực tiếp 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qua Camera (Live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Fa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c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e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De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t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e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ct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i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o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n) ngay trong ứng dụng.</a:t>
            </a:r>
          </a:p>
          <a:p>
            <a:pPr algn="l" marL="604519" indent="-302260" lvl="1">
              <a:lnSpc>
                <a:spcPts val="3919"/>
              </a:lnSpc>
              <a:buFont typeface="Arial"/>
              <a:buChar char="•"/>
            </a:pP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Tối ưu hóa tốc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độ xác thực và hỗ trợ chạy mượt 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mà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 trên nhiều 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dò</a:t>
            </a:r>
            <a:r>
              <a:rPr lang="en-US" b="true" sz="2799" strike="noStrike" u="none">
                <a:solidFill>
                  <a:srgbClr val="000000"/>
                </a:solidFill>
                <a:latin typeface="Proxima Nova Bold"/>
                <a:ea typeface="Proxima Nova Bold"/>
                <a:cs typeface="Proxima Nova Bold"/>
                <a:sym typeface="Proxima Nova Bold"/>
              </a:rPr>
              <a:t>ng thiết bị Android khác nhau.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504705" y="3063407"/>
            <a:ext cx="5195727" cy="910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63"/>
              </a:lnSpc>
              <a:spcBef>
                <a:spcPct val="0"/>
              </a:spcBef>
            </a:pPr>
            <a:r>
              <a:rPr lang="en-US" b="true" sz="5402">
                <a:gradFill>
                  <a:gsLst>
                    <a:gs pos="0">
                      <a:srgbClr val="235BBB">
                        <a:alpha val="100000"/>
                      </a:srgbClr>
                    </a:gs>
                    <a:gs pos="100000">
                      <a:srgbClr val="347FFF">
                        <a:alpha val="100000"/>
                      </a:srgbClr>
                    </a:gs>
                  </a:gsLst>
                  <a:lin ang="5400000"/>
                </a:gradFill>
                <a:latin typeface="Proxima Nova Heavy"/>
                <a:ea typeface="Proxima Nova Heavy"/>
                <a:cs typeface="Proxima Nova Heavy"/>
                <a:sym typeface="Proxima Nova Heavy"/>
              </a:rPr>
              <a:t>KẾT LUẬN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639155" y="2705607"/>
            <a:ext cx="5480079" cy="1836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423"/>
              </a:lnSpc>
              <a:spcBef>
                <a:spcPct val="0"/>
              </a:spcBef>
            </a:pPr>
            <a:r>
              <a:rPr lang="en-US" b="true" sz="5302">
                <a:gradFill>
                  <a:gsLst>
                    <a:gs pos="0">
                      <a:srgbClr val="C08846">
                        <a:alpha val="100000"/>
                      </a:srgbClr>
                    </a:gs>
                    <a:gs pos="100000">
                      <a:srgbClr val="FFC87B">
                        <a:alpha val="100000"/>
                      </a:srgbClr>
                    </a:gs>
                  </a:gsLst>
                  <a:lin ang="5400000"/>
                </a:gradFill>
                <a:latin typeface="Proxima Nova Heavy"/>
                <a:ea typeface="Proxima Nova Heavy"/>
                <a:cs typeface="Proxima Nova Heavy"/>
                <a:sym typeface="Proxima Nova Heavy"/>
              </a:rPr>
              <a:t>HƯỚNG PHÁT TRIỂN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13987906" y="0"/>
            <a:ext cx="4262657" cy="1366714"/>
          </a:xfrm>
          <a:custGeom>
            <a:avLst/>
            <a:gdLst/>
            <a:ahLst/>
            <a:cxnLst/>
            <a:rect r="r" b="b" t="t" l="l"/>
            <a:pathLst>
              <a:path h="1366714" w="4262657">
                <a:moveTo>
                  <a:pt x="0" y="0"/>
                </a:moveTo>
                <a:lnTo>
                  <a:pt x="4262657" y="0"/>
                </a:lnTo>
                <a:lnTo>
                  <a:pt x="4262657" y="1366714"/>
                </a:lnTo>
                <a:lnTo>
                  <a:pt x="0" y="13667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fade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59" t="-630" r="-11425" b="-32015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158456" y="-367399"/>
            <a:ext cx="13041477" cy="11238567"/>
            <a:chOff x="0" y="0"/>
            <a:chExt cx="3434792" cy="295995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434792" cy="2959952"/>
            </a:xfrm>
            <a:custGeom>
              <a:avLst/>
              <a:gdLst/>
              <a:ahLst/>
              <a:cxnLst/>
              <a:rect r="r" b="b" t="t" l="l"/>
              <a:pathLst>
                <a:path h="2959952" w="3434792">
                  <a:moveTo>
                    <a:pt x="0" y="0"/>
                  </a:moveTo>
                  <a:lnTo>
                    <a:pt x="3434792" y="0"/>
                  </a:lnTo>
                  <a:lnTo>
                    <a:pt x="3434792" y="2959952"/>
                  </a:lnTo>
                  <a:lnTo>
                    <a:pt x="0" y="2959952"/>
                  </a:lnTo>
                  <a:close/>
                </a:path>
              </a:pathLst>
            </a:custGeom>
            <a:gradFill rotWithShape="true">
              <a:gsLst>
                <a:gs pos="0">
                  <a:srgbClr val="002772">
                    <a:alpha val="100000"/>
                  </a:srgbClr>
                </a:gs>
                <a:gs pos="50000">
                  <a:srgbClr val="042B75">
                    <a:alpha val="100000"/>
                  </a:srgbClr>
                </a:gs>
                <a:gs pos="100000">
                  <a:srgbClr val="002872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3434792" cy="29980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538578" y="3079324"/>
            <a:ext cx="9979041" cy="256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82"/>
              </a:lnSpc>
            </a:pPr>
            <a:r>
              <a:rPr lang="en-US" b="true" sz="8777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XIN</a:t>
            </a:r>
            <a:r>
              <a:rPr lang="en-US" b="true" sz="8777">
                <a:solidFill>
                  <a:srgbClr val="FFFFFF"/>
                </a:solidFill>
                <a:latin typeface="Proxima Nova Heavy"/>
                <a:ea typeface="Proxima Nova Heavy"/>
                <a:cs typeface="Proxima Nova Heavy"/>
                <a:sym typeface="Proxima Nova Heavy"/>
              </a:rPr>
              <a:t> TRÂN TRỌNG CẢM ƠN!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38578" y="6540342"/>
            <a:ext cx="8543060" cy="14788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48"/>
              </a:lnSpc>
            </a:pPr>
            <a:r>
              <a:rPr lang="en-US" b="true" sz="5042" i="true">
                <a:solidFill>
                  <a:srgbClr val="F1D7B6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Cảm ơn thầy và các bạn</a:t>
            </a:r>
            <a:r>
              <a:rPr lang="en-US" b="true" sz="5042" i="true">
                <a:solidFill>
                  <a:srgbClr val="F1D7B6"/>
                </a:solidFill>
                <a:latin typeface="Proxima Nova Bold Italics"/>
                <a:ea typeface="Proxima Nova Bold Italics"/>
                <a:cs typeface="Proxima Nova Bold Italics"/>
                <a:sym typeface="Proxima Nova Bold Italics"/>
              </a:rPr>
              <a:t> đã lắng nghe.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-204071" y="3524974"/>
            <a:ext cx="438110" cy="1780314"/>
            <a:chOff x="0" y="0"/>
            <a:chExt cx="115387" cy="46888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5387" cy="468889"/>
            </a:xfrm>
            <a:custGeom>
              <a:avLst/>
              <a:gdLst/>
              <a:ahLst/>
              <a:cxnLst/>
              <a:rect r="r" b="b" t="t" l="l"/>
              <a:pathLst>
                <a:path h="468889" w="115387">
                  <a:moveTo>
                    <a:pt x="0" y="0"/>
                  </a:moveTo>
                  <a:lnTo>
                    <a:pt x="115387" y="0"/>
                  </a:lnTo>
                  <a:lnTo>
                    <a:pt x="115387" y="468889"/>
                  </a:lnTo>
                  <a:lnTo>
                    <a:pt x="0" y="468889"/>
                  </a:lnTo>
                  <a:close/>
                </a:path>
              </a:pathLst>
            </a:custGeom>
            <a:gradFill rotWithShape="true">
              <a:gsLst>
                <a:gs pos="0">
                  <a:srgbClr val="235BBB">
                    <a:alpha val="100000"/>
                  </a:srgbClr>
                </a:gs>
                <a:gs pos="100000">
                  <a:srgbClr val="347FFF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5387" cy="5069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61715" y="3524974"/>
            <a:ext cx="666985" cy="1780314"/>
            <a:chOff x="0" y="0"/>
            <a:chExt cx="175667" cy="46888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75667" cy="468889"/>
            </a:xfrm>
            <a:custGeom>
              <a:avLst/>
              <a:gdLst/>
              <a:ahLst/>
              <a:cxnLst/>
              <a:rect r="r" b="b" t="t" l="l"/>
              <a:pathLst>
                <a:path h="468889" w="175667">
                  <a:moveTo>
                    <a:pt x="0" y="0"/>
                  </a:moveTo>
                  <a:lnTo>
                    <a:pt x="175667" y="0"/>
                  </a:lnTo>
                  <a:lnTo>
                    <a:pt x="175667" y="468889"/>
                  </a:lnTo>
                  <a:lnTo>
                    <a:pt x="0" y="468889"/>
                  </a:lnTo>
                  <a:close/>
                </a:path>
              </a:pathLst>
            </a:custGeom>
            <a:gradFill rotWithShape="true">
              <a:gsLst>
                <a:gs pos="0">
                  <a:srgbClr val="C08846">
                    <a:alpha val="100000"/>
                  </a:srgbClr>
                </a:gs>
                <a:gs pos="100000">
                  <a:srgbClr val="FFC87B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75667" cy="5069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-1456145">
            <a:off x="11669243" y="3780231"/>
            <a:ext cx="5062914" cy="1769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805"/>
              </a:lnSpc>
            </a:pPr>
            <a:r>
              <a:rPr lang="en-US" sz="11900">
                <a:gradFill>
                  <a:gsLst>
                    <a:gs pos="0">
                      <a:srgbClr val="FFE4C2">
                        <a:alpha val="100000"/>
                      </a:srgbClr>
                    </a:gs>
                    <a:gs pos="100000">
                      <a:srgbClr val="87F8FF">
                        <a:alpha val="100000"/>
                      </a:srgbClr>
                    </a:gs>
                  </a:gsLst>
                  <a:lin ang="0"/>
                </a:gradFill>
                <a:latin typeface="Sprite Graffiti"/>
                <a:ea typeface="Sprite Graffiti"/>
                <a:cs typeface="Sprite Graffiti"/>
                <a:sym typeface="Sprite Graffiti"/>
              </a:rPr>
              <a:t>thank</a:t>
            </a:r>
            <a:r>
              <a:rPr lang="en-US" sz="11900">
                <a:gradFill>
                  <a:gsLst>
                    <a:gs pos="0">
                      <a:srgbClr val="FFE4C2">
                        <a:alpha val="100000"/>
                      </a:srgbClr>
                    </a:gs>
                    <a:gs pos="100000">
                      <a:srgbClr val="87F8FF">
                        <a:alpha val="100000"/>
                      </a:srgbClr>
                    </a:gs>
                  </a:gsLst>
                  <a:lin ang="0"/>
                </a:gradFill>
                <a:latin typeface="Sprite Graffiti"/>
                <a:ea typeface="Sprite Graffiti"/>
                <a:cs typeface="Sprite Graffiti"/>
                <a:sym typeface="Sprite Graffiti"/>
              </a:rPr>
              <a:t> you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14194828" y="0"/>
            <a:ext cx="4055736" cy="1300370"/>
          </a:xfrm>
          <a:custGeom>
            <a:avLst/>
            <a:gdLst/>
            <a:ahLst/>
            <a:cxnLst/>
            <a:rect r="r" b="b" t="t" l="l"/>
            <a:pathLst>
              <a:path h="1300370" w="4055736">
                <a:moveTo>
                  <a:pt x="0" y="0"/>
                </a:moveTo>
                <a:lnTo>
                  <a:pt x="4055735" y="0"/>
                </a:lnTo>
                <a:lnTo>
                  <a:pt x="4055735" y="1300370"/>
                </a:lnTo>
                <a:lnTo>
                  <a:pt x="0" y="13003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  <p:transition spd="slow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DAHWBCtviKQ</dc:identifier>
  <dcterms:modified xsi:type="dcterms:W3CDTF">2011-08-01T06:04:30Z</dcterms:modified>
  <cp:revision>1</cp:revision>
  <dc:title>Thuyết trình vân tay</dc:title>
</cp:coreProperties>
</file>