
<file path=[Content_Types].xml><?xml version="1.0" encoding="utf-8"?>
<Types xmlns="http://schemas.openxmlformats.org/package/2006/content-types">
  <Default ContentType="application/x-fontdata" Extension="fntdata"/>
  <Default ContentType="image/gif" Extension="gif"/>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Proxima Nova Heavy" charset="1" panose="02000506030000020004"/>
      <p:regular r:id="rId20"/>
    </p:embeddedFont>
    <p:embeddedFont>
      <p:font typeface="Proxima Nova Bold" charset="1" panose="02000506030000020004"/>
      <p:regular r:id="rId21"/>
    </p:embeddedFont>
    <p:embeddedFont>
      <p:font typeface="Sprite Graffiti" charset="1" panose="00000500000000000000"/>
      <p:regular r:id="rId22"/>
    </p:embeddedFont>
    <p:embeddedFont>
      <p:font typeface="Proxima Nova Heavy Italics" charset="1" panose="02000506030000020004"/>
      <p:regular r:id="rId23"/>
    </p:embeddedFont>
    <p:embeddedFont>
      <p:font typeface="Proxima Nova" charset="1" panose="02000506030000020004"/>
      <p:regular r:id="rId24"/>
    </p:embeddedFont>
    <p:embeddedFont>
      <p:font typeface="Proxima Nova Bold Italics" charset="1" panose="02000506030000020004"/>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11.png" Type="http://schemas.openxmlformats.org/officeDocument/2006/relationships/image"/><Relationship Id="rId4" Target="../media/image12.svg" Type="http://schemas.openxmlformats.org/officeDocument/2006/relationships/image"/><Relationship Id="rId5" Target="../media/image13.png" Type="http://schemas.openxmlformats.org/officeDocument/2006/relationships/image"/><Relationship Id="rId6" Target="../media/image14.svg" Type="http://schemas.openxmlformats.org/officeDocument/2006/relationships/image"/><Relationship Id="rId7" Target="../media/image15.png" Type="http://schemas.openxmlformats.org/officeDocument/2006/relationships/image"/><Relationship Id="rId8" Target="../media/image16.png" Type="http://schemas.openxmlformats.org/officeDocument/2006/relationships/image"/><Relationship Id="rId9" Target="../media/image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2.png" Type="http://schemas.openxmlformats.org/officeDocument/2006/relationships/image"/><Relationship Id="rId4" Target="../media/image1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png" Type="http://schemas.openxmlformats.org/officeDocument/2006/relationships/image"/><Relationship Id="rId4" Target="../media/image20.png" Type="http://schemas.openxmlformats.org/officeDocument/2006/relationships/image"/><Relationship Id="rId5" Target="../media/image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sv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 Id="rId6" Target="../media/image19.png" Type="http://schemas.openxmlformats.org/officeDocument/2006/relationships/image"/><Relationship Id="rId7" Target="../media/image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2.gif" Type="http://schemas.openxmlformats.org/officeDocument/2006/relationships/image"/><Relationship Id="rId2" Target="../media/image25.png" Type="http://schemas.openxmlformats.org/officeDocument/2006/relationships/image"/><Relationship Id="rId3" Target="../media/image26.png" Type="http://schemas.openxmlformats.org/officeDocument/2006/relationships/image"/><Relationship Id="rId4" Target="../media/image27.svg" Type="http://schemas.openxmlformats.org/officeDocument/2006/relationships/image"/><Relationship Id="rId5" Target="../media/image28.png" Type="http://schemas.openxmlformats.org/officeDocument/2006/relationships/image"/><Relationship Id="rId6" Target="../media/image29.svg" Type="http://schemas.openxmlformats.org/officeDocument/2006/relationships/image"/><Relationship Id="rId7" Target="../media/image30.png" Type="http://schemas.openxmlformats.org/officeDocument/2006/relationships/image"/><Relationship Id="rId8" Target="../media/image31.svg" Type="http://schemas.openxmlformats.org/officeDocument/2006/relationships/image"/><Relationship Id="rId9" Target="../media/image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459" t="-630" r="-11425" b="-32015"/>
            </a:stretch>
          </a:blipFill>
        </p:spPr>
      </p:sp>
      <p:grpSp>
        <p:nvGrpSpPr>
          <p:cNvPr name="Group 3" id="3"/>
          <p:cNvGrpSpPr/>
          <p:nvPr/>
        </p:nvGrpSpPr>
        <p:grpSpPr>
          <a:xfrm rot="0">
            <a:off x="-158456" y="-367399"/>
            <a:ext cx="13041477" cy="11238567"/>
            <a:chOff x="0" y="0"/>
            <a:chExt cx="3434792" cy="2959952"/>
          </a:xfrm>
        </p:grpSpPr>
        <p:sp>
          <p:nvSpPr>
            <p:cNvPr name="Freeform 4" id="4"/>
            <p:cNvSpPr/>
            <p:nvPr/>
          </p:nvSpPr>
          <p:spPr>
            <a:xfrm flipH="false" flipV="false" rot="0">
              <a:off x="0" y="0"/>
              <a:ext cx="3434792" cy="2959952"/>
            </a:xfrm>
            <a:custGeom>
              <a:avLst/>
              <a:gdLst/>
              <a:ahLst/>
              <a:cxnLst/>
              <a:rect r="r" b="b" t="t" l="l"/>
              <a:pathLst>
                <a:path h="2959952" w="3434792">
                  <a:moveTo>
                    <a:pt x="0" y="0"/>
                  </a:moveTo>
                  <a:lnTo>
                    <a:pt x="3434792" y="0"/>
                  </a:lnTo>
                  <a:lnTo>
                    <a:pt x="3434792" y="2959952"/>
                  </a:lnTo>
                  <a:lnTo>
                    <a:pt x="0" y="2959952"/>
                  </a:lnTo>
                  <a:close/>
                </a:path>
              </a:pathLst>
            </a:custGeom>
            <a:gradFill rotWithShape="true">
              <a:gsLst>
                <a:gs pos="0">
                  <a:srgbClr val="002772">
                    <a:alpha val="100000"/>
                  </a:srgbClr>
                </a:gs>
                <a:gs pos="50000">
                  <a:srgbClr val="042B75">
                    <a:alpha val="100000"/>
                  </a:srgbClr>
                </a:gs>
                <a:gs pos="100000">
                  <a:srgbClr val="002872">
                    <a:alpha val="0"/>
                  </a:srgbClr>
                </a:gs>
              </a:gsLst>
              <a:lin ang="0"/>
            </a:gradFill>
          </p:spPr>
        </p:sp>
        <p:sp>
          <p:nvSpPr>
            <p:cNvPr name="TextBox 5" id="5"/>
            <p:cNvSpPr txBox="true"/>
            <p:nvPr/>
          </p:nvSpPr>
          <p:spPr>
            <a:xfrm>
              <a:off x="0" y="-38100"/>
              <a:ext cx="3434792" cy="299805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204071" y="3524974"/>
            <a:ext cx="438110" cy="1780314"/>
            <a:chOff x="0" y="0"/>
            <a:chExt cx="115387" cy="468889"/>
          </a:xfrm>
        </p:grpSpPr>
        <p:sp>
          <p:nvSpPr>
            <p:cNvPr name="Freeform 7" id="7"/>
            <p:cNvSpPr/>
            <p:nvPr/>
          </p:nvSpPr>
          <p:spPr>
            <a:xfrm flipH="false" flipV="false" rot="0">
              <a:off x="0" y="0"/>
              <a:ext cx="115387" cy="468889"/>
            </a:xfrm>
            <a:custGeom>
              <a:avLst/>
              <a:gdLst/>
              <a:ahLst/>
              <a:cxnLst/>
              <a:rect r="r" b="b" t="t" l="l"/>
              <a:pathLst>
                <a:path h="468889" w="115387">
                  <a:moveTo>
                    <a:pt x="0" y="0"/>
                  </a:moveTo>
                  <a:lnTo>
                    <a:pt x="115387" y="0"/>
                  </a:lnTo>
                  <a:lnTo>
                    <a:pt x="115387" y="468889"/>
                  </a:lnTo>
                  <a:lnTo>
                    <a:pt x="0" y="468889"/>
                  </a:lnTo>
                  <a:close/>
                </a:path>
              </a:pathLst>
            </a:custGeom>
            <a:gradFill rotWithShape="true">
              <a:gsLst>
                <a:gs pos="0">
                  <a:srgbClr val="235BBB">
                    <a:alpha val="100000"/>
                  </a:srgbClr>
                </a:gs>
                <a:gs pos="100000">
                  <a:srgbClr val="347FFF">
                    <a:alpha val="100000"/>
                  </a:srgbClr>
                </a:gs>
              </a:gsLst>
              <a:lin ang="5400000"/>
            </a:gradFill>
          </p:spPr>
        </p:sp>
        <p:sp>
          <p:nvSpPr>
            <p:cNvPr name="TextBox 8" id="8"/>
            <p:cNvSpPr txBox="true"/>
            <p:nvPr/>
          </p:nvSpPr>
          <p:spPr>
            <a:xfrm>
              <a:off x="0" y="-38100"/>
              <a:ext cx="115387" cy="506989"/>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361715" y="3524974"/>
            <a:ext cx="666985" cy="1780314"/>
            <a:chOff x="0" y="0"/>
            <a:chExt cx="175667" cy="468889"/>
          </a:xfrm>
        </p:grpSpPr>
        <p:sp>
          <p:nvSpPr>
            <p:cNvPr name="Freeform 10" id="10"/>
            <p:cNvSpPr/>
            <p:nvPr/>
          </p:nvSpPr>
          <p:spPr>
            <a:xfrm flipH="false" flipV="false" rot="0">
              <a:off x="0" y="0"/>
              <a:ext cx="175667" cy="468889"/>
            </a:xfrm>
            <a:custGeom>
              <a:avLst/>
              <a:gdLst/>
              <a:ahLst/>
              <a:cxnLst/>
              <a:rect r="r" b="b" t="t" l="l"/>
              <a:pathLst>
                <a:path h="468889" w="175667">
                  <a:moveTo>
                    <a:pt x="0" y="0"/>
                  </a:moveTo>
                  <a:lnTo>
                    <a:pt x="175667" y="0"/>
                  </a:lnTo>
                  <a:lnTo>
                    <a:pt x="175667" y="468889"/>
                  </a:lnTo>
                  <a:lnTo>
                    <a:pt x="0" y="468889"/>
                  </a:lnTo>
                  <a:close/>
                </a:path>
              </a:pathLst>
            </a:custGeom>
            <a:gradFill rotWithShape="true">
              <a:gsLst>
                <a:gs pos="0">
                  <a:srgbClr val="C08846">
                    <a:alpha val="100000"/>
                  </a:srgbClr>
                </a:gs>
                <a:gs pos="100000">
                  <a:srgbClr val="FFC87B">
                    <a:alpha val="100000"/>
                  </a:srgbClr>
                </a:gs>
              </a:gsLst>
              <a:lin ang="5400000"/>
            </a:gradFill>
          </p:spPr>
        </p:sp>
        <p:sp>
          <p:nvSpPr>
            <p:cNvPr name="TextBox 11" id="11"/>
            <p:cNvSpPr txBox="true"/>
            <p:nvPr/>
          </p:nvSpPr>
          <p:spPr>
            <a:xfrm>
              <a:off x="0" y="-38100"/>
              <a:ext cx="175667" cy="506989"/>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5790147" y="6628067"/>
            <a:ext cx="5218672" cy="2385976"/>
            <a:chOff x="0" y="0"/>
            <a:chExt cx="1317394" cy="602312"/>
          </a:xfrm>
        </p:grpSpPr>
        <p:sp>
          <p:nvSpPr>
            <p:cNvPr name="Freeform 13" id="13"/>
            <p:cNvSpPr/>
            <p:nvPr/>
          </p:nvSpPr>
          <p:spPr>
            <a:xfrm flipH="false" flipV="false" rot="0">
              <a:off x="0" y="0"/>
              <a:ext cx="1317394" cy="602312"/>
            </a:xfrm>
            <a:custGeom>
              <a:avLst/>
              <a:gdLst/>
              <a:ahLst/>
              <a:cxnLst/>
              <a:rect r="r" b="b" t="t" l="l"/>
              <a:pathLst>
                <a:path h="602312" w="1317394">
                  <a:moveTo>
                    <a:pt x="75659" y="0"/>
                  </a:moveTo>
                  <a:lnTo>
                    <a:pt x="1241736" y="0"/>
                  </a:lnTo>
                  <a:cubicBezTo>
                    <a:pt x="1283521" y="0"/>
                    <a:pt x="1317394" y="33874"/>
                    <a:pt x="1317394" y="75659"/>
                  </a:cubicBezTo>
                  <a:lnTo>
                    <a:pt x="1317394" y="526654"/>
                  </a:lnTo>
                  <a:cubicBezTo>
                    <a:pt x="1317394" y="568439"/>
                    <a:pt x="1283521" y="602312"/>
                    <a:pt x="1241736" y="602312"/>
                  </a:cubicBezTo>
                  <a:lnTo>
                    <a:pt x="75659" y="602312"/>
                  </a:lnTo>
                  <a:cubicBezTo>
                    <a:pt x="33874" y="602312"/>
                    <a:pt x="0" y="568439"/>
                    <a:pt x="0" y="526654"/>
                  </a:cubicBezTo>
                  <a:lnTo>
                    <a:pt x="0" y="75659"/>
                  </a:lnTo>
                  <a:cubicBezTo>
                    <a:pt x="0" y="33874"/>
                    <a:pt x="33874" y="0"/>
                    <a:pt x="75659" y="0"/>
                  </a:cubicBezTo>
                  <a:close/>
                </a:path>
              </a:pathLst>
            </a:custGeom>
            <a:gradFill rotWithShape="true">
              <a:gsLst>
                <a:gs pos="0">
                  <a:srgbClr val="C08846">
                    <a:alpha val="100000"/>
                  </a:srgbClr>
                </a:gs>
                <a:gs pos="100000">
                  <a:srgbClr val="FFC87B">
                    <a:alpha val="100000"/>
                  </a:srgbClr>
                </a:gs>
              </a:gsLst>
              <a:lin ang="5400000"/>
            </a:gradFill>
            <a:ln cap="rnd">
              <a:noFill/>
              <a:prstDash val="solid"/>
              <a:round/>
            </a:ln>
          </p:spPr>
        </p:sp>
        <p:sp>
          <p:nvSpPr>
            <p:cNvPr name="TextBox 14" id="14"/>
            <p:cNvSpPr txBox="true"/>
            <p:nvPr/>
          </p:nvSpPr>
          <p:spPr>
            <a:xfrm>
              <a:off x="0" y="-38100"/>
              <a:ext cx="1317394" cy="640412"/>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361715" y="6628067"/>
            <a:ext cx="5199668" cy="929728"/>
            <a:chOff x="0" y="0"/>
            <a:chExt cx="1312597" cy="234699"/>
          </a:xfrm>
        </p:grpSpPr>
        <p:sp>
          <p:nvSpPr>
            <p:cNvPr name="Freeform 16" id="16"/>
            <p:cNvSpPr/>
            <p:nvPr/>
          </p:nvSpPr>
          <p:spPr>
            <a:xfrm flipH="false" flipV="false" rot="0">
              <a:off x="0" y="0"/>
              <a:ext cx="1312597" cy="234699"/>
            </a:xfrm>
            <a:custGeom>
              <a:avLst/>
              <a:gdLst/>
              <a:ahLst/>
              <a:cxnLst/>
              <a:rect r="r" b="b" t="t" l="l"/>
              <a:pathLst>
                <a:path h="234699" w="1312597">
                  <a:moveTo>
                    <a:pt x="75935" y="0"/>
                  </a:moveTo>
                  <a:lnTo>
                    <a:pt x="1236662" y="0"/>
                  </a:lnTo>
                  <a:cubicBezTo>
                    <a:pt x="1256801" y="0"/>
                    <a:pt x="1276115" y="8000"/>
                    <a:pt x="1290356" y="22241"/>
                  </a:cubicBezTo>
                  <a:cubicBezTo>
                    <a:pt x="1304596" y="36482"/>
                    <a:pt x="1312597" y="55796"/>
                    <a:pt x="1312597" y="75935"/>
                  </a:cubicBezTo>
                  <a:lnTo>
                    <a:pt x="1312597" y="158764"/>
                  </a:lnTo>
                  <a:cubicBezTo>
                    <a:pt x="1312597" y="178903"/>
                    <a:pt x="1304596" y="198218"/>
                    <a:pt x="1290356" y="212458"/>
                  </a:cubicBezTo>
                  <a:cubicBezTo>
                    <a:pt x="1276115" y="226699"/>
                    <a:pt x="1256801" y="234699"/>
                    <a:pt x="1236662" y="234699"/>
                  </a:cubicBezTo>
                  <a:lnTo>
                    <a:pt x="75935" y="234699"/>
                  </a:lnTo>
                  <a:cubicBezTo>
                    <a:pt x="55796" y="234699"/>
                    <a:pt x="36482" y="226699"/>
                    <a:pt x="22241" y="212458"/>
                  </a:cubicBezTo>
                  <a:cubicBezTo>
                    <a:pt x="8000" y="198218"/>
                    <a:pt x="0" y="178903"/>
                    <a:pt x="0" y="158764"/>
                  </a:cubicBezTo>
                  <a:lnTo>
                    <a:pt x="0" y="75935"/>
                  </a:lnTo>
                  <a:cubicBezTo>
                    <a:pt x="0" y="55796"/>
                    <a:pt x="8000" y="36482"/>
                    <a:pt x="22241" y="22241"/>
                  </a:cubicBezTo>
                  <a:cubicBezTo>
                    <a:pt x="36482" y="8000"/>
                    <a:pt x="55796" y="0"/>
                    <a:pt x="75935" y="0"/>
                  </a:cubicBezTo>
                  <a:close/>
                </a:path>
              </a:pathLst>
            </a:custGeom>
            <a:gradFill rotWithShape="true">
              <a:gsLst>
                <a:gs pos="0">
                  <a:srgbClr val="235BBB">
                    <a:alpha val="100000"/>
                  </a:srgbClr>
                </a:gs>
                <a:gs pos="100000">
                  <a:srgbClr val="347FFF">
                    <a:alpha val="100000"/>
                  </a:srgbClr>
                </a:gs>
              </a:gsLst>
              <a:lin ang="5400000"/>
            </a:gradFill>
            <a:ln cap="rnd">
              <a:noFill/>
              <a:prstDash val="solid"/>
              <a:round/>
            </a:ln>
          </p:spPr>
        </p:sp>
        <p:sp>
          <p:nvSpPr>
            <p:cNvPr name="TextBox 17" id="17"/>
            <p:cNvSpPr txBox="true"/>
            <p:nvPr/>
          </p:nvSpPr>
          <p:spPr>
            <a:xfrm>
              <a:off x="0" y="-38100"/>
              <a:ext cx="1312597" cy="272799"/>
            </a:xfrm>
            <a:prstGeom prst="rect">
              <a:avLst/>
            </a:prstGeom>
          </p:spPr>
          <p:txBody>
            <a:bodyPr anchor="ctr" rtlCol="false" tIns="50800" lIns="50800" bIns="50800" rIns="50800"/>
            <a:lstStyle/>
            <a:p>
              <a:pPr algn="ctr">
                <a:lnSpc>
                  <a:spcPts val="2659"/>
                </a:lnSpc>
              </a:pPr>
            </a:p>
          </p:txBody>
        </p:sp>
      </p:grpSp>
      <p:sp>
        <p:nvSpPr>
          <p:cNvPr name="Freeform 18" id="18"/>
          <p:cNvSpPr/>
          <p:nvPr/>
        </p:nvSpPr>
        <p:spPr>
          <a:xfrm flipH="false" flipV="false" rot="0">
            <a:off x="12883021" y="0"/>
            <a:ext cx="5367543" cy="1720968"/>
          </a:xfrm>
          <a:custGeom>
            <a:avLst/>
            <a:gdLst/>
            <a:ahLst/>
            <a:cxnLst/>
            <a:rect r="r" b="b" t="t" l="l"/>
            <a:pathLst>
              <a:path h="1720968" w="5367543">
                <a:moveTo>
                  <a:pt x="0" y="0"/>
                </a:moveTo>
                <a:lnTo>
                  <a:pt x="5367542" y="0"/>
                </a:lnTo>
                <a:lnTo>
                  <a:pt x="5367542" y="1720968"/>
                </a:lnTo>
                <a:lnTo>
                  <a:pt x="0" y="1720968"/>
                </a:lnTo>
                <a:lnTo>
                  <a:pt x="0" y="0"/>
                </a:lnTo>
                <a:close/>
              </a:path>
            </a:pathLst>
          </a:custGeom>
          <a:blipFill>
            <a:blip r:embed="rId3"/>
            <a:stretch>
              <a:fillRect l="0" t="0" r="0" b="0"/>
            </a:stretch>
          </a:blipFill>
        </p:spPr>
      </p:sp>
      <p:sp>
        <p:nvSpPr>
          <p:cNvPr name="TextBox 19" id="19"/>
          <p:cNvSpPr txBox="true"/>
          <p:nvPr/>
        </p:nvSpPr>
        <p:spPr>
          <a:xfrm rot="0">
            <a:off x="1538578" y="3060274"/>
            <a:ext cx="9470241" cy="2871470"/>
          </a:xfrm>
          <a:prstGeom prst="rect">
            <a:avLst/>
          </a:prstGeom>
        </p:spPr>
        <p:txBody>
          <a:bodyPr anchor="t" rtlCol="false" tIns="0" lIns="0" bIns="0" rIns="0">
            <a:spAutoFit/>
          </a:bodyPr>
          <a:lstStyle/>
          <a:p>
            <a:pPr algn="l">
              <a:lnSpc>
                <a:spcPts val="7540"/>
              </a:lnSpc>
            </a:pPr>
            <a:r>
              <a:rPr lang="en-US" b="true" sz="6500">
                <a:solidFill>
                  <a:srgbClr val="FFFFFF"/>
                </a:solidFill>
                <a:latin typeface="Proxima Nova Heavy"/>
                <a:ea typeface="Proxima Nova Heavy"/>
                <a:cs typeface="Proxima Nova Heavy"/>
                <a:sym typeface="Proxima Nova Heavy"/>
              </a:rPr>
              <a:t>XÁC THỰC SINH TRẮC HỌC TRÊN THIẾT BỊ DI ĐỘNG</a:t>
            </a:r>
          </a:p>
        </p:txBody>
      </p:sp>
      <p:sp>
        <p:nvSpPr>
          <p:cNvPr name="TextBox 20" id="20"/>
          <p:cNvSpPr txBox="true"/>
          <p:nvPr/>
        </p:nvSpPr>
        <p:spPr>
          <a:xfrm rot="0">
            <a:off x="695208" y="6946660"/>
            <a:ext cx="1206119" cy="384733"/>
          </a:xfrm>
          <a:prstGeom prst="rect">
            <a:avLst/>
          </a:prstGeom>
        </p:spPr>
        <p:txBody>
          <a:bodyPr anchor="t" rtlCol="false" tIns="0" lIns="0" bIns="0" rIns="0">
            <a:spAutoFit/>
          </a:bodyPr>
          <a:lstStyle/>
          <a:p>
            <a:pPr algn="l">
              <a:lnSpc>
                <a:spcPts val="3027"/>
              </a:lnSpc>
            </a:pPr>
            <a:r>
              <a:rPr lang="en-US" b="true" sz="2609">
                <a:solidFill>
                  <a:srgbClr val="F5FCFF"/>
                </a:solidFill>
                <a:latin typeface="Proxima Nova Bold"/>
                <a:ea typeface="Proxima Nova Bold"/>
                <a:cs typeface="Proxima Nova Bold"/>
                <a:sym typeface="Proxima Nova Bold"/>
              </a:rPr>
              <a:t>GVHD:</a:t>
            </a:r>
          </a:p>
        </p:txBody>
      </p:sp>
      <p:sp>
        <p:nvSpPr>
          <p:cNvPr name="TextBox 21" id="21"/>
          <p:cNvSpPr txBox="true"/>
          <p:nvPr/>
        </p:nvSpPr>
        <p:spPr>
          <a:xfrm rot="0">
            <a:off x="6124611" y="6946660"/>
            <a:ext cx="1395835" cy="384733"/>
          </a:xfrm>
          <a:prstGeom prst="rect">
            <a:avLst/>
          </a:prstGeom>
        </p:spPr>
        <p:txBody>
          <a:bodyPr anchor="t" rtlCol="false" tIns="0" lIns="0" bIns="0" rIns="0">
            <a:spAutoFit/>
          </a:bodyPr>
          <a:lstStyle/>
          <a:p>
            <a:pPr algn="l">
              <a:lnSpc>
                <a:spcPts val="3027"/>
              </a:lnSpc>
            </a:pPr>
            <a:r>
              <a:rPr lang="en-US" b="true" sz="2609">
                <a:solidFill>
                  <a:srgbClr val="F5FCFF"/>
                </a:solidFill>
                <a:latin typeface="Proxima Nova Bold"/>
                <a:ea typeface="Proxima Nova Bold"/>
                <a:cs typeface="Proxima Nova Bold"/>
                <a:sym typeface="Proxima Nova Bold"/>
              </a:rPr>
              <a:t>Tên SV :</a:t>
            </a:r>
          </a:p>
        </p:txBody>
      </p:sp>
      <p:sp>
        <p:nvSpPr>
          <p:cNvPr name="TextBox 22" id="22"/>
          <p:cNvSpPr txBox="true"/>
          <p:nvPr/>
        </p:nvSpPr>
        <p:spPr>
          <a:xfrm rot="0">
            <a:off x="1901327" y="6917119"/>
            <a:ext cx="3660057" cy="414274"/>
          </a:xfrm>
          <a:prstGeom prst="rect">
            <a:avLst/>
          </a:prstGeom>
        </p:spPr>
        <p:txBody>
          <a:bodyPr anchor="t" rtlCol="false" tIns="0" lIns="0" bIns="0" rIns="0">
            <a:spAutoFit/>
          </a:bodyPr>
          <a:lstStyle/>
          <a:p>
            <a:pPr algn="l">
              <a:lnSpc>
                <a:spcPts val="3248"/>
              </a:lnSpc>
            </a:pPr>
            <a:r>
              <a:rPr lang="en-US" b="true" sz="2800">
                <a:solidFill>
                  <a:srgbClr val="F5FCFF"/>
                </a:solidFill>
                <a:latin typeface="Proxima Nova Heavy"/>
                <a:ea typeface="Proxima Nova Heavy"/>
                <a:cs typeface="Proxima Nova Heavy"/>
                <a:sym typeface="Proxima Nova Heavy"/>
              </a:rPr>
              <a:t>Nguyễn Mạnh Hùng</a:t>
            </a:r>
          </a:p>
        </p:txBody>
      </p:sp>
      <p:sp>
        <p:nvSpPr>
          <p:cNvPr name="TextBox 23" id="23"/>
          <p:cNvSpPr txBox="true"/>
          <p:nvPr/>
        </p:nvSpPr>
        <p:spPr>
          <a:xfrm rot="0">
            <a:off x="7520446" y="6946660"/>
            <a:ext cx="3488373" cy="1758315"/>
          </a:xfrm>
          <a:prstGeom prst="rect">
            <a:avLst/>
          </a:prstGeom>
        </p:spPr>
        <p:txBody>
          <a:bodyPr anchor="t" rtlCol="false" tIns="0" lIns="0" bIns="0" rIns="0">
            <a:spAutoFit/>
          </a:bodyPr>
          <a:lstStyle/>
          <a:p>
            <a:pPr algn="l">
              <a:lnSpc>
                <a:spcPts val="3479"/>
              </a:lnSpc>
            </a:pPr>
            <a:r>
              <a:rPr lang="en-US" sz="3000" b="true">
                <a:solidFill>
                  <a:srgbClr val="F5FCFF"/>
                </a:solidFill>
                <a:latin typeface="Proxima Nova Bold"/>
                <a:ea typeface="Proxima Nova Bold"/>
                <a:cs typeface="Proxima Nova Bold"/>
                <a:sym typeface="Proxima Nova Bold"/>
              </a:rPr>
              <a:t>Nguyễn</a:t>
            </a:r>
            <a:r>
              <a:rPr lang="en-US" sz="3000" b="true">
                <a:solidFill>
                  <a:srgbClr val="F5FCFF"/>
                </a:solidFill>
                <a:latin typeface="Proxima Nova Bold"/>
                <a:ea typeface="Proxima Nova Bold"/>
                <a:cs typeface="Proxima Nova Bold"/>
                <a:sym typeface="Proxima Nova Bold"/>
              </a:rPr>
              <a:t> Hữu Phúc</a:t>
            </a:r>
          </a:p>
          <a:p>
            <a:pPr algn="l">
              <a:lnSpc>
                <a:spcPts val="3479"/>
              </a:lnSpc>
            </a:pPr>
            <a:r>
              <a:rPr lang="en-US" sz="3000" b="true">
                <a:solidFill>
                  <a:srgbClr val="F5FCFF"/>
                </a:solidFill>
                <a:latin typeface="Proxima Nova Bold"/>
                <a:ea typeface="Proxima Nova Bold"/>
                <a:cs typeface="Proxima Nova Bold"/>
                <a:sym typeface="Proxima Nova Bold"/>
              </a:rPr>
              <a:t>Hồng Thắng Quân</a:t>
            </a:r>
          </a:p>
          <a:p>
            <a:pPr algn="l">
              <a:lnSpc>
                <a:spcPts val="3479"/>
              </a:lnSpc>
            </a:pPr>
            <a:r>
              <a:rPr lang="en-US" sz="3000" b="true">
                <a:solidFill>
                  <a:srgbClr val="F5FCFF"/>
                </a:solidFill>
                <a:latin typeface="Proxima Nova Bold"/>
                <a:ea typeface="Proxima Nova Bold"/>
                <a:cs typeface="Proxima Nova Bold"/>
                <a:sym typeface="Proxima Nova Bold"/>
              </a:rPr>
              <a:t>Tạ Thanh Mạnh</a:t>
            </a:r>
          </a:p>
          <a:p>
            <a:pPr algn="l">
              <a:lnSpc>
                <a:spcPts val="3479"/>
              </a:lnSpc>
            </a:pPr>
            <a:r>
              <a:rPr lang="en-US" b="true" sz="3000">
                <a:solidFill>
                  <a:srgbClr val="F5FCFF"/>
                </a:solidFill>
                <a:latin typeface="Proxima Nova Bold"/>
                <a:ea typeface="Proxima Nova Bold"/>
                <a:cs typeface="Proxima Nova Bold"/>
                <a:sym typeface="Proxima Nova Bold"/>
              </a:rPr>
              <a:t>Nguyễn Hoài An</a:t>
            </a:r>
          </a:p>
        </p:txBody>
      </p:sp>
      <p:sp>
        <p:nvSpPr>
          <p:cNvPr name="TextBox 24" id="24"/>
          <p:cNvSpPr txBox="true"/>
          <p:nvPr/>
        </p:nvSpPr>
        <p:spPr>
          <a:xfrm rot="608533">
            <a:off x="12429960" y="4272951"/>
            <a:ext cx="5062914" cy="1769228"/>
          </a:xfrm>
          <a:prstGeom prst="rect">
            <a:avLst/>
          </a:prstGeom>
        </p:spPr>
        <p:txBody>
          <a:bodyPr anchor="t" rtlCol="false" tIns="0" lIns="0" bIns="0" rIns="0">
            <a:spAutoFit/>
          </a:bodyPr>
          <a:lstStyle/>
          <a:p>
            <a:pPr algn="ctr">
              <a:lnSpc>
                <a:spcPts val="13805"/>
              </a:lnSpc>
            </a:pPr>
            <a:r>
              <a:rPr lang="en-US" sz="11900">
                <a:gradFill>
                  <a:gsLst>
                    <a:gs pos="0">
                      <a:srgbClr val="FFE4C2">
                        <a:alpha val="100000"/>
                      </a:srgbClr>
                    </a:gs>
                    <a:gs pos="100000">
                      <a:srgbClr val="87F8FF">
                        <a:alpha val="100000"/>
                      </a:srgbClr>
                    </a:gs>
                  </a:gsLst>
                  <a:lin ang="0"/>
                </a:gradFill>
                <a:latin typeface="Sprite Graffiti"/>
                <a:ea typeface="Sprite Graffiti"/>
                <a:cs typeface="Sprite Graffiti"/>
                <a:sym typeface="Sprite Graffiti"/>
              </a:rPr>
              <a:t>Nhóm 2</a:t>
            </a:r>
          </a:p>
        </p:txBody>
      </p:sp>
      <p:sp>
        <p:nvSpPr>
          <p:cNvPr name="TextBox 25" id="25"/>
          <p:cNvSpPr txBox="true"/>
          <p:nvPr/>
        </p:nvSpPr>
        <p:spPr>
          <a:xfrm rot="0">
            <a:off x="738304" y="1940170"/>
            <a:ext cx="11070788" cy="679451"/>
          </a:xfrm>
          <a:prstGeom prst="rect">
            <a:avLst/>
          </a:prstGeom>
        </p:spPr>
        <p:txBody>
          <a:bodyPr anchor="t" rtlCol="false" tIns="0" lIns="0" bIns="0" rIns="0">
            <a:spAutoFit/>
          </a:bodyPr>
          <a:lstStyle/>
          <a:p>
            <a:pPr algn="ctr">
              <a:lnSpc>
                <a:spcPts val="5599"/>
              </a:lnSpc>
              <a:spcBef>
                <a:spcPct val="0"/>
              </a:spcBef>
            </a:pPr>
            <a:r>
              <a:rPr lang="en-US" b="true" sz="3999">
                <a:solidFill>
                  <a:srgbClr val="F5FCFF"/>
                </a:solidFill>
                <a:latin typeface="Proxima Nova Bold"/>
                <a:ea typeface="Proxima Nova Bold"/>
                <a:cs typeface="Proxima Nova Bold"/>
                <a:sym typeface="Proxima Nova Bold"/>
              </a:rPr>
              <a:t>MÔN HỌC: LẬP TRÌNH TRÊN THIẾT BỊ DI ĐỘNG</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5FCFF"/>
        </a:solidFill>
      </p:bgPr>
    </p:bg>
    <p:spTree>
      <p:nvGrpSpPr>
        <p:cNvPr id="1" name=""/>
        <p:cNvGrpSpPr/>
        <p:nvPr/>
      </p:nvGrpSpPr>
      <p:grpSpPr>
        <a:xfrm>
          <a:off x="0" y="0"/>
          <a:ext cx="0" cy="0"/>
          <a:chOff x="0" y="0"/>
          <a:chExt cx="0" cy="0"/>
        </a:xfrm>
      </p:grpSpPr>
      <p:sp>
        <p:nvSpPr>
          <p:cNvPr name="Freeform 2" id="2"/>
          <p:cNvSpPr/>
          <p:nvPr/>
        </p:nvSpPr>
        <p:spPr>
          <a:xfrm flipH="false" flipV="false" rot="0">
            <a:off x="-2457761" y="1205407"/>
            <a:ext cx="10952572" cy="9314847"/>
          </a:xfrm>
          <a:custGeom>
            <a:avLst/>
            <a:gdLst/>
            <a:ahLst/>
            <a:cxnLst/>
            <a:rect r="r" b="b" t="t" l="l"/>
            <a:pathLst>
              <a:path h="9314847" w="10952572">
                <a:moveTo>
                  <a:pt x="0" y="0"/>
                </a:moveTo>
                <a:lnTo>
                  <a:pt x="10952571" y="0"/>
                </a:lnTo>
                <a:lnTo>
                  <a:pt x="10952571" y="9314847"/>
                </a:lnTo>
                <a:lnTo>
                  <a:pt x="0" y="9314847"/>
                </a:lnTo>
                <a:lnTo>
                  <a:pt x="0" y="0"/>
                </a:lnTo>
                <a:close/>
              </a:path>
            </a:pathLst>
          </a:custGeom>
          <a:blipFill>
            <a:blip r:embed="rId2"/>
            <a:stretch>
              <a:fillRect l="-16206" t="0" r="-32396" b="-16523"/>
            </a:stretch>
          </a:blipFill>
        </p:spPr>
      </p:sp>
      <p:grpSp>
        <p:nvGrpSpPr>
          <p:cNvPr name="Group 3" id="3"/>
          <p:cNvGrpSpPr/>
          <p:nvPr/>
        </p:nvGrpSpPr>
        <p:grpSpPr>
          <a:xfrm rot="0">
            <a:off x="2396431" y="696152"/>
            <a:ext cx="6229247" cy="9824101"/>
            <a:chOff x="0" y="0"/>
            <a:chExt cx="1640625" cy="2587418"/>
          </a:xfrm>
        </p:grpSpPr>
        <p:sp>
          <p:nvSpPr>
            <p:cNvPr name="Freeform 4" id="4"/>
            <p:cNvSpPr/>
            <p:nvPr/>
          </p:nvSpPr>
          <p:spPr>
            <a:xfrm flipH="false" flipV="false" rot="0">
              <a:off x="0" y="0"/>
              <a:ext cx="1640625" cy="2587418"/>
            </a:xfrm>
            <a:custGeom>
              <a:avLst/>
              <a:gdLst/>
              <a:ahLst/>
              <a:cxnLst/>
              <a:rect r="r" b="b" t="t" l="l"/>
              <a:pathLst>
                <a:path h="2587418" w="1640625">
                  <a:moveTo>
                    <a:pt x="0" y="0"/>
                  </a:moveTo>
                  <a:lnTo>
                    <a:pt x="1640625" y="0"/>
                  </a:lnTo>
                  <a:lnTo>
                    <a:pt x="1640625" y="2587418"/>
                  </a:lnTo>
                  <a:lnTo>
                    <a:pt x="0" y="2587418"/>
                  </a:lnTo>
                  <a:close/>
                </a:path>
              </a:pathLst>
            </a:custGeom>
            <a:gradFill rotWithShape="true">
              <a:gsLst>
                <a:gs pos="0">
                  <a:srgbClr val="F5FCFF">
                    <a:alpha val="0"/>
                  </a:srgbClr>
                </a:gs>
                <a:gs pos="100000">
                  <a:srgbClr val="F5FCFF">
                    <a:alpha val="100000"/>
                  </a:srgbClr>
                </a:gs>
              </a:gsLst>
              <a:lin ang="0"/>
            </a:gradFill>
          </p:spPr>
        </p:sp>
        <p:sp>
          <p:nvSpPr>
            <p:cNvPr name="TextBox 5" id="5"/>
            <p:cNvSpPr txBox="true"/>
            <p:nvPr/>
          </p:nvSpPr>
          <p:spPr>
            <a:xfrm>
              <a:off x="0" y="-38100"/>
              <a:ext cx="1640625" cy="2625518"/>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89806" y="-202673"/>
            <a:ext cx="18719200" cy="1431252"/>
            <a:chOff x="0" y="0"/>
            <a:chExt cx="4930160" cy="376955"/>
          </a:xfrm>
        </p:grpSpPr>
        <p:sp>
          <p:nvSpPr>
            <p:cNvPr name="Freeform 7" id="7"/>
            <p:cNvSpPr/>
            <p:nvPr/>
          </p:nvSpPr>
          <p:spPr>
            <a:xfrm flipH="false" flipV="false" rot="0">
              <a:off x="0" y="0"/>
              <a:ext cx="4930160" cy="376955"/>
            </a:xfrm>
            <a:custGeom>
              <a:avLst/>
              <a:gdLst/>
              <a:ahLst/>
              <a:cxnLst/>
              <a:rect r="r" b="b" t="t" l="l"/>
              <a:pathLst>
                <a:path h="376955" w="4930160">
                  <a:moveTo>
                    <a:pt x="0" y="0"/>
                  </a:moveTo>
                  <a:lnTo>
                    <a:pt x="4930160" y="0"/>
                  </a:lnTo>
                  <a:lnTo>
                    <a:pt x="4930160" y="376955"/>
                  </a:lnTo>
                  <a:lnTo>
                    <a:pt x="0" y="376955"/>
                  </a:lnTo>
                  <a:close/>
                </a:path>
              </a:pathLst>
            </a:custGeom>
            <a:solidFill>
              <a:srgbClr val="FFFFFF"/>
            </a:solidFill>
          </p:spPr>
        </p:sp>
        <p:sp>
          <p:nvSpPr>
            <p:cNvPr name="TextBox 8" id="8"/>
            <p:cNvSpPr txBox="true"/>
            <p:nvPr/>
          </p:nvSpPr>
          <p:spPr>
            <a:xfrm>
              <a:off x="0" y="-38100"/>
              <a:ext cx="4930160" cy="415055"/>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189806" y="439295"/>
            <a:ext cx="347972" cy="513715"/>
            <a:chOff x="0" y="0"/>
            <a:chExt cx="91647" cy="135299"/>
          </a:xfrm>
        </p:grpSpPr>
        <p:sp>
          <p:nvSpPr>
            <p:cNvPr name="Freeform 10" id="10"/>
            <p:cNvSpPr/>
            <p:nvPr/>
          </p:nvSpPr>
          <p:spPr>
            <a:xfrm flipH="false" flipV="false" rot="0">
              <a:off x="0" y="0"/>
              <a:ext cx="91647" cy="135299"/>
            </a:xfrm>
            <a:custGeom>
              <a:avLst/>
              <a:gdLst/>
              <a:ahLst/>
              <a:cxnLst/>
              <a:rect r="r" b="b" t="t" l="l"/>
              <a:pathLst>
                <a:path h="135299" w="91647">
                  <a:moveTo>
                    <a:pt x="0" y="0"/>
                  </a:moveTo>
                  <a:lnTo>
                    <a:pt x="91647" y="0"/>
                  </a:lnTo>
                  <a:lnTo>
                    <a:pt x="91647" y="135299"/>
                  </a:lnTo>
                  <a:lnTo>
                    <a:pt x="0" y="135299"/>
                  </a:lnTo>
                  <a:close/>
                </a:path>
              </a:pathLst>
            </a:custGeom>
            <a:solidFill>
              <a:srgbClr val="3065CB"/>
            </a:solidFill>
          </p:spPr>
        </p:sp>
        <p:sp>
          <p:nvSpPr>
            <p:cNvPr name="TextBox 11" id="11"/>
            <p:cNvSpPr txBox="true"/>
            <p:nvPr/>
          </p:nvSpPr>
          <p:spPr>
            <a:xfrm>
              <a:off x="0" y="-38100"/>
              <a:ext cx="91647" cy="173399"/>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028700" y="363095"/>
            <a:ext cx="11264030" cy="646430"/>
          </a:xfrm>
          <a:prstGeom prst="rect">
            <a:avLst/>
          </a:prstGeom>
        </p:spPr>
        <p:txBody>
          <a:bodyPr anchor="t" rtlCol="false" tIns="0" lIns="0" bIns="0" rIns="0">
            <a:spAutoFit/>
          </a:bodyPr>
          <a:lstStyle/>
          <a:p>
            <a:pPr algn="l">
              <a:lnSpc>
                <a:spcPts val="5319"/>
              </a:lnSpc>
              <a:spcBef>
                <a:spcPct val="0"/>
              </a:spcBef>
            </a:pPr>
            <a:r>
              <a:rPr lang="en-US" b="true" sz="3799" i="true">
                <a:solidFill>
                  <a:srgbClr val="061647"/>
                </a:solidFill>
                <a:latin typeface="Proxima Nova Heavy Italics"/>
                <a:ea typeface="Proxima Nova Heavy Italics"/>
                <a:cs typeface="Proxima Nova Heavy Italics"/>
                <a:sym typeface="Proxima Nova Heavy Italics"/>
              </a:rPr>
              <a:t>MỤC LỤC</a:t>
            </a:r>
          </a:p>
        </p:txBody>
      </p:sp>
      <p:sp>
        <p:nvSpPr>
          <p:cNvPr name="TextBox 13" id="13"/>
          <p:cNvSpPr txBox="true"/>
          <p:nvPr/>
        </p:nvSpPr>
        <p:spPr>
          <a:xfrm rot="0">
            <a:off x="257744" y="7468575"/>
            <a:ext cx="10015651" cy="2600325"/>
          </a:xfrm>
          <a:prstGeom prst="rect">
            <a:avLst/>
          </a:prstGeom>
        </p:spPr>
        <p:txBody>
          <a:bodyPr anchor="t" rtlCol="false" tIns="0" lIns="0" bIns="0" rIns="0">
            <a:spAutoFit/>
          </a:bodyPr>
          <a:lstStyle/>
          <a:p>
            <a:pPr algn="ctr">
              <a:lnSpc>
                <a:spcPts val="9600"/>
              </a:lnSpc>
            </a:pPr>
            <a:r>
              <a:rPr lang="en-US" b="true" sz="12000">
                <a:solidFill>
                  <a:srgbClr val="F5FCFF"/>
                </a:solidFill>
                <a:latin typeface="Proxima Nova Heavy"/>
                <a:ea typeface="Proxima Nova Heavy"/>
                <a:cs typeface="Proxima Nova Heavy"/>
                <a:sym typeface="Proxima Nova Heavy"/>
              </a:rPr>
              <a:t>PROBLEM STATEMENT</a:t>
            </a:r>
          </a:p>
        </p:txBody>
      </p:sp>
      <p:grpSp>
        <p:nvGrpSpPr>
          <p:cNvPr name="Group 14" id="14"/>
          <p:cNvGrpSpPr/>
          <p:nvPr/>
        </p:nvGrpSpPr>
        <p:grpSpPr>
          <a:xfrm rot="0">
            <a:off x="9144000" y="2100068"/>
            <a:ext cx="8405702" cy="6444832"/>
            <a:chOff x="0" y="0"/>
            <a:chExt cx="2121924" cy="1626924"/>
          </a:xfrm>
        </p:grpSpPr>
        <p:sp>
          <p:nvSpPr>
            <p:cNvPr name="Freeform 15" id="15"/>
            <p:cNvSpPr/>
            <p:nvPr/>
          </p:nvSpPr>
          <p:spPr>
            <a:xfrm flipH="false" flipV="false" rot="0">
              <a:off x="0" y="0"/>
              <a:ext cx="2121924" cy="1626924"/>
            </a:xfrm>
            <a:custGeom>
              <a:avLst/>
              <a:gdLst/>
              <a:ahLst/>
              <a:cxnLst/>
              <a:rect r="r" b="b" t="t" l="l"/>
              <a:pathLst>
                <a:path h="1626924" w="2121924">
                  <a:moveTo>
                    <a:pt x="46973" y="0"/>
                  </a:moveTo>
                  <a:lnTo>
                    <a:pt x="2074951" y="0"/>
                  </a:lnTo>
                  <a:cubicBezTo>
                    <a:pt x="2100893" y="0"/>
                    <a:pt x="2121924" y="21030"/>
                    <a:pt x="2121924" y="46973"/>
                  </a:cubicBezTo>
                  <a:lnTo>
                    <a:pt x="2121924" y="1579952"/>
                  </a:lnTo>
                  <a:cubicBezTo>
                    <a:pt x="2121924" y="1605894"/>
                    <a:pt x="2100893" y="1626924"/>
                    <a:pt x="2074951" y="1626924"/>
                  </a:cubicBezTo>
                  <a:lnTo>
                    <a:pt x="46973" y="1626924"/>
                  </a:lnTo>
                  <a:cubicBezTo>
                    <a:pt x="21030" y="1626924"/>
                    <a:pt x="0" y="1605894"/>
                    <a:pt x="0" y="1579952"/>
                  </a:cubicBezTo>
                  <a:lnTo>
                    <a:pt x="0" y="46973"/>
                  </a:lnTo>
                  <a:cubicBezTo>
                    <a:pt x="0" y="21030"/>
                    <a:pt x="21030" y="0"/>
                    <a:pt x="46973" y="0"/>
                  </a:cubicBezTo>
                  <a:close/>
                </a:path>
              </a:pathLst>
            </a:custGeom>
            <a:solidFill>
              <a:srgbClr val="3065CB"/>
            </a:solidFill>
            <a:ln w="38100" cap="rnd">
              <a:solidFill>
                <a:srgbClr val="FFFFFF"/>
              </a:solidFill>
              <a:prstDash val="solid"/>
              <a:round/>
            </a:ln>
          </p:spPr>
        </p:sp>
        <p:sp>
          <p:nvSpPr>
            <p:cNvPr name="TextBox 16" id="16"/>
            <p:cNvSpPr txBox="true"/>
            <p:nvPr/>
          </p:nvSpPr>
          <p:spPr>
            <a:xfrm>
              <a:off x="0" y="-38100"/>
              <a:ext cx="2121924" cy="1665024"/>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0">
            <a:off x="10943374" y="1525403"/>
            <a:ext cx="4806954" cy="991241"/>
            <a:chOff x="0" y="0"/>
            <a:chExt cx="1213461" cy="250228"/>
          </a:xfrm>
        </p:grpSpPr>
        <p:sp>
          <p:nvSpPr>
            <p:cNvPr name="Freeform 18" id="18"/>
            <p:cNvSpPr/>
            <p:nvPr/>
          </p:nvSpPr>
          <p:spPr>
            <a:xfrm flipH="false" flipV="false" rot="0">
              <a:off x="0" y="0"/>
              <a:ext cx="1213461" cy="250228"/>
            </a:xfrm>
            <a:custGeom>
              <a:avLst/>
              <a:gdLst/>
              <a:ahLst/>
              <a:cxnLst/>
              <a:rect r="r" b="b" t="t" l="l"/>
              <a:pathLst>
                <a:path h="250228" w="1213461">
                  <a:moveTo>
                    <a:pt x="53149" y="0"/>
                  </a:moveTo>
                  <a:lnTo>
                    <a:pt x="1160312" y="0"/>
                  </a:lnTo>
                  <a:cubicBezTo>
                    <a:pt x="1189665" y="0"/>
                    <a:pt x="1213461" y="23795"/>
                    <a:pt x="1213461" y="53149"/>
                  </a:cubicBezTo>
                  <a:lnTo>
                    <a:pt x="1213461" y="197079"/>
                  </a:lnTo>
                  <a:cubicBezTo>
                    <a:pt x="1213461" y="211175"/>
                    <a:pt x="1207861" y="224693"/>
                    <a:pt x="1197894" y="234661"/>
                  </a:cubicBezTo>
                  <a:cubicBezTo>
                    <a:pt x="1187926" y="244628"/>
                    <a:pt x="1174408" y="250228"/>
                    <a:pt x="1160312" y="250228"/>
                  </a:cubicBezTo>
                  <a:lnTo>
                    <a:pt x="53149" y="250228"/>
                  </a:lnTo>
                  <a:cubicBezTo>
                    <a:pt x="39053" y="250228"/>
                    <a:pt x="25534" y="244628"/>
                    <a:pt x="15567" y="234661"/>
                  </a:cubicBezTo>
                  <a:cubicBezTo>
                    <a:pt x="5600" y="224693"/>
                    <a:pt x="0" y="211175"/>
                    <a:pt x="0" y="197079"/>
                  </a:cubicBezTo>
                  <a:lnTo>
                    <a:pt x="0" y="53149"/>
                  </a:lnTo>
                  <a:cubicBezTo>
                    <a:pt x="0" y="39053"/>
                    <a:pt x="5600" y="25534"/>
                    <a:pt x="15567" y="15567"/>
                  </a:cubicBezTo>
                  <a:cubicBezTo>
                    <a:pt x="25534" y="5600"/>
                    <a:pt x="39053" y="0"/>
                    <a:pt x="53149" y="0"/>
                  </a:cubicBezTo>
                  <a:close/>
                </a:path>
              </a:pathLst>
            </a:custGeom>
            <a:gradFill rotWithShape="true">
              <a:gsLst>
                <a:gs pos="0">
                  <a:srgbClr val="C08846">
                    <a:alpha val="100000"/>
                  </a:srgbClr>
                </a:gs>
                <a:gs pos="100000">
                  <a:srgbClr val="FFC87B">
                    <a:alpha val="100000"/>
                  </a:srgbClr>
                </a:gs>
              </a:gsLst>
              <a:lin ang="5400000"/>
            </a:gradFill>
            <a:ln w="38100" cap="rnd">
              <a:solidFill>
                <a:srgbClr val="D39C56"/>
              </a:solidFill>
              <a:prstDash val="solid"/>
              <a:round/>
            </a:ln>
          </p:spPr>
        </p:sp>
        <p:sp>
          <p:nvSpPr>
            <p:cNvPr name="TextBox 19" id="19"/>
            <p:cNvSpPr txBox="true"/>
            <p:nvPr/>
          </p:nvSpPr>
          <p:spPr>
            <a:xfrm>
              <a:off x="0" y="-38100"/>
              <a:ext cx="1213461" cy="288328"/>
            </a:xfrm>
            <a:prstGeom prst="rect">
              <a:avLst/>
            </a:prstGeom>
          </p:spPr>
          <p:txBody>
            <a:bodyPr anchor="ctr" rtlCol="false" tIns="50800" lIns="50800" bIns="50800" rIns="50800"/>
            <a:lstStyle/>
            <a:p>
              <a:pPr algn="ctr">
                <a:lnSpc>
                  <a:spcPts val="2659"/>
                </a:lnSpc>
              </a:pPr>
            </a:p>
          </p:txBody>
        </p:sp>
      </p:grpSp>
      <p:sp>
        <p:nvSpPr>
          <p:cNvPr name="TextBox 20" id="20"/>
          <p:cNvSpPr txBox="true"/>
          <p:nvPr/>
        </p:nvSpPr>
        <p:spPr>
          <a:xfrm rot="0">
            <a:off x="12215748" y="1775596"/>
            <a:ext cx="2392876" cy="548005"/>
          </a:xfrm>
          <a:prstGeom prst="rect">
            <a:avLst/>
          </a:prstGeom>
        </p:spPr>
        <p:txBody>
          <a:bodyPr anchor="t" rtlCol="false" tIns="0" lIns="0" bIns="0" rIns="0">
            <a:spAutoFit/>
          </a:bodyPr>
          <a:lstStyle/>
          <a:p>
            <a:pPr algn="ctr">
              <a:lnSpc>
                <a:spcPts val="4159"/>
              </a:lnSpc>
            </a:pPr>
            <a:r>
              <a:rPr lang="en-US" b="true" sz="3999">
                <a:solidFill>
                  <a:srgbClr val="000000"/>
                </a:solidFill>
                <a:latin typeface="Proxima Nova Heavy"/>
                <a:ea typeface="Proxima Nova Heavy"/>
                <a:cs typeface="Proxima Nova Heavy"/>
                <a:sym typeface="Proxima Nova Heavy"/>
              </a:rPr>
              <a:t>MỤC LỤC</a:t>
            </a:r>
          </a:p>
        </p:txBody>
      </p:sp>
      <p:sp>
        <p:nvSpPr>
          <p:cNvPr name="TextBox 21" id="21"/>
          <p:cNvSpPr txBox="true"/>
          <p:nvPr/>
        </p:nvSpPr>
        <p:spPr>
          <a:xfrm rot="0">
            <a:off x="9565072" y="2757292"/>
            <a:ext cx="7694228" cy="4705741"/>
          </a:xfrm>
          <a:prstGeom prst="rect">
            <a:avLst/>
          </a:prstGeom>
        </p:spPr>
        <p:txBody>
          <a:bodyPr anchor="t" rtlCol="false" tIns="0" lIns="0" bIns="0" rIns="0">
            <a:spAutoFit/>
          </a:bodyPr>
          <a:lstStyle/>
          <a:p>
            <a:pPr algn="ctr">
              <a:lnSpc>
                <a:spcPts val="5380"/>
              </a:lnSpc>
            </a:pPr>
            <a:r>
              <a:rPr lang="en-US" sz="3843" b="true">
                <a:solidFill>
                  <a:srgbClr val="FFFFFF"/>
                </a:solidFill>
                <a:latin typeface="Proxima Nova Bold"/>
                <a:ea typeface="Proxima Nova Bold"/>
                <a:cs typeface="Proxima Nova Bold"/>
                <a:sym typeface="Proxima Nova Bold"/>
              </a:rPr>
              <a:t>1. Giới thiệu </a:t>
            </a:r>
          </a:p>
          <a:p>
            <a:pPr algn="ctr">
              <a:lnSpc>
                <a:spcPts val="5380"/>
              </a:lnSpc>
            </a:pPr>
            <a:r>
              <a:rPr lang="en-US" sz="3843" b="true">
                <a:solidFill>
                  <a:srgbClr val="FFFFFF"/>
                </a:solidFill>
                <a:latin typeface="Proxima Nova Bold"/>
                <a:ea typeface="Proxima Nova Bold"/>
                <a:cs typeface="Proxima Nova Bold"/>
                <a:sym typeface="Proxima Nova Bold"/>
              </a:rPr>
              <a:t>2. Công nghệ chính sử dụng</a:t>
            </a:r>
          </a:p>
          <a:p>
            <a:pPr algn="ctr">
              <a:lnSpc>
                <a:spcPts val="5380"/>
              </a:lnSpc>
            </a:pPr>
            <a:r>
              <a:rPr lang="en-US" sz="3843" b="true">
                <a:solidFill>
                  <a:srgbClr val="FFFFFF"/>
                </a:solidFill>
                <a:latin typeface="Proxima Nova Bold"/>
                <a:ea typeface="Proxima Nova Bold"/>
                <a:cs typeface="Proxima Nova Bold"/>
                <a:sym typeface="Proxima Nova Bold"/>
              </a:rPr>
              <a:t>3. Kiến trúc &amp; Nguyên lý hoạt động</a:t>
            </a:r>
          </a:p>
          <a:p>
            <a:pPr algn="ctr">
              <a:lnSpc>
                <a:spcPts val="5380"/>
              </a:lnSpc>
            </a:pPr>
            <a:r>
              <a:rPr lang="en-US" sz="3843" b="true">
                <a:solidFill>
                  <a:srgbClr val="FFFFFF"/>
                </a:solidFill>
                <a:latin typeface="Proxima Nova Bold"/>
                <a:ea typeface="Proxima Nova Bold"/>
                <a:cs typeface="Proxima Nova Bold"/>
                <a:sym typeface="Proxima Nova Bold"/>
              </a:rPr>
              <a:t>4. Thiết kế giao diện ứng dụng</a:t>
            </a:r>
          </a:p>
          <a:p>
            <a:pPr algn="ctr">
              <a:lnSpc>
                <a:spcPts val="5380"/>
              </a:lnSpc>
            </a:pPr>
            <a:r>
              <a:rPr lang="en-US" sz="3843" b="true">
                <a:solidFill>
                  <a:srgbClr val="FFFFFF"/>
                </a:solidFill>
                <a:latin typeface="Proxima Nova Bold"/>
                <a:ea typeface="Proxima Nova Bold"/>
                <a:cs typeface="Proxima Nova Bold"/>
                <a:sym typeface="Proxima Nova Bold"/>
              </a:rPr>
              <a:t>5. Demo trực tiếp các tính năng</a:t>
            </a:r>
          </a:p>
          <a:p>
            <a:pPr algn="ctr">
              <a:lnSpc>
                <a:spcPts val="5380"/>
              </a:lnSpc>
            </a:pPr>
            <a:r>
              <a:rPr lang="en-US" sz="3843" b="true">
                <a:solidFill>
                  <a:srgbClr val="FFFFFF"/>
                </a:solidFill>
                <a:latin typeface="Proxima Nova Bold"/>
                <a:ea typeface="Proxima Nova Bold"/>
                <a:cs typeface="Proxima Nova Bold"/>
                <a:sym typeface="Proxima Nova Bold"/>
              </a:rPr>
              <a:t>6. Đánh giá ưu điểm &amp; Hạn chế</a:t>
            </a:r>
          </a:p>
          <a:p>
            <a:pPr algn="ctr">
              <a:lnSpc>
                <a:spcPts val="5380"/>
              </a:lnSpc>
            </a:pPr>
            <a:r>
              <a:rPr lang="en-US" sz="3843">
                <a:solidFill>
                  <a:srgbClr val="FFFFFF"/>
                </a:solidFill>
                <a:latin typeface="Proxima Nova"/>
                <a:ea typeface="Proxima Nova"/>
                <a:cs typeface="Proxima Nova"/>
                <a:sym typeface="Proxima Nova"/>
              </a:rPr>
              <a:t>7</a:t>
            </a:r>
            <a:r>
              <a:rPr lang="en-US" b="true" sz="3843">
                <a:solidFill>
                  <a:srgbClr val="FFFFFF"/>
                </a:solidFill>
                <a:latin typeface="Proxima Nova Bold"/>
                <a:ea typeface="Proxima Nova Bold"/>
                <a:cs typeface="Proxima Nova Bold"/>
                <a:sym typeface="Proxima Nova Bold"/>
              </a:rPr>
              <a:t>. Kết luận &amp; Hướng phát triển</a:t>
            </a:r>
          </a:p>
        </p:txBody>
      </p:sp>
    </p:spTree>
  </p:cSld>
  <p:clrMapOvr>
    <a:masterClrMapping/>
  </p:clrMapOvr>
  <p:transition spd="fast">
    <p:fade/>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5FCFF"/>
        </a:solidFill>
      </p:bgPr>
    </p:bg>
    <p:spTree>
      <p:nvGrpSpPr>
        <p:cNvPr id="1" name=""/>
        <p:cNvGrpSpPr/>
        <p:nvPr/>
      </p:nvGrpSpPr>
      <p:grpSpPr>
        <a:xfrm>
          <a:off x="0" y="0"/>
          <a:ext cx="0" cy="0"/>
          <a:chOff x="0" y="0"/>
          <a:chExt cx="0" cy="0"/>
        </a:xfrm>
      </p:grpSpPr>
      <p:sp>
        <p:nvSpPr>
          <p:cNvPr name="Freeform 2" id="2"/>
          <p:cNvSpPr/>
          <p:nvPr/>
        </p:nvSpPr>
        <p:spPr>
          <a:xfrm flipH="false" flipV="false" rot="0">
            <a:off x="-189806" y="-1570622"/>
            <a:ext cx="18719200" cy="8331971"/>
          </a:xfrm>
          <a:custGeom>
            <a:avLst/>
            <a:gdLst/>
            <a:ahLst/>
            <a:cxnLst/>
            <a:rect r="r" b="b" t="t" l="l"/>
            <a:pathLst>
              <a:path h="8331971" w="18719200">
                <a:moveTo>
                  <a:pt x="0" y="0"/>
                </a:moveTo>
                <a:lnTo>
                  <a:pt x="18719200" y="0"/>
                </a:lnTo>
                <a:lnTo>
                  <a:pt x="18719200" y="8331972"/>
                </a:lnTo>
                <a:lnTo>
                  <a:pt x="0" y="8331972"/>
                </a:lnTo>
                <a:lnTo>
                  <a:pt x="0" y="0"/>
                </a:lnTo>
                <a:close/>
              </a:path>
            </a:pathLst>
          </a:custGeom>
          <a:blipFill>
            <a:blip r:embed="rId2"/>
            <a:stretch>
              <a:fillRect l="0" t="0" r="0" b="-49824"/>
            </a:stretch>
          </a:blipFill>
        </p:spPr>
      </p:sp>
      <p:grpSp>
        <p:nvGrpSpPr>
          <p:cNvPr name="Group 3" id="3"/>
          <p:cNvGrpSpPr/>
          <p:nvPr/>
        </p:nvGrpSpPr>
        <p:grpSpPr>
          <a:xfrm rot="0">
            <a:off x="-189806" y="-202673"/>
            <a:ext cx="18719200" cy="1431252"/>
            <a:chOff x="0" y="0"/>
            <a:chExt cx="4930160" cy="376955"/>
          </a:xfrm>
        </p:grpSpPr>
        <p:sp>
          <p:nvSpPr>
            <p:cNvPr name="Freeform 4" id="4"/>
            <p:cNvSpPr/>
            <p:nvPr/>
          </p:nvSpPr>
          <p:spPr>
            <a:xfrm flipH="false" flipV="false" rot="0">
              <a:off x="0" y="0"/>
              <a:ext cx="4930160" cy="376955"/>
            </a:xfrm>
            <a:custGeom>
              <a:avLst/>
              <a:gdLst/>
              <a:ahLst/>
              <a:cxnLst/>
              <a:rect r="r" b="b" t="t" l="l"/>
              <a:pathLst>
                <a:path h="376955" w="4930160">
                  <a:moveTo>
                    <a:pt x="0" y="0"/>
                  </a:moveTo>
                  <a:lnTo>
                    <a:pt x="4930160" y="0"/>
                  </a:lnTo>
                  <a:lnTo>
                    <a:pt x="4930160" y="376955"/>
                  </a:lnTo>
                  <a:lnTo>
                    <a:pt x="0" y="376955"/>
                  </a:lnTo>
                  <a:close/>
                </a:path>
              </a:pathLst>
            </a:custGeom>
            <a:solidFill>
              <a:srgbClr val="FFFFFF"/>
            </a:solidFill>
          </p:spPr>
        </p:sp>
        <p:sp>
          <p:nvSpPr>
            <p:cNvPr name="TextBox 5" id="5"/>
            <p:cNvSpPr txBox="true"/>
            <p:nvPr/>
          </p:nvSpPr>
          <p:spPr>
            <a:xfrm>
              <a:off x="0" y="-38100"/>
              <a:ext cx="4930160" cy="415055"/>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512011" y="4482152"/>
            <a:ext cx="6628078" cy="4224838"/>
            <a:chOff x="0" y="0"/>
            <a:chExt cx="1745667" cy="1112714"/>
          </a:xfrm>
        </p:grpSpPr>
        <p:sp>
          <p:nvSpPr>
            <p:cNvPr name="Freeform 7" id="7"/>
            <p:cNvSpPr/>
            <p:nvPr/>
          </p:nvSpPr>
          <p:spPr>
            <a:xfrm flipH="false" flipV="false" rot="0">
              <a:off x="0" y="0"/>
              <a:ext cx="1745667" cy="1112714"/>
            </a:xfrm>
            <a:custGeom>
              <a:avLst/>
              <a:gdLst/>
              <a:ahLst/>
              <a:cxnLst/>
              <a:rect r="r" b="b" t="t" l="l"/>
              <a:pathLst>
                <a:path h="1112714" w="1745667">
                  <a:moveTo>
                    <a:pt x="59570" y="0"/>
                  </a:moveTo>
                  <a:lnTo>
                    <a:pt x="1686096" y="0"/>
                  </a:lnTo>
                  <a:cubicBezTo>
                    <a:pt x="1718996" y="0"/>
                    <a:pt x="1745667" y="26671"/>
                    <a:pt x="1745667" y="59570"/>
                  </a:cubicBezTo>
                  <a:lnTo>
                    <a:pt x="1745667" y="1053144"/>
                  </a:lnTo>
                  <a:cubicBezTo>
                    <a:pt x="1745667" y="1068943"/>
                    <a:pt x="1739391" y="1084095"/>
                    <a:pt x="1728219" y="1095267"/>
                  </a:cubicBezTo>
                  <a:cubicBezTo>
                    <a:pt x="1717047" y="1106438"/>
                    <a:pt x="1701895" y="1112714"/>
                    <a:pt x="1686096" y="1112714"/>
                  </a:cubicBezTo>
                  <a:lnTo>
                    <a:pt x="59570" y="1112714"/>
                  </a:lnTo>
                  <a:cubicBezTo>
                    <a:pt x="43771" y="1112714"/>
                    <a:pt x="28619" y="1106438"/>
                    <a:pt x="17448" y="1095267"/>
                  </a:cubicBezTo>
                  <a:cubicBezTo>
                    <a:pt x="6276" y="1084095"/>
                    <a:pt x="0" y="1068943"/>
                    <a:pt x="0" y="1053144"/>
                  </a:cubicBezTo>
                  <a:lnTo>
                    <a:pt x="0" y="59570"/>
                  </a:lnTo>
                  <a:cubicBezTo>
                    <a:pt x="0" y="43771"/>
                    <a:pt x="6276" y="28619"/>
                    <a:pt x="17448" y="17448"/>
                  </a:cubicBezTo>
                  <a:cubicBezTo>
                    <a:pt x="28619" y="6276"/>
                    <a:pt x="43771" y="0"/>
                    <a:pt x="59570" y="0"/>
                  </a:cubicBezTo>
                  <a:close/>
                </a:path>
              </a:pathLst>
            </a:custGeom>
            <a:gradFill rotWithShape="true">
              <a:gsLst>
                <a:gs pos="0">
                  <a:srgbClr val="235BBB">
                    <a:alpha val="100000"/>
                  </a:srgbClr>
                </a:gs>
                <a:gs pos="100000">
                  <a:srgbClr val="347FFF">
                    <a:alpha val="100000"/>
                  </a:srgbClr>
                </a:gs>
              </a:gsLst>
              <a:lin ang="5400000"/>
            </a:gradFill>
            <a:ln w="38100" cap="rnd">
              <a:solidFill>
                <a:srgbClr val="FFFFFF"/>
              </a:solidFill>
              <a:prstDash val="solid"/>
              <a:round/>
            </a:ln>
          </p:spPr>
        </p:sp>
        <p:sp>
          <p:nvSpPr>
            <p:cNvPr name="TextBox 8" id="8"/>
            <p:cNvSpPr txBox="true"/>
            <p:nvPr/>
          </p:nvSpPr>
          <p:spPr>
            <a:xfrm>
              <a:off x="0" y="-38100"/>
              <a:ext cx="1745667" cy="1150814"/>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2091865" y="4508370"/>
            <a:ext cx="5911851" cy="4310380"/>
            <a:chOff x="0" y="0"/>
            <a:chExt cx="1557031" cy="1135244"/>
          </a:xfrm>
        </p:grpSpPr>
        <p:sp>
          <p:nvSpPr>
            <p:cNvPr name="Freeform 10" id="10"/>
            <p:cNvSpPr/>
            <p:nvPr/>
          </p:nvSpPr>
          <p:spPr>
            <a:xfrm flipH="false" flipV="false" rot="0">
              <a:off x="0" y="0"/>
              <a:ext cx="1557031" cy="1135244"/>
            </a:xfrm>
            <a:custGeom>
              <a:avLst/>
              <a:gdLst/>
              <a:ahLst/>
              <a:cxnLst/>
              <a:rect r="r" b="b" t="t" l="l"/>
              <a:pathLst>
                <a:path h="1135244" w="1557031">
                  <a:moveTo>
                    <a:pt x="66788" y="0"/>
                  </a:moveTo>
                  <a:lnTo>
                    <a:pt x="1490243" y="0"/>
                  </a:lnTo>
                  <a:cubicBezTo>
                    <a:pt x="1527129" y="0"/>
                    <a:pt x="1557031" y="29902"/>
                    <a:pt x="1557031" y="66788"/>
                  </a:cubicBezTo>
                  <a:lnTo>
                    <a:pt x="1557031" y="1068457"/>
                  </a:lnTo>
                  <a:cubicBezTo>
                    <a:pt x="1557031" y="1105342"/>
                    <a:pt x="1527129" y="1135244"/>
                    <a:pt x="1490243" y="1135244"/>
                  </a:cubicBezTo>
                  <a:lnTo>
                    <a:pt x="66788" y="1135244"/>
                  </a:lnTo>
                  <a:cubicBezTo>
                    <a:pt x="29902" y="1135244"/>
                    <a:pt x="0" y="1105342"/>
                    <a:pt x="0" y="1068457"/>
                  </a:cubicBezTo>
                  <a:lnTo>
                    <a:pt x="0" y="66788"/>
                  </a:lnTo>
                  <a:cubicBezTo>
                    <a:pt x="0" y="29902"/>
                    <a:pt x="29902" y="0"/>
                    <a:pt x="66788" y="0"/>
                  </a:cubicBezTo>
                  <a:close/>
                </a:path>
              </a:pathLst>
            </a:custGeom>
            <a:gradFill rotWithShape="true">
              <a:gsLst>
                <a:gs pos="0">
                  <a:srgbClr val="C08846">
                    <a:alpha val="100000"/>
                  </a:srgbClr>
                </a:gs>
                <a:gs pos="100000">
                  <a:srgbClr val="FFC87B">
                    <a:alpha val="100000"/>
                  </a:srgbClr>
                </a:gs>
              </a:gsLst>
              <a:lin ang="5400000"/>
            </a:gradFill>
            <a:ln w="38100" cap="rnd">
              <a:solidFill>
                <a:srgbClr val="FFFFFF"/>
              </a:solidFill>
              <a:prstDash val="solid"/>
              <a:round/>
            </a:ln>
          </p:spPr>
        </p:sp>
        <p:sp>
          <p:nvSpPr>
            <p:cNvPr name="TextBox 11" id="11"/>
            <p:cNvSpPr txBox="true"/>
            <p:nvPr/>
          </p:nvSpPr>
          <p:spPr>
            <a:xfrm>
              <a:off x="0" y="-38100"/>
              <a:ext cx="1557031" cy="1173344"/>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189806" y="439295"/>
            <a:ext cx="347972" cy="513715"/>
            <a:chOff x="0" y="0"/>
            <a:chExt cx="91647" cy="135299"/>
          </a:xfrm>
        </p:grpSpPr>
        <p:sp>
          <p:nvSpPr>
            <p:cNvPr name="Freeform 13" id="13"/>
            <p:cNvSpPr/>
            <p:nvPr/>
          </p:nvSpPr>
          <p:spPr>
            <a:xfrm flipH="false" flipV="false" rot="0">
              <a:off x="0" y="0"/>
              <a:ext cx="91647" cy="135299"/>
            </a:xfrm>
            <a:custGeom>
              <a:avLst/>
              <a:gdLst/>
              <a:ahLst/>
              <a:cxnLst/>
              <a:rect r="r" b="b" t="t" l="l"/>
              <a:pathLst>
                <a:path h="135299" w="91647">
                  <a:moveTo>
                    <a:pt x="0" y="0"/>
                  </a:moveTo>
                  <a:lnTo>
                    <a:pt x="91647" y="0"/>
                  </a:lnTo>
                  <a:lnTo>
                    <a:pt x="91647" y="135299"/>
                  </a:lnTo>
                  <a:lnTo>
                    <a:pt x="0" y="135299"/>
                  </a:lnTo>
                  <a:close/>
                </a:path>
              </a:pathLst>
            </a:custGeom>
            <a:solidFill>
              <a:srgbClr val="3065CB"/>
            </a:solidFill>
          </p:spPr>
        </p:sp>
        <p:sp>
          <p:nvSpPr>
            <p:cNvPr name="TextBox 14" id="14"/>
            <p:cNvSpPr txBox="true"/>
            <p:nvPr/>
          </p:nvSpPr>
          <p:spPr>
            <a:xfrm>
              <a:off x="0" y="-38100"/>
              <a:ext cx="91647" cy="173399"/>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265152" y="439295"/>
            <a:ext cx="493718" cy="513715"/>
            <a:chOff x="0" y="0"/>
            <a:chExt cx="130033" cy="135299"/>
          </a:xfrm>
        </p:grpSpPr>
        <p:sp>
          <p:nvSpPr>
            <p:cNvPr name="Freeform 16" id="16"/>
            <p:cNvSpPr/>
            <p:nvPr/>
          </p:nvSpPr>
          <p:spPr>
            <a:xfrm flipH="false" flipV="false" rot="0">
              <a:off x="0" y="0"/>
              <a:ext cx="130033" cy="135299"/>
            </a:xfrm>
            <a:custGeom>
              <a:avLst/>
              <a:gdLst/>
              <a:ahLst/>
              <a:cxnLst/>
              <a:rect r="r" b="b" t="t" l="l"/>
              <a:pathLst>
                <a:path h="135299" w="130033">
                  <a:moveTo>
                    <a:pt x="0" y="0"/>
                  </a:moveTo>
                  <a:lnTo>
                    <a:pt x="130033" y="0"/>
                  </a:lnTo>
                  <a:lnTo>
                    <a:pt x="130033" y="135299"/>
                  </a:lnTo>
                  <a:lnTo>
                    <a:pt x="0" y="135299"/>
                  </a:lnTo>
                  <a:close/>
                </a:path>
              </a:pathLst>
            </a:custGeom>
            <a:gradFill rotWithShape="true">
              <a:gsLst>
                <a:gs pos="0">
                  <a:srgbClr val="C08846">
                    <a:alpha val="100000"/>
                  </a:srgbClr>
                </a:gs>
                <a:gs pos="100000">
                  <a:srgbClr val="FFC87B">
                    <a:alpha val="100000"/>
                  </a:srgbClr>
                </a:gs>
              </a:gsLst>
              <a:lin ang="5400000"/>
            </a:gradFill>
          </p:spPr>
        </p:sp>
        <p:sp>
          <p:nvSpPr>
            <p:cNvPr name="TextBox 17" id="17"/>
            <p:cNvSpPr txBox="true"/>
            <p:nvPr/>
          </p:nvSpPr>
          <p:spPr>
            <a:xfrm>
              <a:off x="0" y="-38100"/>
              <a:ext cx="130033" cy="173399"/>
            </a:xfrm>
            <a:prstGeom prst="rect">
              <a:avLst/>
            </a:prstGeom>
          </p:spPr>
          <p:txBody>
            <a:bodyPr anchor="ctr" rtlCol="false" tIns="50800" lIns="50800" bIns="50800" rIns="50800"/>
            <a:lstStyle/>
            <a:p>
              <a:pPr algn="ctr">
                <a:lnSpc>
                  <a:spcPts val="2659"/>
                </a:lnSpc>
              </a:pPr>
            </a:p>
          </p:txBody>
        </p:sp>
      </p:grpSp>
      <p:sp>
        <p:nvSpPr>
          <p:cNvPr name="Freeform 18" id="18"/>
          <p:cNvSpPr/>
          <p:nvPr/>
        </p:nvSpPr>
        <p:spPr>
          <a:xfrm flipH="false" flipV="false" rot="0">
            <a:off x="7223652" y="4703950"/>
            <a:ext cx="4784651" cy="4114800"/>
          </a:xfrm>
          <a:custGeom>
            <a:avLst/>
            <a:gdLst/>
            <a:ahLst/>
            <a:cxnLst/>
            <a:rect r="r" b="b" t="t" l="l"/>
            <a:pathLst>
              <a:path h="4114800" w="4784651">
                <a:moveTo>
                  <a:pt x="0" y="0"/>
                </a:moveTo>
                <a:lnTo>
                  <a:pt x="4784651" y="0"/>
                </a:lnTo>
                <a:lnTo>
                  <a:pt x="4784651"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9" id="19"/>
          <p:cNvSpPr txBox="true"/>
          <p:nvPr/>
        </p:nvSpPr>
        <p:spPr>
          <a:xfrm rot="0">
            <a:off x="1028700" y="363095"/>
            <a:ext cx="8850302" cy="646430"/>
          </a:xfrm>
          <a:prstGeom prst="rect">
            <a:avLst/>
          </a:prstGeom>
        </p:spPr>
        <p:txBody>
          <a:bodyPr anchor="t" rtlCol="false" tIns="0" lIns="0" bIns="0" rIns="0">
            <a:spAutoFit/>
          </a:bodyPr>
          <a:lstStyle/>
          <a:p>
            <a:pPr algn="l">
              <a:lnSpc>
                <a:spcPts val="5319"/>
              </a:lnSpc>
              <a:spcBef>
                <a:spcPct val="0"/>
              </a:spcBef>
            </a:pPr>
            <a:r>
              <a:rPr lang="en-US" b="true" sz="3799" i="true">
                <a:solidFill>
                  <a:srgbClr val="061647"/>
                </a:solidFill>
                <a:latin typeface="Proxima Nova Heavy Italics"/>
                <a:ea typeface="Proxima Nova Heavy Italics"/>
                <a:cs typeface="Proxima Nova Heavy Italics"/>
                <a:sym typeface="Proxima Nova Heavy Italics"/>
              </a:rPr>
              <a:t>GIỚI THIỆU ĐỀ TÀI &amp; MỤC TIÊU</a:t>
            </a:r>
          </a:p>
        </p:txBody>
      </p:sp>
      <p:sp>
        <p:nvSpPr>
          <p:cNvPr name="TextBox 20" id="20"/>
          <p:cNvSpPr txBox="true"/>
          <p:nvPr/>
        </p:nvSpPr>
        <p:spPr>
          <a:xfrm rot="0">
            <a:off x="512011" y="4764501"/>
            <a:ext cx="6519744" cy="3453130"/>
          </a:xfrm>
          <a:prstGeom prst="rect">
            <a:avLst/>
          </a:prstGeom>
        </p:spPr>
        <p:txBody>
          <a:bodyPr anchor="t" rtlCol="false" tIns="0" lIns="0" bIns="0" rIns="0">
            <a:spAutoFit/>
          </a:bodyPr>
          <a:lstStyle/>
          <a:p>
            <a:pPr algn="l" marL="604523" indent="-302261" lvl="1">
              <a:lnSpc>
                <a:spcPts val="3920"/>
              </a:lnSpc>
              <a:buFont typeface="Arial"/>
              <a:buChar char="•"/>
            </a:pPr>
            <a:r>
              <a:rPr lang="en-US" b="true" sz="2800">
                <a:solidFill>
                  <a:srgbClr val="FFFFFF"/>
                </a:solidFill>
                <a:latin typeface="Proxima Nova Bold"/>
                <a:ea typeface="Proxima Nova Bold"/>
                <a:cs typeface="Proxima Nova Bold"/>
                <a:sym typeface="Proxima Nova Bold"/>
              </a:rPr>
              <a:t>Vấn đề đặt ra:</a:t>
            </a:r>
          </a:p>
          <a:p>
            <a:pPr algn="l" marL="604523" indent="-302261" lvl="1">
              <a:lnSpc>
                <a:spcPts val="3920"/>
              </a:lnSpc>
              <a:buFont typeface="Arial"/>
              <a:buChar char="•"/>
            </a:pPr>
            <a:r>
              <a:rPr lang="en-US" b="true" sz="2800">
                <a:solidFill>
                  <a:srgbClr val="FFFFFF"/>
                </a:solidFill>
                <a:latin typeface="Proxima Nova Bold"/>
                <a:ea typeface="Proxima Nova Bold"/>
                <a:cs typeface="Proxima Nova Bold"/>
                <a:sym typeface="Proxima Nova Bold"/>
              </a:rPr>
              <a:t>Mật khẩu truyền thống dễ bị lộ, khó nhớ và tiềm ẩn nguy cơ tấn công giả mạo (phishing).</a:t>
            </a:r>
          </a:p>
          <a:p>
            <a:pPr algn="l" marL="604523" indent="-302261" lvl="1">
              <a:lnSpc>
                <a:spcPts val="3920"/>
              </a:lnSpc>
              <a:buFont typeface="Arial"/>
              <a:buChar char="•"/>
            </a:pPr>
            <a:r>
              <a:rPr lang="en-US" b="true" sz="2800">
                <a:solidFill>
                  <a:srgbClr val="FFFFFF"/>
                </a:solidFill>
                <a:latin typeface="Proxima Nova Bold"/>
                <a:ea typeface="Proxima Nova Bold"/>
                <a:cs typeface="Proxima Nova Bold"/>
                <a:sym typeface="Proxima Nova Bold"/>
              </a:rPr>
              <a:t>Ứng dụng di động hiện đại đòi hỏi phươ</a:t>
            </a:r>
            <a:r>
              <a:rPr lang="en-US" b="true" sz="2800">
                <a:solidFill>
                  <a:srgbClr val="FFFFFF"/>
                </a:solidFill>
                <a:latin typeface="Proxima Nova Bold"/>
                <a:ea typeface="Proxima Nova Bold"/>
                <a:cs typeface="Proxima Nova Bold"/>
                <a:sym typeface="Proxima Nova Bold"/>
              </a:rPr>
              <a:t>ng thức đăng nhập vừa an toàn tuyệt đối, vừa tiện lợi (1 chạm).</a:t>
            </a:r>
          </a:p>
        </p:txBody>
      </p:sp>
      <p:sp>
        <p:nvSpPr>
          <p:cNvPr name="TextBox 21" id="21"/>
          <p:cNvSpPr txBox="true"/>
          <p:nvPr/>
        </p:nvSpPr>
        <p:spPr>
          <a:xfrm rot="0">
            <a:off x="12198803" y="4758560"/>
            <a:ext cx="5497249" cy="3948430"/>
          </a:xfrm>
          <a:prstGeom prst="rect">
            <a:avLst/>
          </a:prstGeom>
        </p:spPr>
        <p:txBody>
          <a:bodyPr anchor="t" rtlCol="false" tIns="0" lIns="0" bIns="0" rIns="0">
            <a:spAutoFit/>
          </a:bodyPr>
          <a:lstStyle/>
          <a:p>
            <a:pPr algn="l" marL="604523" indent="-302261" lvl="1">
              <a:lnSpc>
                <a:spcPts val="3920"/>
              </a:lnSpc>
              <a:buFont typeface="Arial"/>
              <a:buChar char="•"/>
            </a:pPr>
            <a:r>
              <a:rPr lang="en-US" b="true" sz="2800">
                <a:solidFill>
                  <a:srgbClr val="FFFFFF"/>
                </a:solidFill>
                <a:latin typeface="Proxima Nova Bold"/>
                <a:ea typeface="Proxima Nova Bold"/>
                <a:cs typeface="Proxima Nova Bold"/>
                <a:sym typeface="Proxima Nova Bold"/>
              </a:rPr>
              <a:t>Mục tiêu giải quyết:</a:t>
            </a:r>
          </a:p>
          <a:p>
            <a:pPr algn="l" marL="604523" indent="-302261" lvl="1">
              <a:lnSpc>
                <a:spcPts val="3920"/>
              </a:lnSpc>
              <a:buFont typeface="Arial"/>
              <a:buChar char="•"/>
            </a:pPr>
            <a:r>
              <a:rPr lang="en-US" b="true" sz="2800">
                <a:solidFill>
                  <a:srgbClr val="FFFFFF"/>
                </a:solidFill>
                <a:latin typeface="Proxima Nova Bold"/>
                <a:ea typeface="Proxima Nova Bold"/>
                <a:cs typeface="Proxima Nova Bold"/>
                <a:sym typeface="Proxima Nova Bold"/>
              </a:rPr>
              <a:t>Triển khai giải pháp xác thực sinh trắc học cục bộ (Vân tay / Face ID) trên</a:t>
            </a:r>
            <a:r>
              <a:rPr lang="en-US" b="true" sz="2800">
                <a:solidFill>
                  <a:srgbClr val="FFFFFF"/>
                </a:solidFill>
                <a:latin typeface="Proxima Nova Bold"/>
                <a:ea typeface="Proxima Nova Bold"/>
                <a:cs typeface="Proxima Nova Bold"/>
                <a:sym typeface="Proxima Nova Bold"/>
              </a:rPr>
              <a:t> Flutter.</a:t>
            </a:r>
          </a:p>
          <a:p>
            <a:pPr algn="l" marL="604523" indent="-302261" lvl="1">
              <a:lnSpc>
                <a:spcPts val="3920"/>
              </a:lnSpc>
              <a:buFont typeface="Arial"/>
              <a:buChar char="•"/>
            </a:pPr>
            <a:r>
              <a:rPr lang="en-US" b="true" sz="2800">
                <a:solidFill>
                  <a:srgbClr val="FFFFFF"/>
                </a:solidFill>
                <a:latin typeface="Proxima Nova Bold"/>
                <a:ea typeface="Proxima Nova Bold"/>
                <a:cs typeface="Proxima Nova Bold"/>
                <a:sym typeface="Proxima Nova Bold"/>
              </a:rPr>
              <a:t>Mã hóa khóa bảo mật trực tiếp vào phần cứng an toàn của thiết bị (Android KeyStore).</a:t>
            </a:r>
          </a:p>
        </p:txBody>
      </p:sp>
      <p:sp>
        <p:nvSpPr>
          <p:cNvPr name="Freeform 22" id="22"/>
          <p:cNvSpPr/>
          <p:nvPr/>
        </p:nvSpPr>
        <p:spPr>
          <a:xfrm flipH="false" flipV="false" rot="0">
            <a:off x="13924628" y="0"/>
            <a:ext cx="4325936" cy="1387003"/>
          </a:xfrm>
          <a:custGeom>
            <a:avLst/>
            <a:gdLst/>
            <a:ahLst/>
            <a:cxnLst/>
            <a:rect r="r" b="b" t="t" l="l"/>
            <a:pathLst>
              <a:path h="1387003" w="4325936">
                <a:moveTo>
                  <a:pt x="0" y="0"/>
                </a:moveTo>
                <a:lnTo>
                  <a:pt x="4325935" y="0"/>
                </a:lnTo>
                <a:lnTo>
                  <a:pt x="4325935" y="1387003"/>
                </a:lnTo>
                <a:lnTo>
                  <a:pt x="0" y="1387003"/>
                </a:lnTo>
                <a:lnTo>
                  <a:pt x="0" y="0"/>
                </a:lnTo>
                <a:close/>
              </a:path>
            </a:pathLst>
          </a:custGeom>
          <a:blipFill>
            <a:blip r:embed="rId5"/>
            <a:stretch>
              <a:fillRect l="0" t="0" r="0" b="0"/>
            </a:stretch>
          </a:blipFill>
        </p:spPr>
      </p:sp>
    </p:spTree>
  </p:cSld>
  <p:clrMapOvr>
    <a:masterClrMapping/>
  </p:clrMapOvr>
  <p:transition spd="fast">
    <p:circle/>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5FCFF"/>
        </a:solidFill>
      </p:bgPr>
    </p:bg>
    <p:spTree>
      <p:nvGrpSpPr>
        <p:cNvPr id="1" name=""/>
        <p:cNvGrpSpPr/>
        <p:nvPr/>
      </p:nvGrpSpPr>
      <p:grpSpPr>
        <a:xfrm>
          <a:off x="0" y="0"/>
          <a:ext cx="0" cy="0"/>
          <a:chOff x="0" y="0"/>
          <a:chExt cx="0" cy="0"/>
        </a:xfrm>
      </p:grpSpPr>
      <p:sp>
        <p:nvSpPr>
          <p:cNvPr name="Freeform 2" id="2"/>
          <p:cNvSpPr/>
          <p:nvPr/>
        </p:nvSpPr>
        <p:spPr>
          <a:xfrm flipH="false" flipV="false" rot="0">
            <a:off x="-189806" y="-1570622"/>
            <a:ext cx="18719200" cy="10452711"/>
          </a:xfrm>
          <a:custGeom>
            <a:avLst/>
            <a:gdLst/>
            <a:ahLst/>
            <a:cxnLst/>
            <a:rect r="r" b="b" t="t" l="l"/>
            <a:pathLst>
              <a:path h="10452711" w="18719200">
                <a:moveTo>
                  <a:pt x="0" y="0"/>
                </a:moveTo>
                <a:lnTo>
                  <a:pt x="18719200" y="0"/>
                </a:lnTo>
                <a:lnTo>
                  <a:pt x="18719200" y="10452712"/>
                </a:lnTo>
                <a:lnTo>
                  <a:pt x="0" y="10452712"/>
                </a:lnTo>
                <a:lnTo>
                  <a:pt x="0" y="0"/>
                </a:lnTo>
                <a:close/>
              </a:path>
            </a:pathLst>
          </a:custGeom>
          <a:blipFill>
            <a:blip r:embed="rId2"/>
            <a:stretch>
              <a:fillRect l="0" t="0" r="0" b="-19427"/>
            </a:stretch>
          </a:blipFill>
        </p:spPr>
      </p:sp>
      <p:grpSp>
        <p:nvGrpSpPr>
          <p:cNvPr name="Group 3" id="3"/>
          <p:cNvGrpSpPr/>
          <p:nvPr/>
        </p:nvGrpSpPr>
        <p:grpSpPr>
          <a:xfrm rot="0">
            <a:off x="-189806" y="-202673"/>
            <a:ext cx="18719200" cy="1431252"/>
            <a:chOff x="0" y="0"/>
            <a:chExt cx="4930160" cy="376955"/>
          </a:xfrm>
        </p:grpSpPr>
        <p:sp>
          <p:nvSpPr>
            <p:cNvPr name="Freeform 4" id="4"/>
            <p:cNvSpPr/>
            <p:nvPr/>
          </p:nvSpPr>
          <p:spPr>
            <a:xfrm flipH="false" flipV="false" rot="0">
              <a:off x="0" y="0"/>
              <a:ext cx="4930160" cy="376955"/>
            </a:xfrm>
            <a:custGeom>
              <a:avLst/>
              <a:gdLst/>
              <a:ahLst/>
              <a:cxnLst/>
              <a:rect r="r" b="b" t="t" l="l"/>
              <a:pathLst>
                <a:path h="376955" w="4930160">
                  <a:moveTo>
                    <a:pt x="0" y="0"/>
                  </a:moveTo>
                  <a:lnTo>
                    <a:pt x="4930160" y="0"/>
                  </a:lnTo>
                  <a:lnTo>
                    <a:pt x="4930160" y="376955"/>
                  </a:lnTo>
                  <a:lnTo>
                    <a:pt x="0" y="376955"/>
                  </a:lnTo>
                  <a:close/>
                </a:path>
              </a:pathLst>
            </a:custGeom>
            <a:solidFill>
              <a:srgbClr val="FFFFFF"/>
            </a:solidFill>
          </p:spPr>
        </p:sp>
        <p:sp>
          <p:nvSpPr>
            <p:cNvPr name="TextBox 5" id="5"/>
            <p:cNvSpPr txBox="true"/>
            <p:nvPr/>
          </p:nvSpPr>
          <p:spPr>
            <a:xfrm>
              <a:off x="0" y="-38100"/>
              <a:ext cx="4930160" cy="415055"/>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392288" y="1421272"/>
            <a:ext cx="12630651" cy="5688103"/>
            <a:chOff x="0" y="0"/>
            <a:chExt cx="3326591" cy="1498101"/>
          </a:xfrm>
        </p:grpSpPr>
        <p:sp>
          <p:nvSpPr>
            <p:cNvPr name="Freeform 7" id="7"/>
            <p:cNvSpPr/>
            <p:nvPr/>
          </p:nvSpPr>
          <p:spPr>
            <a:xfrm flipH="false" flipV="false" rot="0">
              <a:off x="0" y="0"/>
              <a:ext cx="3326591" cy="1498101"/>
            </a:xfrm>
            <a:custGeom>
              <a:avLst/>
              <a:gdLst/>
              <a:ahLst/>
              <a:cxnLst/>
              <a:rect r="r" b="b" t="t" l="l"/>
              <a:pathLst>
                <a:path h="1498101" w="3326591">
                  <a:moveTo>
                    <a:pt x="31260" y="0"/>
                  </a:moveTo>
                  <a:lnTo>
                    <a:pt x="3295331" y="0"/>
                  </a:lnTo>
                  <a:cubicBezTo>
                    <a:pt x="3312595" y="0"/>
                    <a:pt x="3326591" y="13996"/>
                    <a:pt x="3326591" y="31260"/>
                  </a:cubicBezTo>
                  <a:lnTo>
                    <a:pt x="3326591" y="1466841"/>
                  </a:lnTo>
                  <a:cubicBezTo>
                    <a:pt x="3326591" y="1484105"/>
                    <a:pt x="3312595" y="1498101"/>
                    <a:pt x="3295331" y="1498101"/>
                  </a:cubicBezTo>
                  <a:lnTo>
                    <a:pt x="31260" y="1498101"/>
                  </a:lnTo>
                  <a:cubicBezTo>
                    <a:pt x="13996" y="1498101"/>
                    <a:pt x="0" y="1484105"/>
                    <a:pt x="0" y="1466841"/>
                  </a:cubicBezTo>
                  <a:lnTo>
                    <a:pt x="0" y="31260"/>
                  </a:lnTo>
                  <a:cubicBezTo>
                    <a:pt x="0" y="13996"/>
                    <a:pt x="13996" y="0"/>
                    <a:pt x="31260" y="0"/>
                  </a:cubicBezTo>
                  <a:close/>
                </a:path>
              </a:pathLst>
            </a:custGeom>
            <a:gradFill rotWithShape="true">
              <a:gsLst>
                <a:gs pos="0">
                  <a:srgbClr val="235BBB">
                    <a:alpha val="100000"/>
                  </a:srgbClr>
                </a:gs>
                <a:gs pos="100000">
                  <a:srgbClr val="347FFF">
                    <a:alpha val="100000"/>
                  </a:srgbClr>
                </a:gs>
              </a:gsLst>
              <a:lin ang="5400000"/>
            </a:gradFill>
            <a:ln w="38100" cap="rnd">
              <a:solidFill>
                <a:srgbClr val="FFFFFF"/>
              </a:solidFill>
              <a:prstDash val="solid"/>
              <a:round/>
            </a:ln>
          </p:spPr>
        </p:sp>
        <p:sp>
          <p:nvSpPr>
            <p:cNvPr name="TextBox 8" id="8"/>
            <p:cNvSpPr txBox="true"/>
            <p:nvPr/>
          </p:nvSpPr>
          <p:spPr>
            <a:xfrm>
              <a:off x="0" y="-38100"/>
              <a:ext cx="3326591" cy="153620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89806" y="439295"/>
            <a:ext cx="347972" cy="513715"/>
            <a:chOff x="0" y="0"/>
            <a:chExt cx="91647" cy="135299"/>
          </a:xfrm>
        </p:grpSpPr>
        <p:sp>
          <p:nvSpPr>
            <p:cNvPr name="Freeform 10" id="10"/>
            <p:cNvSpPr/>
            <p:nvPr/>
          </p:nvSpPr>
          <p:spPr>
            <a:xfrm flipH="false" flipV="false" rot="0">
              <a:off x="0" y="0"/>
              <a:ext cx="91647" cy="135299"/>
            </a:xfrm>
            <a:custGeom>
              <a:avLst/>
              <a:gdLst/>
              <a:ahLst/>
              <a:cxnLst/>
              <a:rect r="r" b="b" t="t" l="l"/>
              <a:pathLst>
                <a:path h="135299" w="91647">
                  <a:moveTo>
                    <a:pt x="0" y="0"/>
                  </a:moveTo>
                  <a:lnTo>
                    <a:pt x="91647" y="0"/>
                  </a:lnTo>
                  <a:lnTo>
                    <a:pt x="91647" y="135299"/>
                  </a:lnTo>
                  <a:lnTo>
                    <a:pt x="0" y="135299"/>
                  </a:lnTo>
                  <a:close/>
                </a:path>
              </a:pathLst>
            </a:custGeom>
            <a:solidFill>
              <a:srgbClr val="3065CB"/>
            </a:solidFill>
          </p:spPr>
        </p:sp>
        <p:sp>
          <p:nvSpPr>
            <p:cNvPr name="TextBox 11" id="11"/>
            <p:cNvSpPr txBox="true"/>
            <p:nvPr/>
          </p:nvSpPr>
          <p:spPr>
            <a:xfrm>
              <a:off x="0" y="-38100"/>
              <a:ext cx="91647" cy="173399"/>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265152" y="439295"/>
            <a:ext cx="493718" cy="513715"/>
            <a:chOff x="0" y="0"/>
            <a:chExt cx="130033" cy="135299"/>
          </a:xfrm>
        </p:grpSpPr>
        <p:sp>
          <p:nvSpPr>
            <p:cNvPr name="Freeform 13" id="13"/>
            <p:cNvSpPr/>
            <p:nvPr/>
          </p:nvSpPr>
          <p:spPr>
            <a:xfrm flipH="false" flipV="false" rot="0">
              <a:off x="0" y="0"/>
              <a:ext cx="130033" cy="135299"/>
            </a:xfrm>
            <a:custGeom>
              <a:avLst/>
              <a:gdLst/>
              <a:ahLst/>
              <a:cxnLst/>
              <a:rect r="r" b="b" t="t" l="l"/>
              <a:pathLst>
                <a:path h="135299" w="130033">
                  <a:moveTo>
                    <a:pt x="0" y="0"/>
                  </a:moveTo>
                  <a:lnTo>
                    <a:pt x="130033" y="0"/>
                  </a:lnTo>
                  <a:lnTo>
                    <a:pt x="130033" y="135299"/>
                  </a:lnTo>
                  <a:lnTo>
                    <a:pt x="0" y="135299"/>
                  </a:lnTo>
                  <a:close/>
                </a:path>
              </a:pathLst>
            </a:custGeom>
            <a:gradFill rotWithShape="true">
              <a:gsLst>
                <a:gs pos="0">
                  <a:srgbClr val="C08846">
                    <a:alpha val="100000"/>
                  </a:srgbClr>
                </a:gs>
                <a:gs pos="100000">
                  <a:srgbClr val="FFC87B">
                    <a:alpha val="100000"/>
                  </a:srgbClr>
                </a:gs>
              </a:gsLst>
              <a:lin ang="5400000"/>
            </a:gradFill>
          </p:spPr>
        </p:sp>
        <p:sp>
          <p:nvSpPr>
            <p:cNvPr name="TextBox 14" id="14"/>
            <p:cNvSpPr txBox="true"/>
            <p:nvPr/>
          </p:nvSpPr>
          <p:spPr>
            <a:xfrm>
              <a:off x="0" y="-38100"/>
              <a:ext cx="130033" cy="173399"/>
            </a:xfrm>
            <a:prstGeom prst="rect">
              <a:avLst/>
            </a:prstGeom>
          </p:spPr>
          <p:txBody>
            <a:bodyPr anchor="ctr" rtlCol="false" tIns="50800" lIns="50800" bIns="50800" rIns="50800"/>
            <a:lstStyle/>
            <a:p>
              <a:pPr algn="ctr">
                <a:lnSpc>
                  <a:spcPts val="2659"/>
                </a:lnSpc>
              </a:pPr>
            </a:p>
          </p:txBody>
        </p:sp>
      </p:grpSp>
      <p:sp>
        <p:nvSpPr>
          <p:cNvPr name="Freeform 15" id="15"/>
          <p:cNvSpPr/>
          <p:nvPr/>
        </p:nvSpPr>
        <p:spPr>
          <a:xfrm flipH="false" flipV="false" rot="0">
            <a:off x="13258094" y="5287797"/>
            <a:ext cx="9150594" cy="7869511"/>
          </a:xfrm>
          <a:custGeom>
            <a:avLst/>
            <a:gdLst/>
            <a:ahLst/>
            <a:cxnLst/>
            <a:rect r="r" b="b" t="t" l="l"/>
            <a:pathLst>
              <a:path h="7869511" w="9150594">
                <a:moveTo>
                  <a:pt x="0" y="0"/>
                </a:moveTo>
                <a:lnTo>
                  <a:pt x="9150594" y="0"/>
                </a:lnTo>
                <a:lnTo>
                  <a:pt x="9150594" y="7869511"/>
                </a:lnTo>
                <a:lnTo>
                  <a:pt x="0" y="786951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6" id="16"/>
          <p:cNvSpPr txBox="true"/>
          <p:nvPr/>
        </p:nvSpPr>
        <p:spPr>
          <a:xfrm rot="0">
            <a:off x="1028700" y="363095"/>
            <a:ext cx="8850302" cy="646430"/>
          </a:xfrm>
          <a:prstGeom prst="rect">
            <a:avLst/>
          </a:prstGeom>
        </p:spPr>
        <p:txBody>
          <a:bodyPr anchor="t" rtlCol="false" tIns="0" lIns="0" bIns="0" rIns="0">
            <a:spAutoFit/>
          </a:bodyPr>
          <a:lstStyle/>
          <a:p>
            <a:pPr algn="l">
              <a:lnSpc>
                <a:spcPts val="5319"/>
              </a:lnSpc>
              <a:spcBef>
                <a:spcPct val="0"/>
              </a:spcBef>
            </a:pPr>
            <a:r>
              <a:rPr lang="en-US" b="true" sz="3799" i="true">
                <a:solidFill>
                  <a:srgbClr val="061647"/>
                </a:solidFill>
                <a:latin typeface="Proxima Nova Heavy Italics"/>
                <a:ea typeface="Proxima Nova Heavy Italics"/>
                <a:cs typeface="Proxima Nova Heavy Italics"/>
                <a:sym typeface="Proxima Nova Heavy Italics"/>
              </a:rPr>
              <a:t>KHÁI NIỆM</a:t>
            </a:r>
          </a:p>
        </p:txBody>
      </p:sp>
      <p:sp>
        <p:nvSpPr>
          <p:cNvPr name="TextBox 17" id="17"/>
          <p:cNvSpPr txBox="true"/>
          <p:nvPr/>
        </p:nvSpPr>
        <p:spPr>
          <a:xfrm rot="0">
            <a:off x="512011" y="1930428"/>
            <a:ext cx="11717624" cy="4612640"/>
          </a:xfrm>
          <a:prstGeom prst="rect">
            <a:avLst/>
          </a:prstGeom>
        </p:spPr>
        <p:txBody>
          <a:bodyPr anchor="t" rtlCol="false" tIns="0" lIns="0" bIns="0" rIns="0">
            <a:spAutoFit/>
          </a:bodyPr>
          <a:lstStyle/>
          <a:p>
            <a:pPr algn="l" marL="626109" indent="-313054" lvl="1">
              <a:lnSpc>
                <a:spcPts val="4059"/>
              </a:lnSpc>
              <a:buFont typeface="Arial"/>
              <a:buChar char="•"/>
            </a:pPr>
            <a:r>
              <a:rPr lang="en-US" b="true" sz="2899">
                <a:solidFill>
                  <a:srgbClr val="FFFFFF"/>
                </a:solidFill>
                <a:latin typeface="Proxima Nova Bold"/>
                <a:ea typeface="Proxima Nova Bold"/>
                <a:cs typeface="Proxima Nova Bold"/>
                <a:sym typeface="Proxima Nova Bold"/>
              </a:rPr>
              <a:t>Xác thực sinh trắc học (Biometric Authentication) là công nghệ định danh hiện đại dựa trên các đặc điểm tự nhiên, duy nhất của mỗi người như vân tay, khuôn mặt hay mống mắt. Thay vì bắt người dùng phải nhớ những mật khẩu dài và phức tạp, công nghệ này chuyển đổi các đặc điểm thể chất đó thành mã bảo mật để hệ thống tự động nhận diện và kiểm tra. Nhờ vậy, người dùng có thể mở khóa thiế</a:t>
            </a:r>
            <a:r>
              <a:rPr lang="en-US" b="true" sz="2899">
                <a:solidFill>
                  <a:srgbClr val="FFFFFF"/>
                </a:solidFill>
                <a:latin typeface="Proxima Nova Bold"/>
                <a:ea typeface="Proxima Nova Bold"/>
                <a:cs typeface="Proxima Nova Bold"/>
                <a:sym typeface="Proxima Nova Bold"/>
              </a:rPr>
              <a:t>t bị hay đăng nhập ứng dụng chỉ trong chưa đầy 1 giây, vừa tiện lợi vừa hạn chế tối đa nguy cơ bị đánh cắp tài khoản hay nhìn lén mật khẩu.</a:t>
            </a:r>
          </a:p>
        </p:txBody>
      </p:sp>
      <p:sp>
        <p:nvSpPr>
          <p:cNvPr name="Freeform 18" id="18"/>
          <p:cNvSpPr/>
          <p:nvPr/>
        </p:nvSpPr>
        <p:spPr>
          <a:xfrm flipH="false" flipV="false" rot="0">
            <a:off x="13924628" y="0"/>
            <a:ext cx="4325936" cy="1387003"/>
          </a:xfrm>
          <a:custGeom>
            <a:avLst/>
            <a:gdLst/>
            <a:ahLst/>
            <a:cxnLst/>
            <a:rect r="r" b="b" t="t" l="l"/>
            <a:pathLst>
              <a:path h="1387003" w="4325936">
                <a:moveTo>
                  <a:pt x="0" y="0"/>
                </a:moveTo>
                <a:lnTo>
                  <a:pt x="4325935" y="0"/>
                </a:lnTo>
                <a:lnTo>
                  <a:pt x="4325935" y="1387003"/>
                </a:lnTo>
                <a:lnTo>
                  <a:pt x="0" y="1387003"/>
                </a:lnTo>
                <a:lnTo>
                  <a:pt x="0" y="0"/>
                </a:lnTo>
                <a:close/>
              </a:path>
            </a:pathLst>
          </a:custGeom>
          <a:blipFill>
            <a:blip r:embed="rId5"/>
            <a:stretch>
              <a:fillRect l="0" t="0" r="0" b="0"/>
            </a:stretch>
          </a:blipFill>
        </p:spPr>
      </p:sp>
    </p:spTree>
  </p:cSld>
  <p:clrMapOvr>
    <a:masterClrMapping/>
  </p:clrMapOvr>
  <p:transition spd="fast">
    <p:cover dir="rd"/>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5FCFF"/>
        </a:solidFill>
      </p:bgPr>
    </p:bg>
    <p:spTree>
      <p:nvGrpSpPr>
        <p:cNvPr id="1" name=""/>
        <p:cNvGrpSpPr/>
        <p:nvPr/>
      </p:nvGrpSpPr>
      <p:grpSpPr>
        <a:xfrm>
          <a:off x="0" y="0"/>
          <a:ext cx="0" cy="0"/>
          <a:chOff x="0" y="0"/>
          <a:chExt cx="0" cy="0"/>
        </a:xfrm>
      </p:grpSpPr>
      <p:sp>
        <p:nvSpPr>
          <p:cNvPr name="Freeform 2" id="2"/>
          <p:cNvSpPr/>
          <p:nvPr/>
        </p:nvSpPr>
        <p:spPr>
          <a:xfrm flipH="false" flipV="false" rot="0">
            <a:off x="-431200" y="512953"/>
            <a:ext cx="18719200" cy="8331971"/>
          </a:xfrm>
          <a:custGeom>
            <a:avLst/>
            <a:gdLst/>
            <a:ahLst/>
            <a:cxnLst/>
            <a:rect r="r" b="b" t="t" l="l"/>
            <a:pathLst>
              <a:path h="8331971" w="18719200">
                <a:moveTo>
                  <a:pt x="0" y="0"/>
                </a:moveTo>
                <a:lnTo>
                  <a:pt x="18719200" y="0"/>
                </a:lnTo>
                <a:lnTo>
                  <a:pt x="18719200" y="8331971"/>
                </a:lnTo>
                <a:lnTo>
                  <a:pt x="0" y="8331971"/>
                </a:lnTo>
                <a:lnTo>
                  <a:pt x="0" y="0"/>
                </a:lnTo>
                <a:close/>
              </a:path>
            </a:pathLst>
          </a:custGeom>
          <a:blipFill>
            <a:blip r:embed="rId2"/>
            <a:stretch>
              <a:fillRect l="0" t="0" r="0" b="-49824"/>
            </a:stretch>
          </a:blipFill>
        </p:spPr>
      </p:sp>
      <p:grpSp>
        <p:nvGrpSpPr>
          <p:cNvPr name="Group 3" id="3"/>
          <p:cNvGrpSpPr/>
          <p:nvPr/>
        </p:nvGrpSpPr>
        <p:grpSpPr>
          <a:xfrm rot="0">
            <a:off x="-189806" y="-202673"/>
            <a:ext cx="18719200" cy="1431252"/>
            <a:chOff x="0" y="0"/>
            <a:chExt cx="4930160" cy="376955"/>
          </a:xfrm>
        </p:grpSpPr>
        <p:sp>
          <p:nvSpPr>
            <p:cNvPr name="Freeform 4" id="4"/>
            <p:cNvSpPr/>
            <p:nvPr/>
          </p:nvSpPr>
          <p:spPr>
            <a:xfrm flipH="false" flipV="false" rot="0">
              <a:off x="0" y="0"/>
              <a:ext cx="4930160" cy="376955"/>
            </a:xfrm>
            <a:custGeom>
              <a:avLst/>
              <a:gdLst/>
              <a:ahLst/>
              <a:cxnLst/>
              <a:rect r="r" b="b" t="t" l="l"/>
              <a:pathLst>
                <a:path h="376955" w="4930160">
                  <a:moveTo>
                    <a:pt x="0" y="0"/>
                  </a:moveTo>
                  <a:lnTo>
                    <a:pt x="4930160" y="0"/>
                  </a:lnTo>
                  <a:lnTo>
                    <a:pt x="4930160" y="376955"/>
                  </a:lnTo>
                  <a:lnTo>
                    <a:pt x="0" y="376955"/>
                  </a:lnTo>
                  <a:close/>
                </a:path>
              </a:pathLst>
            </a:custGeom>
            <a:solidFill>
              <a:srgbClr val="FFFFFF"/>
            </a:solidFill>
          </p:spPr>
        </p:sp>
        <p:sp>
          <p:nvSpPr>
            <p:cNvPr name="TextBox 5" id="5"/>
            <p:cNvSpPr txBox="true"/>
            <p:nvPr/>
          </p:nvSpPr>
          <p:spPr>
            <a:xfrm>
              <a:off x="0" y="-38100"/>
              <a:ext cx="4930160" cy="415055"/>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58166" y="1487711"/>
            <a:ext cx="12630651" cy="6454172"/>
            <a:chOff x="0" y="0"/>
            <a:chExt cx="3326591" cy="1699864"/>
          </a:xfrm>
        </p:grpSpPr>
        <p:sp>
          <p:nvSpPr>
            <p:cNvPr name="Freeform 7" id="7"/>
            <p:cNvSpPr/>
            <p:nvPr/>
          </p:nvSpPr>
          <p:spPr>
            <a:xfrm flipH="false" flipV="false" rot="0">
              <a:off x="0" y="0"/>
              <a:ext cx="3326591" cy="1699864"/>
            </a:xfrm>
            <a:custGeom>
              <a:avLst/>
              <a:gdLst/>
              <a:ahLst/>
              <a:cxnLst/>
              <a:rect r="r" b="b" t="t" l="l"/>
              <a:pathLst>
                <a:path h="1699864" w="3326591">
                  <a:moveTo>
                    <a:pt x="31260" y="0"/>
                  </a:moveTo>
                  <a:lnTo>
                    <a:pt x="3295331" y="0"/>
                  </a:lnTo>
                  <a:cubicBezTo>
                    <a:pt x="3312595" y="0"/>
                    <a:pt x="3326591" y="13996"/>
                    <a:pt x="3326591" y="31260"/>
                  </a:cubicBezTo>
                  <a:lnTo>
                    <a:pt x="3326591" y="1668604"/>
                  </a:lnTo>
                  <a:cubicBezTo>
                    <a:pt x="3326591" y="1685869"/>
                    <a:pt x="3312595" y="1699864"/>
                    <a:pt x="3295331" y="1699864"/>
                  </a:cubicBezTo>
                  <a:lnTo>
                    <a:pt x="31260" y="1699864"/>
                  </a:lnTo>
                  <a:cubicBezTo>
                    <a:pt x="13996" y="1699864"/>
                    <a:pt x="0" y="1685869"/>
                    <a:pt x="0" y="1668604"/>
                  </a:cubicBezTo>
                  <a:lnTo>
                    <a:pt x="0" y="31260"/>
                  </a:lnTo>
                  <a:cubicBezTo>
                    <a:pt x="0" y="13996"/>
                    <a:pt x="13996" y="0"/>
                    <a:pt x="31260" y="0"/>
                  </a:cubicBezTo>
                  <a:close/>
                </a:path>
              </a:pathLst>
            </a:custGeom>
            <a:gradFill rotWithShape="true">
              <a:gsLst>
                <a:gs pos="0">
                  <a:srgbClr val="C08846">
                    <a:alpha val="100000"/>
                  </a:srgbClr>
                </a:gs>
                <a:gs pos="100000">
                  <a:srgbClr val="FFC87B">
                    <a:alpha val="100000"/>
                  </a:srgbClr>
                </a:gs>
              </a:gsLst>
              <a:lin ang="5400000"/>
            </a:gradFill>
            <a:ln w="38100" cap="rnd">
              <a:solidFill>
                <a:srgbClr val="FFFFFF"/>
              </a:solidFill>
              <a:prstDash val="solid"/>
              <a:round/>
            </a:ln>
          </p:spPr>
        </p:sp>
        <p:sp>
          <p:nvSpPr>
            <p:cNvPr name="TextBox 8" id="8"/>
            <p:cNvSpPr txBox="true"/>
            <p:nvPr/>
          </p:nvSpPr>
          <p:spPr>
            <a:xfrm>
              <a:off x="0" y="-38100"/>
              <a:ext cx="3326591" cy="1737964"/>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89806" y="439295"/>
            <a:ext cx="347972" cy="513715"/>
            <a:chOff x="0" y="0"/>
            <a:chExt cx="91647" cy="135299"/>
          </a:xfrm>
        </p:grpSpPr>
        <p:sp>
          <p:nvSpPr>
            <p:cNvPr name="Freeform 10" id="10"/>
            <p:cNvSpPr/>
            <p:nvPr/>
          </p:nvSpPr>
          <p:spPr>
            <a:xfrm flipH="false" flipV="false" rot="0">
              <a:off x="0" y="0"/>
              <a:ext cx="91647" cy="135299"/>
            </a:xfrm>
            <a:custGeom>
              <a:avLst/>
              <a:gdLst/>
              <a:ahLst/>
              <a:cxnLst/>
              <a:rect r="r" b="b" t="t" l="l"/>
              <a:pathLst>
                <a:path h="135299" w="91647">
                  <a:moveTo>
                    <a:pt x="0" y="0"/>
                  </a:moveTo>
                  <a:lnTo>
                    <a:pt x="91647" y="0"/>
                  </a:lnTo>
                  <a:lnTo>
                    <a:pt x="91647" y="135299"/>
                  </a:lnTo>
                  <a:lnTo>
                    <a:pt x="0" y="135299"/>
                  </a:lnTo>
                  <a:close/>
                </a:path>
              </a:pathLst>
            </a:custGeom>
            <a:solidFill>
              <a:srgbClr val="3065CB"/>
            </a:solidFill>
          </p:spPr>
        </p:sp>
        <p:sp>
          <p:nvSpPr>
            <p:cNvPr name="TextBox 11" id="11"/>
            <p:cNvSpPr txBox="true"/>
            <p:nvPr/>
          </p:nvSpPr>
          <p:spPr>
            <a:xfrm>
              <a:off x="0" y="-38100"/>
              <a:ext cx="91647" cy="173399"/>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265152" y="439295"/>
            <a:ext cx="493718" cy="513715"/>
            <a:chOff x="0" y="0"/>
            <a:chExt cx="130033" cy="135299"/>
          </a:xfrm>
        </p:grpSpPr>
        <p:sp>
          <p:nvSpPr>
            <p:cNvPr name="Freeform 13" id="13"/>
            <p:cNvSpPr/>
            <p:nvPr/>
          </p:nvSpPr>
          <p:spPr>
            <a:xfrm flipH="false" flipV="false" rot="0">
              <a:off x="0" y="0"/>
              <a:ext cx="130033" cy="135299"/>
            </a:xfrm>
            <a:custGeom>
              <a:avLst/>
              <a:gdLst/>
              <a:ahLst/>
              <a:cxnLst/>
              <a:rect r="r" b="b" t="t" l="l"/>
              <a:pathLst>
                <a:path h="135299" w="130033">
                  <a:moveTo>
                    <a:pt x="0" y="0"/>
                  </a:moveTo>
                  <a:lnTo>
                    <a:pt x="130033" y="0"/>
                  </a:lnTo>
                  <a:lnTo>
                    <a:pt x="130033" y="135299"/>
                  </a:lnTo>
                  <a:lnTo>
                    <a:pt x="0" y="135299"/>
                  </a:lnTo>
                  <a:close/>
                </a:path>
              </a:pathLst>
            </a:custGeom>
            <a:gradFill rotWithShape="true">
              <a:gsLst>
                <a:gs pos="0">
                  <a:srgbClr val="C08846">
                    <a:alpha val="100000"/>
                  </a:srgbClr>
                </a:gs>
                <a:gs pos="100000">
                  <a:srgbClr val="FFC87B">
                    <a:alpha val="100000"/>
                  </a:srgbClr>
                </a:gs>
              </a:gsLst>
              <a:lin ang="5400000"/>
            </a:gradFill>
          </p:spPr>
        </p:sp>
        <p:sp>
          <p:nvSpPr>
            <p:cNvPr name="TextBox 14" id="14"/>
            <p:cNvSpPr txBox="true"/>
            <p:nvPr/>
          </p:nvSpPr>
          <p:spPr>
            <a:xfrm>
              <a:off x="0" y="-38100"/>
              <a:ext cx="130033" cy="173399"/>
            </a:xfrm>
            <a:prstGeom prst="rect">
              <a:avLst/>
            </a:prstGeom>
          </p:spPr>
          <p:txBody>
            <a:bodyPr anchor="ctr" rtlCol="false" tIns="50800" lIns="50800" bIns="50800" rIns="50800"/>
            <a:lstStyle/>
            <a:p>
              <a:pPr algn="ctr">
                <a:lnSpc>
                  <a:spcPts val="2659"/>
                </a:lnSpc>
              </a:pPr>
            </a:p>
          </p:txBody>
        </p:sp>
      </p:grpSp>
      <p:sp>
        <p:nvSpPr>
          <p:cNvPr name="Freeform 15" id="15"/>
          <p:cNvSpPr/>
          <p:nvPr/>
        </p:nvSpPr>
        <p:spPr>
          <a:xfrm flipH="false" flipV="false" rot="0">
            <a:off x="13258094" y="5287797"/>
            <a:ext cx="9150594" cy="7869511"/>
          </a:xfrm>
          <a:custGeom>
            <a:avLst/>
            <a:gdLst/>
            <a:ahLst/>
            <a:cxnLst/>
            <a:rect r="r" b="b" t="t" l="l"/>
            <a:pathLst>
              <a:path h="7869511" w="9150594">
                <a:moveTo>
                  <a:pt x="0" y="0"/>
                </a:moveTo>
                <a:lnTo>
                  <a:pt x="9150594" y="0"/>
                </a:lnTo>
                <a:lnTo>
                  <a:pt x="9150594" y="7869511"/>
                </a:lnTo>
                <a:lnTo>
                  <a:pt x="0" y="786951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6" id="16"/>
          <p:cNvSpPr txBox="true"/>
          <p:nvPr/>
        </p:nvSpPr>
        <p:spPr>
          <a:xfrm rot="0">
            <a:off x="1028700" y="382145"/>
            <a:ext cx="8850302" cy="570865"/>
          </a:xfrm>
          <a:prstGeom prst="rect">
            <a:avLst/>
          </a:prstGeom>
        </p:spPr>
        <p:txBody>
          <a:bodyPr anchor="t" rtlCol="false" tIns="0" lIns="0" bIns="0" rIns="0">
            <a:spAutoFit/>
          </a:bodyPr>
          <a:lstStyle/>
          <a:p>
            <a:pPr algn="l">
              <a:lnSpc>
                <a:spcPts val="4759"/>
              </a:lnSpc>
              <a:spcBef>
                <a:spcPct val="0"/>
              </a:spcBef>
            </a:pPr>
            <a:r>
              <a:rPr lang="en-US" b="true" sz="3399" i="true">
                <a:solidFill>
                  <a:srgbClr val="061647"/>
                </a:solidFill>
                <a:latin typeface="Proxima Nova Bold Italics"/>
                <a:ea typeface="Proxima Nova Bold Italics"/>
                <a:cs typeface="Proxima Nova Bold Italics"/>
                <a:sym typeface="Proxima Nova Bold Italics"/>
              </a:rPr>
              <a:t>ỨNG DỤNG</a:t>
            </a:r>
          </a:p>
        </p:txBody>
      </p:sp>
      <p:sp>
        <p:nvSpPr>
          <p:cNvPr name="TextBox 17" id="17"/>
          <p:cNvSpPr txBox="true"/>
          <p:nvPr/>
        </p:nvSpPr>
        <p:spPr>
          <a:xfrm rot="0">
            <a:off x="512011" y="1933198"/>
            <a:ext cx="11717624" cy="5434330"/>
          </a:xfrm>
          <a:prstGeom prst="rect">
            <a:avLst/>
          </a:prstGeom>
        </p:spPr>
        <p:txBody>
          <a:bodyPr anchor="t" rtlCol="false" tIns="0" lIns="0" bIns="0" rIns="0">
            <a:spAutoFit/>
          </a:bodyPr>
          <a:lstStyle/>
          <a:p>
            <a:pPr algn="l" marL="604519" indent="-302260" lvl="1">
              <a:lnSpc>
                <a:spcPts val="3919"/>
              </a:lnSpc>
              <a:buFont typeface="Arial"/>
              <a:buChar char="•"/>
            </a:pPr>
            <a:r>
              <a:rPr lang="en-US" b="true" sz="2799">
                <a:solidFill>
                  <a:srgbClr val="FFFFFF"/>
                </a:solidFill>
                <a:latin typeface="Proxima Nova Bold"/>
                <a:ea typeface="Proxima Nova Bold"/>
                <a:cs typeface="Proxima Nova Bold"/>
                <a:sym typeface="Proxima Nova Bold"/>
              </a:rPr>
              <a:t>Sinh trắc học được ứng dụng trực tiếp vào các việc thực tế sau:</a:t>
            </a:r>
          </a:p>
          <a:p>
            <a:pPr algn="l" marL="604519" indent="-302260" lvl="1">
              <a:lnSpc>
                <a:spcPts val="3919"/>
              </a:lnSpc>
              <a:buFont typeface="Arial"/>
              <a:buChar char="•"/>
            </a:pPr>
            <a:r>
              <a:rPr lang="en-US" b="true" sz="2799">
                <a:solidFill>
                  <a:srgbClr val="FFFFFF"/>
                </a:solidFill>
                <a:latin typeface="Proxima Nova Bold"/>
                <a:ea typeface="Proxima Nova Bold"/>
                <a:cs typeface="Proxima Nova Bold"/>
                <a:sym typeface="Proxima Nova Bold"/>
              </a:rPr>
              <a:t>Tài chính &amp; Ngân hàng: Xác thực chuyển tiền, đăng nhập ứng dụng ví điện tử/ngân hàng và thanh toán trực tuyến bằng vân tay hoặc Face ID.</a:t>
            </a:r>
          </a:p>
          <a:p>
            <a:pPr algn="l" marL="604519" indent="-302260" lvl="1">
              <a:lnSpc>
                <a:spcPts val="3919"/>
              </a:lnSpc>
              <a:buFont typeface="Arial"/>
              <a:buChar char="•"/>
            </a:pPr>
            <a:r>
              <a:rPr lang="en-US" b="true" sz="2799">
                <a:solidFill>
                  <a:srgbClr val="FFFFFF"/>
                </a:solidFill>
                <a:latin typeface="Proxima Nova Bold"/>
                <a:ea typeface="Proxima Nova Bold"/>
                <a:cs typeface="Proxima Nova Bold"/>
                <a:sym typeface="Proxima Nova Bold"/>
              </a:rPr>
              <a:t>Thiết bị di động: Mở khóa điện thoại, máy tính bảng và tự động điền mật khẩu/xác thực tải ứng dụng.</a:t>
            </a:r>
          </a:p>
          <a:p>
            <a:pPr algn="l" marL="604519" indent="-302260" lvl="1">
              <a:lnSpc>
                <a:spcPts val="3919"/>
              </a:lnSpc>
              <a:buFont typeface="Arial"/>
              <a:buChar char="•"/>
            </a:pPr>
            <a:r>
              <a:rPr lang="en-US" b="true" sz="2799">
                <a:solidFill>
                  <a:srgbClr val="FFFFFF"/>
                </a:solidFill>
                <a:latin typeface="Proxima Nova Bold"/>
                <a:ea typeface="Proxima Nova Bold"/>
                <a:cs typeface="Proxima Nova Bold"/>
                <a:sym typeface="Proxima Nova Bold"/>
              </a:rPr>
              <a:t>Giao thông &amp; Du lịch: Làm thủ tục (check-in) và qua cửa an ninh tự động tại sân bay bằng nhận diện khuôn mặt.</a:t>
            </a:r>
          </a:p>
          <a:p>
            <a:pPr algn="l" marL="604519" indent="-302260" lvl="1">
              <a:lnSpc>
                <a:spcPts val="3919"/>
              </a:lnSpc>
              <a:buFont typeface="Arial"/>
              <a:buChar char="•"/>
            </a:pPr>
            <a:r>
              <a:rPr lang="en-US" b="true" sz="2799">
                <a:solidFill>
                  <a:srgbClr val="FFFFFF"/>
                </a:solidFill>
                <a:latin typeface="Proxima Nova Bold"/>
                <a:ea typeface="Proxima Nova Bold"/>
                <a:cs typeface="Proxima Nova Bold"/>
                <a:sym typeface="Proxima Nova Bold"/>
              </a:rPr>
              <a:t>Quản lý &amp; Doanh nghiệp: Chấm công nhân viên, kiểm soát ra vào các khu vực bảo mật (văn phòng, kho bãi) và làm Căn</a:t>
            </a:r>
            <a:r>
              <a:rPr lang="en-US" b="true" sz="2799">
                <a:solidFill>
                  <a:srgbClr val="FFFFFF"/>
                </a:solidFill>
                <a:latin typeface="Proxima Nova Bold"/>
                <a:ea typeface="Proxima Nova Bold"/>
                <a:cs typeface="Proxima Nova Bold"/>
                <a:sym typeface="Proxima Nova Bold"/>
              </a:rPr>
              <a:t> cước công dân/Định danh điện tử (VNeID).</a:t>
            </a:r>
          </a:p>
        </p:txBody>
      </p:sp>
      <p:sp>
        <p:nvSpPr>
          <p:cNvPr name="Freeform 18" id="18"/>
          <p:cNvSpPr/>
          <p:nvPr/>
        </p:nvSpPr>
        <p:spPr>
          <a:xfrm flipH="false" flipV="false" rot="0">
            <a:off x="13924628" y="0"/>
            <a:ext cx="4325936" cy="1387003"/>
          </a:xfrm>
          <a:custGeom>
            <a:avLst/>
            <a:gdLst/>
            <a:ahLst/>
            <a:cxnLst/>
            <a:rect r="r" b="b" t="t" l="l"/>
            <a:pathLst>
              <a:path h="1387003" w="4325936">
                <a:moveTo>
                  <a:pt x="0" y="0"/>
                </a:moveTo>
                <a:lnTo>
                  <a:pt x="4325935" y="0"/>
                </a:lnTo>
                <a:lnTo>
                  <a:pt x="4325935" y="1387003"/>
                </a:lnTo>
                <a:lnTo>
                  <a:pt x="0" y="1387003"/>
                </a:lnTo>
                <a:lnTo>
                  <a:pt x="0" y="0"/>
                </a:lnTo>
                <a:close/>
              </a:path>
            </a:pathLst>
          </a:custGeom>
          <a:blipFill>
            <a:blip r:embed="rId5"/>
            <a:stretch>
              <a:fillRect l="0" t="0" r="0" b="0"/>
            </a:stretch>
          </a:blipFill>
        </p:spPr>
      </p:sp>
    </p:spTree>
  </p:cSld>
  <p:clrMapOvr>
    <a:masterClrMapping/>
  </p:clrMapOvr>
  <p:transition spd="fast">
    <p:cover dir="rd"/>
  </p:transition>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5FCFF"/>
        </a:solidFill>
      </p:bgPr>
    </p:bg>
    <p:spTree>
      <p:nvGrpSpPr>
        <p:cNvPr id="1" name=""/>
        <p:cNvGrpSpPr/>
        <p:nvPr/>
      </p:nvGrpSpPr>
      <p:grpSpPr>
        <a:xfrm>
          <a:off x="0" y="0"/>
          <a:ext cx="0" cy="0"/>
          <a:chOff x="0" y="0"/>
          <a:chExt cx="0" cy="0"/>
        </a:xfrm>
      </p:grpSpPr>
      <p:grpSp>
        <p:nvGrpSpPr>
          <p:cNvPr name="Group 2" id="2"/>
          <p:cNvGrpSpPr/>
          <p:nvPr/>
        </p:nvGrpSpPr>
        <p:grpSpPr>
          <a:xfrm rot="0">
            <a:off x="-189806" y="-202673"/>
            <a:ext cx="18719200" cy="1431252"/>
            <a:chOff x="0" y="0"/>
            <a:chExt cx="4930160" cy="376955"/>
          </a:xfrm>
        </p:grpSpPr>
        <p:sp>
          <p:nvSpPr>
            <p:cNvPr name="Freeform 3" id="3"/>
            <p:cNvSpPr/>
            <p:nvPr/>
          </p:nvSpPr>
          <p:spPr>
            <a:xfrm flipH="false" flipV="false" rot="0">
              <a:off x="0" y="0"/>
              <a:ext cx="4930160" cy="376955"/>
            </a:xfrm>
            <a:custGeom>
              <a:avLst/>
              <a:gdLst/>
              <a:ahLst/>
              <a:cxnLst/>
              <a:rect r="r" b="b" t="t" l="l"/>
              <a:pathLst>
                <a:path h="376955" w="4930160">
                  <a:moveTo>
                    <a:pt x="0" y="0"/>
                  </a:moveTo>
                  <a:lnTo>
                    <a:pt x="4930160" y="0"/>
                  </a:lnTo>
                  <a:lnTo>
                    <a:pt x="4930160" y="376955"/>
                  </a:lnTo>
                  <a:lnTo>
                    <a:pt x="0" y="376955"/>
                  </a:lnTo>
                  <a:close/>
                </a:path>
              </a:pathLst>
            </a:custGeom>
            <a:solidFill>
              <a:srgbClr val="FFFFFF"/>
            </a:solidFill>
          </p:spPr>
        </p:sp>
        <p:sp>
          <p:nvSpPr>
            <p:cNvPr name="TextBox 4" id="4"/>
            <p:cNvSpPr txBox="true"/>
            <p:nvPr/>
          </p:nvSpPr>
          <p:spPr>
            <a:xfrm>
              <a:off x="0" y="-38100"/>
              <a:ext cx="4930160" cy="41505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89806" y="439295"/>
            <a:ext cx="347972" cy="513715"/>
            <a:chOff x="0" y="0"/>
            <a:chExt cx="91647" cy="135299"/>
          </a:xfrm>
        </p:grpSpPr>
        <p:sp>
          <p:nvSpPr>
            <p:cNvPr name="Freeform 6" id="6"/>
            <p:cNvSpPr/>
            <p:nvPr/>
          </p:nvSpPr>
          <p:spPr>
            <a:xfrm flipH="false" flipV="false" rot="0">
              <a:off x="0" y="0"/>
              <a:ext cx="91647" cy="135299"/>
            </a:xfrm>
            <a:custGeom>
              <a:avLst/>
              <a:gdLst/>
              <a:ahLst/>
              <a:cxnLst/>
              <a:rect r="r" b="b" t="t" l="l"/>
              <a:pathLst>
                <a:path h="135299" w="91647">
                  <a:moveTo>
                    <a:pt x="0" y="0"/>
                  </a:moveTo>
                  <a:lnTo>
                    <a:pt x="91647" y="0"/>
                  </a:lnTo>
                  <a:lnTo>
                    <a:pt x="91647" y="135299"/>
                  </a:lnTo>
                  <a:lnTo>
                    <a:pt x="0" y="135299"/>
                  </a:lnTo>
                  <a:close/>
                </a:path>
              </a:pathLst>
            </a:custGeom>
            <a:solidFill>
              <a:srgbClr val="3065CB"/>
            </a:solidFill>
          </p:spPr>
        </p:sp>
        <p:sp>
          <p:nvSpPr>
            <p:cNvPr name="TextBox 7" id="7"/>
            <p:cNvSpPr txBox="true"/>
            <p:nvPr/>
          </p:nvSpPr>
          <p:spPr>
            <a:xfrm>
              <a:off x="0" y="-38100"/>
              <a:ext cx="91647" cy="173399"/>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265152" y="439295"/>
            <a:ext cx="493718" cy="513715"/>
            <a:chOff x="0" y="0"/>
            <a:chExt cx="130033" cy="135299"/>
          </a:xfrm>
        </p:grpSpPr>
        <p:sp>
          <p:nvSpPr>
            <p:cNvPr name="Freeform 9" id="9"/>
            <p:cNvSpPr/>
            <p:nvPr/>
          </p:nvSpPr>
          <p:spPr>
            <a:xfrm flipH="false" flipV="false" rot="0">
              <a:off x="0" y="0"/>
              <a:ext cx="130033" cy="135299"/>
            </a:xfrm>
            <a:custGeom>
              <a:avLst/>
              <a:gdLst/>
              <a:ahLst/>
              <a:cxnLst/>
              <a:rect r="r" b="b" t="t" l="l"/>
              <a:pathLst>
                <a:path h="135299" w="130033">
                  <a:moveTo>
                    <a:pt x="0" y="0"/>
                  </a:moveTo>
                  <a:lnTo>
                    <a:pt x="130033" y="0"/>
                  </a:lnTo>
                  <a:lnTo>
                    <a:pt x="130033" y="135299"/>
                  </a:lnTo>
                  <a:lnTo>
                    <a:pt x="0" y="135299"/>
                  </a:lnTo>
                  <a:close/>
                </a:path>
              </a:pathLst>
            </a:custGeom>
            <a:gradFill rotWithShape="true">
              <a:gsLst>
                <a:gs pos="0">
                  <a:srgbClr val="C08846">
                    <a:alpha val="100000"/>
                  </a:srgbClr>
                </a:gs>
                <a:gs pos="100000">
                  <a:srgbClr val="FFC87B">
                    <a:alpha val="100000"/>
                  </a:srgbClr>
                </a:gs>
              </a:gsLst>
              <a:lin ang="5400000"/>
            </a:gradFill>
          </p:spPr>
        </p:sp>
        <p:sp>
          <p:nvSpPr>
            <p:cNvPr name="TextBox 10" id="10"/>
            <p:cNvSpPr txBox="true"/>
            <p:nvPr/>
          </p:nvSpPr>
          <p:spPr>
            <a:xfrm>
              <a:off x="0" y="-38100"/>
              <a:ext cx="130033" cy="173399"/>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401403" y="6352854"/>
            <a:ext cx="13183349" cy="3819525"/>
          </a:xfrm>
          <a:prstGeom prst="rect">
            <a:avLst/>
          </a:prstGeom>
        </p:spPr>
        <p:txBody>
          <a:bodyPr anchor="t" rtlCol="false" tIns="0" lIns="0" bIns="0" rIns="0">
            <a:spAutoFit/>
          </a:bodyPr>
          <a:lstStyle/>
          <a:p>
            <a:pPr algn="ctr">
              <a:lnSpc>
                <a:spcPts val="9600"/>
              </a:lnSpc>
            </a:pPr>
            <a:r>
              <a:rPr lang="en-US" b="true" sz="12000">
                <a:solidFill>
                  <a:srgbClr val="D8E5FF"/>
                </a:solidFill>
                <a:latin typeface="Proxima Nova Heavy"/>
                <a:ea typeface="Proxima Nova Heavy"/>
                <a:cs typeface="Proxima Nova Heavy"/>
                <a:sym typeface="Proxima Nova Heavy"/>
              </a:rPr>
              <a:t>THEORETICAL FRAMEWORK &amp; OVERVIEW</a:t>
            </a:r>
          </a:p>
        </p:txBody>
      </p:sp>
      <p:sp>
        <p:nvSpPr>
          <p:cNvPr name="Freeform 12" id="12"/>
          <p:cNvSpPr/>
          <p:nvPr/>
        </p:nvSpPr>
        <p:spPr>
          <a:xfrm flipH="false" flipV="false" rot="0">
            <a:off x="10133954" y="1701538"/>
            <a:ext cx="6901596" cy="8229600"/>
          </a:xfrm>
          <a:custGeom>
            <a:avLst/>
            <a:gdLst/>
            <a:ahLst/>
            <a:cxnLst/>
            <a:rect r="r" b="b" t="t" l="l"/>
            <a:pathLst>
              <a:path h="8229600" w="6901596">
                <a:moveTo>
                  <a:pt x="0" y="0"/>
                </a:moveTo>
                <a:lnTo>
                  <a:pt x="6901596" y="0"/>
                </a:lnTo>
                <a:lnTo>
                  <a:pt x="6901596" y="8229600"/>
                </a:lnTo>
                <a:lnTo>
                  <a:pt x="0" y="8229600"/>
                </a:lnTo>
                <a:lnTo>
                  <a:pt x="0" y="0"/>
                </a:lnTo>
                <a:close/>
              </a:path>
            </a:pathLst>
          </a:custGeom>
          <a:blipFill>
            <a:blip r:embed="rId2"/>
            <a:stretch>
              <a:fillRect l="0" t="0" r="-78700" b="0"/>
            </a:stretch>
          </a:blipFill>
        </p:spPr>
      </p:sp>
      <p:sp>
        <p:nvSpPr>
          <p:cNvPr name="Freeform 13" id="13"/>
          <p:cNvSpPr/>
          <p:nvPr/>
        </p:nvSpPr>
        <p:spPr>
          <a:xfrm flipH="false" flipV="false" rot="0">
            <a:off x="1028700" y="1900345"/>
            <a:ext cx="7998032" cy="2253991"/>
          </a:xfrm>
          <a:custGeom>
            <a:avLst/>
            <a:gdLst/>
            <a:ahLst/>
            <a:cxnLst/>
            <a:rect r="r" b="b" t="t" l="l"/>
            <a:pathLst>
              <a:path h="2253991" w="7998032">
                <a:moveTo>
                  <a:pt x="0" y="0"/>
                </a:moveTo>
                <a:lnTo>
                  <a:pt x="7998032" y="0"/>
                </a:lnTo>
                <a:lnTo>
                  <a:pt x="7998032" y="2253991"/>
                </a:lnTo>
                <a:lnTo>
                  <a:pt x="0" y="225399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false" flipV="false" rot="0">
            <a:off x="1028700" y="7332252"/>
            <a:ext cx="7998032" cy="2253991"/>
          </a:xfrm>
          <a:custGeom>
            <a:avLst/>
            <a:gdLst/>
            <a:ahLst/>
            <a:cxnLst/>
            <a:rect r="r" b="b" t="t" l="l"/>
            <a:pathLst>
              <a:path h="2253991" w="7998032">
                <a:moveTo>
                  <a:pt x="0" y="0"/>
                </a:moveTo>
                <a:lnTo>
                  <a:pt x="7998032" y="0"/>
                </a:lnTo>
                <a:lnTo>
                  <a:pt x="7998032" y="2253990"/>
                </a:lnTo>
                <a:lnTo>
                  <a:pt x="0" y="225399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5" id="15"/>
          <p:cNvSpPr/>
          <p:nvPr/>
        </p:nvSpPr>
        <p:spPr>
          <a:xfrm flipH="false" flipV="false" rot="0">
            <a:off x="1028700" y="4459136"/>
            <a:ext cx="7998032" cy="2253991"/>
          </a:xfrm>
          <a:custGeom>
            <a:avLst/>
            <a:gdLst/>
            <a:ahLst/>
            <a:cxnLst/>
            <a:rect r="r" b="b" t="t" l="l"/>
            <a:pathLst>
              <a:path h="2253991" w="7998032">
                <a:moveTo>
                  <a:pt x="0" y="0"/>
                </a:moveTo>
                <a:lnTo>
                  <a:pt x="7998032" y="0"/>
                </a:lnTo>
                <a:lnTo>
                  <a:pt x="7998032" y="2253991"/>
                </a:lnTo>
                <a:lnTo>
                  <a:pt x="0" y="225399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6" id="16"/>
          <p:cNvGrpSpPr/>
          <p:nvPr/>
        </p:nvGrpSpPr>
        <p:grpSpPr>
          <a:xfrm rot="0">
            <a:off x="1594136" y="2859320"/>
            <a:ext cx="6867160" cy="905664"/>
            <a:chOff x="0" y="0"/>
            <a:chExt cx="2089681" cy="275594"/>
          </a:xfrm>
        </p:grpSpPr>
        <p:sp>
          <p:nvSpPr>
            <p:cNvPr name="Freeform 17" id="17"/>
            <p:cNvSpPr/>
            <p:nvPr/>
          </p:nvSpPr>
          <p:spPr>
            <a:xfrm flipH="false" flipV="false" rot="0">
              <a:off x="0" y="0"/>
              <a:ext cx="2089681" cy="275594"/>
            </a:xfrm>
            <a:custGeom>
              <a:avLst/>
              <a:gdLst/>
              <a:ahLst/>
              <a:cxnLst/>
              <a:rect r="r" b="b" t="t" l="l"/>
              <a:pathLst>
                <a:path h="275594" w="2089681">
                  <a:moveTo>
                    <a:pt x="98082" y="0"/>
                  </a:moveTo>
                  <a:lnTo>
                    <a:pt x="1991598" y="0"/>
                  </a:lnTo>
                  <a:cubicBezTo>
                    <a:pt x="2045768" y="0"/>
                    <a:pt x="2089681" y="43913"/>
                    <a:pt x="2089681" y="98082"/>
                  </a:cubicBezTo>
                  <a:lnTo>
                    <a:pt x="2089681" y="177512"/>
                  </a:lnTo>
                  <a:cubicBezTo>
                    <a:pt x="2089681" y="231681"/>
                    <a:pt x="2045768" y="275594"/>
                    <a:pt x="1991598" y="275594"/>
                  </a:cubicBezTo>
                  <a:lnTo>
                    <a:pt x="98082" y="275594"/>
                  </a:lnTo>
                  <a:cubicBezTo>
                    <a:pt x="43913" y="275594"/>
                    <a:pt x="0" y="231681"/>
                    <a:pt x="0" y="177512"/>
                  </a:cubicBezTo>
                  <a:lnTo>
                    <a:pt x="0" y="98082"/>
                  </a:lnTo>
                  <a:cubicBezTo>
                    <a:pt x="0" y="43913"/>
                    <a:pt x="43913" y="0"/>
                    <a:pt x="98082" y="0"/>
                  </a:cubicBezTo>
                  <a:close/>
                </a:path>
              </a:pathLst>
            </a:custGeom>
            <a:solidFill>
              <a:srgbClr val="FFFFFF"/>
            </a:solidFill>
          </p:spPr>
        </p:sp>
        <p:sp>
          <p:nvSpPr>
            <p:cNvPr name="TextBox 18" id="18"/>
            <p:cNvSpPr txBox="true"/>
            <p:nvPr/>
          </p:nvSpPr>
          <p:spPr>
            <a:xfrm>
              <a:off x="0" y="-38100"/>
              <a:ext cx="2089681" cy="313694"/>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1613931" y="8343579"/>
            <a:ext cx="6867160" cy="725477"/>
            <a:chOff x="0" y="0"/>
            <a:chExt cx="2089681" cy="220763"/>
          </a:xfrm>
        </p:grpSpPr>
        <p:sp>
          <p:nvSpPr>
            <p:cNvPr name="Freeform 20" id="20"/>
            <p:cNvSpPr/>
            <p:nvPr/>
          </p:nvSpPr>
          <p:spPr>
            <a:xfrm flipH="false" flipV="false" rot="0">
              <a:off x="0" y="0"/>
              <a:ext cx="2089681" cy="220763"/>
            </a:xfrm>
            <a:custGeom>
              <a:avLst/>
              <a:gdLst/>
              <a:ahLst/>
              <a:cxnLst/>
              <a:rect r="r" b="b" t="t" l="l"/>
              <a:pathLst>
                <a:path h="220763" w="2089681">
                  <a:moveTo>
                    <a:pt x="98082" y="0"/>
                  </a:moveTo>
                  <a:lnTo>
                    <a:pt x="1991598" y="0"/>
                  </a:lnTo>
                  <a:cubicBezTo>
                    <a:pt x="2045768" y="0"/>
                    <a:pt x="2089681" y="43913"/>
                    <a:pt x="2089681" y="98082"/>
                  </a:cubicBezTo>
                  <a:lnTo>
                    <a:pt x="2089681" y="122681"/>
                  </a:lnTo>
                  <a:cubicBezTo>
                    <a:pt x="2089681" y="176850"/>
                    <a:pt x="2045768" y="220763"/>
                    <a:pt x="1991598" y="220763"/>
                  </a:cubicBezTo>
                  <a:lnTo>
                    <a:pt x="98082" y="220763"/>
                  </a:lnTo>
                  <a:cubicBezTo>
                    <a:pt x="43913" y="220763"/>
                    <a:pt x="0" y="176850"/>
                    <a:pt x="0" y="122681"/>
                  </a:cubicBezTo>
                  <a:lnTo>
                    <a:pt x="0" y="98082"/>
                  </a:lnTo>
                  <a:cubicBezTo>
                    <a:pt x="0" y="43913"/>
                    <a:pt x="43913" y="0"/>
                    <a:pt x="98082" y="0"/>
                  </a:cubicBezTo>
                  <a:close/>
                </a:path>
              </a:pathLst>
            </a:custGeom>
            <a:solidFill>
              <a:srgbClr val="FFFFFF"/>
            </a:solidFill>
          </p:spPr>
        </p:sp>
        <p:sp>
          <p:nvSpPr>
            <p:cNvPr name="TextBox 21" id="21"/>
            <p:cNvSpPr txBox="true"/>
            <p:nvPr/>
          </p:nvSpPr>
          <p:spPr>
            <a:xfrm>
              <a:off x="0" y="-38100"/>
              <a:ext cx="2089681" cy="258863"/>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0">
            <a:off x="1594136" y="5418111"/>
            <a:ext cx="6867160" cy="725477"/>
            <a:chOff x="0" y="0"/>
            <a:chExt cx="2089681" cy="220763"/>
          </a:xfrm>
        </p:grpSpPr>
        <p:sp>
          <p:nvSpPr>
            <p:cNvPr name="Freeform 23" id="23"/>
            <p:cNvSpPr/>
            <p:nvPr/>
          </p:nvSpPr>
          <p:spPr>
            <a:xfrm flipH="false" flipV="false" rot="0">
              <a:off x="0" y="0"/>
              <a:ext cx="2089681" cy="220763"/>
            </a:xfrm>
            <a:custGeom>
              <a:avLst/>
              <a:gdLst/>
              <a:ahLst/>
              <a:cxnLst/>
              <a:rect r="r" b="b" t="t" l="l"/>
              <a:pathLst>
                <a:path h="220763" w="2089681">
                  <a:moveTo>
                    <a:pt x="98082" y="0"/>
                  </a:moveTo>
                  <a:lnTo>
                    <a:pt x="1991598" y="0"/>
                  </a:lnTo>
                  <a:cubicBezTo>
                    <a:pt x="2045768" y="0"/>
                    <a:pt x="2089681" y="43913"/>
                    <a:pt x="2089681" y="98082"/>
                  </a:cubicBezTo>
                  <a:lnTo>
                    <a:pt x="2089681" y="122681"/>
                  </a:lnTo>
                  <a:cubicBezTo>
                    <a:pt x="2089681" y="176850"/>
                    <a:pt x="2045768" y="220763"/>
                    <a:pt x="1991598" y="220763"/>
                  </a:cubicBezTo>
                  <a:lnTo>
                    <a:pt x="98082" y="220763"/>
                  </a:lnTo>
                  <a:cubicBezTo>
                    <a:pt x="43913" y="220763"/>
                    <a:pt x="0" y="176850"/>
                    <a:pt x="0" y="122681"/>
                  </a:cubicBezTo>
                  <a:lnTo>
                    <a:pt x="0" y="98082"/>
                  </a:lnTo>
                  <a:cubicBezTo>
                    <a:pt x="0" y="43913"/>
                    <a:pt x="43913" y="0"/>
                    <a:pt x="98082" y="0"/>
                  </a:cubicBezTo>
                  <a:close/>
                </a:path>
              </a:pathLst>
            </a:custGeom>
            <a:solidFill>
              <a:srgbClr val="FFFFFF"/>
            </a:solidFill>
          </p:spPr>
        </p:sp>
        <p:sp>
          <p:nvSpPr>
            <p:cNvPr name="TextBox 24" id="24"/>
            <p:cNvSpPr txBox="true"/>
            <p:nvPr/>
          </p:nvSpPr>
          <p:spPr>
            <a:xfrm>
              <a:off x="0" y="-38100"/>
              <a:ext cx="2089681" cy="258863"/>
            </a:xfrm>
            <a:prstGeom prst="rect">
              <a:avLst/>
            </a:prstGeom>
          </p:spPr>
          <p:txBody>
            <a:bodyPr anchor="ctr" rtlCol="false" tIns="50800" lIns="50800" bIns="50800" rIns="50800"/>
            <a:lstStyle/>
            <a:p>
              <a:pPr algn="ctr">
                <a:lnSpc>
                  <a:spcPts val="2659"/>
                </a:lnSpc>
              </a:pPr>
            </a:p>
          </p:txBody>
        </p:sp>
      </p:grpSp>
      <p:sp>
        <p:nvSpPr>
          <p:cNvPr name="Freeform 25" id="25"/>
          <p:cNvSpPr/>
          <p:nvPr/>
        </p:nvSpPr>
        <p:spPr>
          <a:xfrm flipH="false" flipV="false" rot="0">
            <a:off x="10133954" y="1701538"/>
            <a:ext cx="3450798" cy="3716573"/>
          </a:xfrm>
          <a:custGeom>
            <a:avLst/>
            <a:gdLst/>
            <a:ahLst/>
            <a:cxnLst/>
            <a:rect r="r" b="b" t="t" l="l"/>
            <a:pathLst>
              <a:path h="3716573" w="3450798">
                <a:moveTo>
                  <a:pt x="0" y="0"/>
                </a:moveTo>
                <a:lnTo>
                  <a:pt x="3450798" y="0"/>
                </a:lnTo>
                <a:lnTo>
                  <a:pt x="3450798" y="3716573"/>
                </a:lnTo>
                <a:lnTo>
                  <a:pt x="0" y="3716573"/>
                </a:lnTo>
                <a:lnTo>
                  <a:pt x="0" y="0"/>
                </a:lnTo>
                <a:close/>
              </a:path>
            </a:pathLst>
          </a:custGeom>
          <a:blipFill>
            <a:blip r:embed="rId7"/>
            <a:stretch>
              <a:fillRect l="0" t="0" r="-7701" b="0"/>
            </a:stretch>
          </a:blipFill>
        </p:spPr>
      </p:sp>
      <p:sp>
        <p:nvSpPr>
          <p:cNvPr name="Freeform 26" id="26"/>
          <p:cNvSpPr/>
          <p:nvPr/>
        </p:nvSpPr>
        <p:spPr>
          <a:xfrm flipH="false" flipV="false" rot="0">
            <a:off x="13584752" y="5418111"/>
            <a:ext cx="3450798" cy="4513027"/>
          </a:xfrm>
          <a:custGeom>
            <a:avLst/>
            <a:gdLst/>
            <a:ahLst/>
            <a:cxnLst/>
            <a:rect r="r" b="b" t="t" l="l"/>
            <a:pathLst>
              <a:path h="4513027" w="3450798">
                <a:moveTo>
                  <a:pt x="0" y="0"/>
                </a:moveTo>
                <a:lnTo>
                  <a:pt x="3450798" y="0"/>
                </a:lnTo>
                <a:lnTo>
                  <a:pt x="3450798" y="4513027"/>
                </a:lnTo>
                <a:lnTo>
                  <a:pt x="0" y="4513027"/>
                </a:lnTo>
                <a:lnTo>
                  <a:pt x="0" y="0"/>
                </a:lnTo>
                <a:close/>
              </a:path>
            </a:pathLst>
          </a:custGeom>
          <a:blipFill>
            <a:blip r:embed="rId8"/>
            <a:stretch>
              <a:fillRect l="-2532" t="0" r="-8961" b="0"/>
            </a:stretch>
          </a:blipFill>
        </p:spPr>
      </p:sp>
      <p:sp>
        <p:nvSpPr>
          <p:cNvPr name="TextBox 27" id="27"/>
          <p:cNvSpPr txBox="true"/>
          <p:nvPr/>
        </p:nvSpPr>
        <p:spPr>
          <a:xfrm rot="0">
            <a:off x="1028700" y="382145"/>
            <a:ext cx="8850302" cy="570865"/>
          </a:xfrm>
          <a:prstGeom prst="rect">
            <a:avLst/>
          </a:prstGeom>
        </p:spPr>
        <p:txBody>
          <a:bodyPr anchor="t" rtlCol="false" tIns="0" lIns="0" bIns="0" rIns="0">
            <a:spAutoFit/>
          </a:bodyPr>
          <a:lstStyle/>
          <a:p>
            <a:pPr algn="l">
              <a:lnSpc>
                <a:spcPts val="4759"/>
              </a:lnSpc>
              <a:spcBef>
                <a:spcPct val="0"/>
              </a:spcBef>
            </a:pPr>
            <a:r>
              <a:rPr lang="en-US" b="true" sz="3399" i="true">
                <a:solidFill>
                  <a:srgbClr val="061647"/>
                </a:solidFill>
                <a:latin typeface="Proxima Nova Heavy Italics"/>
                <a:ea typeface="Proxima Nova Heavy Italics"/>
                <a:cs typeface="Proxima Nova Heavy Italics"/>
                <a:sym typeface="Proxima Nova Heavy Italics"/>
              </a:rPr>
              <a:t>CÔNG NGHỆ CHÍNH SỬ DỤNG</a:t>
            </a:r>
          </a:p>
        </p:txBody>
      </p:sp>
      <p:sp>
        <p:nvSpPr>
          <p:cNvPr name="TextBox 28" id="28"/>
          <p:cNvSpPr txBox="true"/>
          <p:nvPr/>
        </p:nvSpPr>
        <p:spPr>
          <a:xfrm rot="0">
            <a:off x="1028700" y="2156398"/>
            <a:ext cx="7998032" cy="570865"/>
          </a:xfrm>
          <a:prstGeom prst="rect">
            <a:avLst/>
          </a:prstGeom>
        </p:spPr>
        <p:txBody>
          <a:bodyPr anchor="t" rtlCol="false" tIns="0" lIns="0" bIns="0" rIns="0">
            <a:spAutoFit/>
          </a:bodyPr>
          <a:lstStyle/>
          <a:p>
            <a:pPr algn="ctr">
              <a:lnSpc>
                <a:spcPts val="4759"/>
              </a:lnSpc>
              <a:spcBef>
                <a:spcPct val="0"/>
              </a:spcBef>
            </a:pPr>
            <a:r>
              <a:rPr lang="en-US" b="true" sz="3399">
                <a:solidFill>
                  <a:srgbClr val="FFFFFF"/>
                </a:solidFill>
                <a:latin typeface="Proxima Nova Heavy"/>
                <a:ea typeface="Proxima Nova Heavy"/>
                <a:cs typeface="Proxima Nova Heavy"/>
                <a:sym typeface="Proxima Nova Heavy"/>
              </a:rPr>
              <a:t>FL</a:t>
            </a:r>
            <a:r>
              <a:rPr lang="en-US" b="true" sz="3399">
                <a:solidFill>
                  <a:srgbClr val="FFFFFF"/>
                </a:solidFill>
                <a:latin typeface="Proxima Nova Heavy"/>
                <a:ea typeface="Proxima Nova Heavy"/>
                <a:cs typeface="Proxima Nova Heavy"/>
                <a:sym typeface="Proxima Nova Heavy"/>
              </a:rPr>
              <a:t>UTTER + DART</a:t>
            </a:r>
          </a:p>
        </p:txBody>
      </p:sp>
      <p:sp>
        <p:nvSpPr>
          <p:cNvPr name="TextBox 29" id="29"/>
          <p:cNvSpPr txBox="true"/>
          <p:nvPr/>
        </p:nvSpPr>
        <p:spPr>
          <a:xfrm rot="0">
            <a:off x="1028700" y="4715189"/>
            <a:ext cx="7998032" cy="570865"/>
          </a:xfrm>
          <a:prstGeom prst="rect">
            <a:avLst/>
          </a:prstGeom>
        </p:spPr>
        <p:txBody>
          <a:bodyPr anchor="t" rtlCol="false" tIns="0" lIns="0" bIns="0" rIns="0">
            <a:spAutoFit/>
          </a:bodyPr>
          <a:lstStyle/>
          <a:p>
            <a:pPr algn="ctr">
              <a:lnSpc>
                <a:spcPts val="4759"/>
              </a:lnSpc>
              <a:spcBef>
                <a:spcPct val="0"/>
              </a:spcBef>
            </a:pPr>
            <a:r>
              <a:rPr lang="en-US" b="true" sz="3399">
                <a:solidFill>
                  <a:srgbClr val="FFFFFF"/>
                </a:solidFill>
                <a:latin typeface="Proxima Nova Heavy"/>
                <a:ea typeface="Proxima Nova Heavy"/>
                <a:cs typeface="Proxima Nova Heavy"/>
                <a:sym typeface="Proxima Nova Heavy"/>
              </a:rPr>
              <a:t>PACKAGE C</a:t>
            </a:r>
            <a:r>
              <a:rPr lang="en-US" b="true" sz="3399">
                <a:solidFill>
                  <a:srgbClr val="FFFFFF"/>
                </a:solidFill>
                <a:latin typeface="Proxima Nova Heavy"/>
                <a:ea typeface="Proxima Nova Heavy"/>
                <a:cs typeface="Proxima Nova Heavy"/>
                <a:sym typeface="Proxima Nova Heavy"/>
              </a:rPr>
              <a:t>HÍNH</a:t>
            </a:r>
          </a:p>
        </p:txBody>
      </p:sp>
      <p:sp>
        <p:nvSpPr>
          <p:cNvPr name="TextBox 30" id="30"/>
          <p:cNvSpPr txBox="true"/>
          <p:nvPr/>
        </p:nvSpPr>
        <p:spPr>
          <a:xfrm rot="0">
            <a:off x="1594136" y="3060134"/>
            <a:ext cx="6867160" cy="704850"/>
          </a:xfrm>
          <a:prstGeom prst="rect">
            <a:avLst/>
          </a:prstGeom>
        </p:spPr>
        <p:txBody>
          <a:bodyPr anchor="t" rtlCol="false" tIns="0" lIns="0" bIns="0" rIns="0">
            <a:spAutoFit/>
          </a:bodyPr>
          <a:lstStyle/>
          <a:p>
            <a:pPr algn="ctr">
              <a:lnSpc>
                <a:spcPts val="2775"/>
              </a:lnSpc>
            </a:pPr>
            <a:r>
              <a:rPr lang="en-US" b="true" sz="2500">
                <a:gradFill>
                  <a:gsLst>
                    <a:gs pos="0">
                      <a:srgbClr val="235BBB">
                        <a:alpha val="100000"/>
                      </a:srgbClr>
                    </a:gs>
                    <a:gs pos="100000">
                      <a:srgbClr val="347FFF">
                        <a:alpha val="100000"/>
                      </a:srgbClr>
                    </a:gs>
                  </a:gsLst>
                  <a:lin ang="5400000"/>
                </a:gradFill>
                <a:latin typeface="Proxima Nova Bold"/>
                <a:ea typeface="Proxima Nova Bold"/>
                <a:cs typeface="Proxima Nova Bold"/>
                <a:sym typeface="Proxima Nova Bold"/>
              </a:rPr>
              <a:t>Xây dựng giao diện và phát triển ứng dụng di động.</a:t>
            </a:r>
          </a:p>
        </p:txBody>
      </p:sp>
      <p:sp>
        <p:nvSpPr>
          <p:cNvPr name="TextBox 31" id="31"/>
          <p:cNvSpPr txBox="true"/>
          <p:nvPr/>
        </p:nvSpPr>
        <p:spPr>
          <a:xfrm rot="0">
            <a:off x="1613931" y="8544393"/>
            <a:ext cx="7113695" cy="352425"/>
          </a:xfrm>
          <a:prstGeom prst="rect">
            <a:avLst/>
          </a:prstGeom>
        </p:spPr>
        <p:txBody>
          <a:bodyPr anchor="t" rtlCol="false" tIns="0" lIns="0" bIns="0" rIns="0">
            <a:spAutoFit/>
          </a:bodyPr>
          <a:lstStyle/>
          <a:p>
            <a:pPr algn="ctr">
              <a:lnSpc>
                <a:spcPts val="2775"/>
              </a:lnSpc>
            </a:pPr>
            <a:r>
              <a:rPr lang="en-US" b="true" sz="2500">
                <a:gradFill>
                  <a:gsLst>
                    <a:gs pos="0">
                      <a:srgbClr val="235BBB">
                        <a:alpha val="100000"/>
                      </a:srgbClr>
                    </a:gs>
                    <a:gs pos="100000">
                      <a:srgbClr val="347FFF">
                        <a:alpha val="100000"/>
                      </a:srgbClr>
                    </a:gs>
                  </a:gsLst>
                  <a:lin ang="5400000"/>
                </a:gradFill>
                <a:latin typeface="Proxima Nova Bold"/>
                <a:ea typeface="Proxima Nova Bold"/>
                <a:cs typeface="Proxima Nova Bold"/>
                <a:sym typeface="Proxima Nova Bold"/>
              </a:rPr>
              <a:t>Tích hợp Android KeyStore </a:t>
            </a:r>
          </a:p>
        </p:txBody>
      </p:sp>
      <p:sp>
        <p:nvSpPr>
          <p:cNvPr name="TextBox 32" id="32"/>
          <p:cNvSpPr txBox="true"/>
          <p:nvPr/>
        </p:nvSpPr>
        <p:spPr>
          <a:xfrm rot="0">
            <a:off x="1668680" y="5548050"/>
            <a:ext cx="6718072" cy="603250"/>
          </a:xfrm>
          <a:prstGeom prst="rect">
            <a:avLst/>
          </a:prstGeom>
        </p:spPr>
        <p:txBody>
          <a:bodyPr anchor="t" rtlCol="false" tIns="0" lIns="0" bIns="0" rIns="0">
            <a:spAutoFit/>
          </a:bodyPr>
          <a:lstStyle/>
          <a:p>
            <a:pPr algn="ctr" marL="0" indent="0" lvl="0">
              <a:lnSpc>
                <a:spcPts val="2375"/>
              </a:lnSpc>
            </a:pPr>
            <a:r>
              <a:rPr lang="en-US" b="true" sz="2500">
                <a:gradFill>
                  <a:gsLst>
                    <a:gs pos="0">
                      <a:srgbClr val="C08846">
                        <a:alpha val="100000"/>
                      </a:srgbClr>
                    </a:gs>
                    <a:gs pos="100000">
                      <a:srgbClr val="FFC87B">
                        <a:alpha val="100000"/>
                      </a:srgbClr>
                    </a:gs>
                  </a:gsLst>
                  <a:lin ang="5400000"/>
                </a:gradFill>
                <a:latin typeface="Proxima Nova Bold"/>
                <a:ea typeface="Proxima Nova Bold"/>
                <a:cs typeface="Proxima Nova Bold"/>
                <a:sym typeface="Proxima Nova Bold"/>
              </a:rPr>
              <a:t>biometr</a:t>
            </a:r>
            <a:r>
              <a:rPr lang="en-US" b="true" sz="2500" strike="noStrike" u="none">
                <a:gradFill>
                  <a:gsLst>
                    <a:gs pos="0">
                      <a:srgbClr val="C08846">
                        <a:alpha val="100000"/>
                      </a:srgbClr>
                    </a:gs>
                    <a:gs pos="100000">
                      <a:srgbClr val="FFC87B">
                        <a:alpha val="100000"/>
                      </a:srgbClr>
                    </a:gs>
                  </a:gsLst>
                  <a:lin ang="5400000"/>
                </a:gradFill>
                <a:latin typeface="Proxima Nova Bold"/>
                <a:ea typeface="Proxima Nova Bold"/>
                <a:cs typeface="Proxima Nova Bold"/>
                <a:sym typeface="Proxima Nova Bold"/>
              </a:rPr>
              <a:t>ic_storage / local_auth</a:t>
            </a:r>
            <a:r>
              <a:rPr lang="en-US" b="true" sz="2500" strike="noStrike" u="none">
                <a:gradFill>
                  <a:gsLst>
                    <a:gs pos="0">
                      <a:srgbClr val="C08846">
                        <a:alpha val="100000"/>
                      </a:srgbClr>
                    </a:gs>
                    <a:gs pos="100000">
                      <a:srgbClr val="FFC87B">
                        <a:alpha val="100000"/>
                      </a:srgbClr>
                    </a:gs>
                  </a:gsLst>
                  <a:lin ang="5400000"/>
                </a:gradFill>
                <a:latin typeface="Proxima Nova Bold"/>
                <a:ea typeface="Proxima Nova Bold"/>
                <a:cs typeface="Proxima Nova Bold"/>
                <a:sym typeface="Proxima Nova Bold"/>
              </a:rPr>
              <a:t>:</a:t>
            </a:r>
            <a:r>
              <a:rPr lang="en-US" b="true" sz="2500" strike="noStrike" u="none">
                <a:gradFill>
                  <a:gsLst>
                    <a:gs pos="0">
                      <a:srgbClr val="C08846">
                        <a:alpha val="100000"/>
                      </a:srgbClr>
                    </a:gs>
                    <a:gs pos="100000">
                      <a:srgbClr val="FFC87B">
                        <a:alpha val="100000"/>
                      </a:srgbClr>
                    </a:gs>
                  </a:gsLst>
                  <a:lin ang="5400000"/>
                </a:gradFill>
                <a:latin typeface="Proxima Nova Bold"/>
                <a:ea typeface="Proxima Nova Bold"/>
                <a:cs typeface="Proxima Nova Bold"/>
                <a:sym typeface="Proxima Nova Bold"/>
              </a:rPr>
              <a:t> </a:t>
            </a:r>
            <a:r>
              <a:rPr lang="en-US" b="true" sz="2500" strike="noStrike" u="none">
                <a:gradFill>
                  <a:gsLst>
                    <a:gs pos="0">
                      <a:srgbClr val="C08846">
                        <a:alpha val="100000"/>
                      </a:srgbClr>
                    </a:gs>
                    <a:gs pos="100000">
                      <a:srgbClr val="FFC87B">
                        <a:alpha val="100000"/>
                      </a:srgbClr>
                    </a:gs>
                  </a:gsLst>
                  <a:lin ang="5400000"/>
                </a:gradFill>
                <a:latin typeface="Proxima Nova Bold"/>
                <a:ea typeface="Proxima Nova Bold"/>
                <a:cs typeface="Proxima Nova Bold"/>
                <a:sym typeface="Proxima Nova Bold"/>
              </a:rPr>
              <a:t>V</a:t>
            </a:r>
            <a:r>
              <a:rPr lang="en-US" b="true" sz="2500" strike="noStrike" u="none">
                <a:gradFill>
                  <a:gsLst>
                    <a:gs pos="0">
                      <a:srgbClr val="C08846">
                        <a:alpha val="100000"/>
                      </a:srgbClr>
                    </a:gs>
                    <a:gs pos="100000">
                      <a:srgbClr val="FFC87B">
                        <a:alpha val="100000"/>
                      </a:srgbClr>
                    </a:gs>
                  </a:gsLst>
                  <a:lin ang="5400000"/>
                </a:gradFill>
                <a:latin typeface="Proxima Nova Bold"/>
                <a:ea typeface="Proxima Nova Bold"/>
                <a:cs typeface="Proxima Nova Bold"/>
                <a:sym typeface="Proxima Nova Bold"/>
              </a:rPr>
              <a:t>ân tay, Face ID &amp; mã hóa</a:t>
            </a:r>
          </a:p>
        </p:txBody>
      </p:sp>
      <p:sp>
        <p:nvSpPr>
          <p:cNvPr name="TextBox 33" id="33"/>
          <p:cNvSpPr txBox="true"/>
          <p:nvPr/>
        </p:nvSpPr>
        <p:spPr>
          <a:xfrm rot="0">
            <a:off x="1028700" y="7467914"/>
            <a:ext cx="7998032" cy="570865"/>
          </a:xfrm>
          <a:prstGeom prst="rect">
            <a:avLst/>
          </a:prstGeom>
        </p:spPr>
        <p:txBody>
          <a:bodyPr anchor="t" rtlCol="false" tIns="0" lIns="0" bIns="0" rIns="0">
            <a:spAutoFit/>
          </a:bodyPr>
          <a:lstStyle/>
          <a:p>
            <a:pPr algn="ctr">
              <a:lnSpc>
                <a:spcPts val="4759"/>
              </a:lnSpc>
              <a:spcBef>
                <a:spcPct val="0"/>
              </a:spcBef>
            </a:pPr>
            <a:r>
              <a:rPr lang="en-US" b="true" sz="3399">
                <a:solidFill>
                  <a:srgbClr val="FFFFFF"/>
                </a:solidFill>
                <a:latin typeface="Proxima Nova Heavy"/>
                <a:ea typeface="Proxima Nova Heavy"/>
                <a:cs typeface="Proxima Nova Heavy"/>
                <a:sym typeface="Proxima Nova Heavy"/>
              </a:rPr>
              <a:t>BẢO MẬT PHẦN CỨNG</a:t>
            </a:r>
          </a:p>
        </p:txBody>
      </p:sp>
      <p:sp>
        <p:nvSpPr>
          <p:cNvPr name="Freeform 34" id="34"/>
          <p:cNvSpPr/>
          <p:nvPr/>
        </p:nvSpPr>
        <p:spPr>
          <a:xfrm flipH="false" flipV="false" rot="0">
            <a:off x="13584752" y="0"/>
            <a:ext cx="4665811" cy="1495976"/>
          </a:xfrm>
          <a:custGeom>
            <a:avLst/>
            <a:gdLst/>
            <a:ahLst/>
            <a:cxnLst/>
            <a:rect r="r" b="b" t="t" l="l"/>
            <a:pathLst>
              <a:path h="1495976" w="4665811">
                <a:moveTo>
                  <a:pt x="0" y="0"/>
                </a:moveTo>
                <a:lnTo>
                  <a:pt x="4665811" y="0"/>
                </a:lnTo>
                <a:lnTo>
                  <a:pt x="4665811" y="1495976"/>
                </a:lnTo>
                <a:lnTo>
                  <a:pt x="0" y="1495976"/>
                </a:lnTo>
                <a:lnTo>
                  <a:pt x="0" y="0"/>
                </a:lnTo>
                <a:close/>
              </a:path>
            </a:pathLst>
          </a:custGeom>
          <a:blipFill>
            <a:blip r:embed="rId9"/>
            <a:stretch>
              <a:fillRect l="0" t="0" r="0" b="0"/>
            </a:stretch>
          </a:blipFill>
        </p:spPr>
      </p:sp>
    </p:spTree>
  </p:cSld>
  <p:clrMapOvr>
    <a:masterClrMapping/>
  </p:clrMapOvr>
  <p:transition spd="fast">
    <p:cover dir="rd"/>
  </p:transition>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5FCFF"/>
        </a:solidFill>
      </p:bgPr>
    </p:bg>
    <p:spTree>
      <p:nvGrpSpPr>
        <p:cNvPr id="1" name=""/>
        <p:cNvGrpSpPr/>
        <p:nvPr/>
      </p:nvGrpSpPr>
      <p:grpSpPr>
        <a:xfrm>
          <a:off x="0" y="0"/>
          <a:ext cx="0" cy="0"/>
          <a:chOff x="0" y="0"/>
          <a:chExt cx="0" cy="0"/>
        </a:xfrm>
      </p:grpSpPr>
      <p:sp>
        <p:nvSpPr>
          <p:cNvPr name="Freeform 2" id="2"/>
          <p:cNvSpPr/>
          <p:nvPr/>
        </p:nvSpPr>
        <p:spPr>
          <a:xfrm flipH="false" flipV="false" rot="0">
            <a:off x="-15820" y="1734515"/>
            <a:ext cx="18719200" cy="8127983"/>
          </a:xfrm>
          <a:custGeom>
            <a:avLst/>
            <a:gdLst/>
            <a:ahLst/>
            <a:cxnLst/>
            <a:rect r="r" b="b" t="t" l="l"/>
            <a:pathLst>
              <a:path h="8127983" w="18719200">
                <a:moveTo>
                  <a:pt x="0" y="0"/>
                </a:moveTo>
                <a:lnTo>
                  <a:pt x="18719200" y="0"/>
                </a:lnTo>
                <a:lnTo>
                  <a:pt x="18719200" y="8127983"/>
                </a:lnTo>
                <a:lnTo>
                  <a:pt x="0" y="8127983"/>
                </a:lnTo>
                <a:lnTo>
                  <a:pt x="0" y="0"/>
                </a:lnTo>
                <a:close/>
              </a:path>
            </a:pathLst>
          </a:custGeom>
          <a:blipFill>
            <a:blip r:embed="rId2"/>
            <a:stretch>
              <a:fillRect l="0" t="-6224" r="0" b="-47360"/>
            </a:stretch>
          </a:blipFill>
        </p:spPr>
      </p:sp>
      <p:grpSp>
        <p:nvGrpSpPr>
          <p:cNvPr name="Group 3" id="3"/>
          <p:cNvGrpSpPr/>
          <p:nvPr/>
        </p:nvGrpSpPr>
        <p:grpSpPr>
          <a:xfrm rot="0">
            <a:off x="-189806" y="-202673"/>
            <a:ext cx="18719200" cy="1602531"/>
            <a:chOff x="0" y="0"/>
            <a:chExt cx="4930160" cy="422066"/>
          </a:xfrm>
        </p:grpSpPr>
        <p:sp>
          <p:nvSpPr>
            <p:cNvPr name="Freeform 4" id="4"/>
            <p:cNvSpPr/>
            <p:nvPr/>
          </p:nvSpPr>
          <p:spPr>
            <a:xfrm flipH="false" flipV="false" rot="0">
              <a:off x="0" y="0"/>
              <a:ext cx="4930160" cy="422066"/>
            </a:xfrm>
            <a:custGeom>
              <a:avLst/>
              <a:gdLst/>
              <a:ahLst/>
              <a:cxnLst/>
              <a:rect r="r" b="b" t="t" l="l"/>
              <a:pathLst>
                <a:path h="422066" w="4930160">
                  <a:moveTo>
                    <a:pt x="0" y="0"/>
                  </a:moveTo>
                  <a:lnTo>
                    <a:pt x="4930160" y="0"/>
                  </a:lnTo>
                  <a:lnTo>
                    <a:pt x="4930160" y="422066"/>
                  </a:lnTo>
                  <a:lnTo>
                    <a:pt x="0" y="422066"/>
                  </a:lnTo>
                  <a:close/>
                </a:path>
              </a:pathLst>
            </a:custGeom>
            <a:solidFill>
              <a:srgbClr val="FFFFFF"/>
            </a:solidFill>
          </p:spPr>
        </p:sp>
        <p:sp>
          <p:nvSpPr>
            <p:cNvPr name="TextBox 5" id="5"/>
            <p:cNvSpPr txBox="true"/>
            <p:nvPr/>
          </p:nvSpPr>
          <p:spPr>
            <a:xfrm>
              <a:off x="0" y="-38100"/>
              <a:ext cx="4930160" cy="460166"/>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89806" y="439295"/>
            <a:ext cx="347972" cy="513715"/>
            <a:chOff x="0" y="0"/>
            <a:chExt cx="91647" cy="135299"/>
          </a:xfrm>
        </p:grpSpPr>
        <p:sp>
          <p:nvSpPr>
            <p:cNvPr name="Freeform 7" id="7"/>
            <p:cNvSpPr/>
            <p:nvPr/>
          </p:nvSpPr>
          <p:spPr>
            <a:xfrm flipH="false" flipV="false" rot="0">
              <a:off x="0" y="0"/>
              <a:ext cx="91647" cy="135299"/>
            </a:xfrm>
            <a:custGeom>
              <a:avLst/>
              <a:gdLst/>
              <a:ahLst/>
              <a:cxnLst/>
              <a:rect r="r" b="b" t="t" l="l"/>
              <a:pathLst>
                <a:path h="135299" w="91647">
                  <a:moveTo>
                    <a:pt x="0" y="0"/>
                  </a:moveTo>
                  <a:lnTo>
                    <a:pt x="91647" y="0"/>
                  </a:lnTo>
                  <a:lnTo>
                    <a:pt x="91647" y="135299"/>
                  </a:lnTo>
                  <a:lnTo>
                    <a:pt x="0" y="135299"/>
                  </a:lnTo>
                  <a:close/>
                </a:path>
              </a:pathLst>
            </a:custGeom>
            <a:solidFill>
              <a:srgbClr val="3065CB"/>
            </a:solidFill>
          </p:spPr>
        </p:sp>
        <p:sp>
          <p:nvSpPr>
            <p:cNvPr name="TextBox 8" id="8"/>
            <p:cNvSpPr txBox="true"/>
            <p:nvPr/>
          </p:nvSpPr>
          <p:spPr>
            <a:xfrm>
              <a:off x="0" y="-38100"/>
              <a:ext cx="91647" cy="173399"/>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265152" y="439295"/>
            <a:ext cx="493718" cy="513715"/>
            <a:chOff x="0" y="0"/>
            <a:chExt cx="130033" cy="135299"/>
          </a:xfrm>
        </p:grpSpPr>
        <p:sp>
          <p:nvSpPr>
            <p:cNvPr name="Freeform 10" id="10"/>
            <p:cNvSpPr/>
            <p:nvPr/>
          </p:nvSpPr>
          <p:spPr>
            <a:xfrm flipH="false" flipV="false" rot="0">
              <a:off x="0" y="0"/>
              <a:ext cx="130033" cy="135299"/>
            </a:xfrm>
            <a:custGeom>
              <a:avLst/>
              <a:gdLst/>
              <a:ahLst/>
              <a:cxnLst/>
              <a:rect r="r" b="b" t="t" l="l"/>
              <a:pathLst>
                <a:path h="135299" w="130033">
                  <a:moveTo>
                    <a:pt x="0" y="0"/>
                  </a:moveTo>
                  <a:lnTo>
                    <a:pt x="130033" y="0"/>
                  </a:lnTo>
                  <a:lnTo>
                    <a:pt x="130033" y="135299"/>
                  </a:lnTo>
                  <a:lnTo>
                    <a:pt x="0" y="135299"/>
                  </a:lnTo>
                  <a:close/>
                </a:path>
              </a:pathLst>
            </a:custGeom>
            <a:gradFill rotWithShape="true">
              <a:gsLst>
                <a:gs pos="0">
                  <a:srgbClr val="C08846">
                    <a:alpha val="100000"/>
                  </a:srgbClr>
                </a:gs>
                <a:gs pos="100000">
                  <a:srgbClr val="FFC87B">
                    <a:alpha val="100000"/>
                  </a:srgbClr>
                </a:gs>
              </a:gsLst>
              <a:lin ang="5400000"/>
            </a:gradFill>
          </p:spPr>
        </p:sp>
        <p:sp>
          <p:nvSpPr>
            <p:cNvPr name="TextBox 11" id="11"/>
            <p:cNvSpPr txBox="true"/>
            <p:nvPr/>
          </p:nvSpPr>
          <p:spPr>
            <a:xfrm>
              <a:off x="0" y="-38100"/>
              <a:ext cx="130033" cy="173399"/>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0" y="1734515"/>
            <a:ext cx="18250563" cy="8552485"/>
            <a:chOff x="0" y="0"/>
            <a:chExt cx="4806733" cy="2252506"/>
          </a:xfrm>
        </p:grpSpPr>
        <p:sp>
          <p:nvSpPr>
            <p:cNvPr name="Freeform 13" id="13"/>
            <p:cNvSpPr/>
            <p:nvPr/>
          </p:nvSpPr>
          <p:spPr>
            <a:xfrm flipH="false" flipV="false" rot="0">
              <a:off x="0" y="0"/>
              <a:ext cx="4806733" cy="2252506"/>
            </a:xfrm>
            <a:custGeom>
              <a:avLst/>
              <a:gdLst/>
              <a:ahLst/>
              <a:cxnLst/>
              <a:rect r="r" b="b" t="t" l="l"/>
              <a:pathLst>
                <a:path h="2252506" w="4806733">
                  <a:moveTo>
                    <a:pt x="0" y="0"/>
                  </a:moveTo>
                  <a:lnTo>
                    <a:pt x="4806733" y="0"/>
                  </a:lnTo>
                  <a:lnTo>
                    <a:pt x="4806733" y="2252506"/>
                  </a:lnTo>
                  <a:lnTo>
                    <a:pt x="0" y="2252506"/>
                  </a:lnTo>
                  <a:close/>
                </a:path>
              </a:pathLst>
            </a:custGeom>
            <a:solidFill>
              <a:srgbClr val="000E28"/>
            </a:solidFill>
            <a:ln w="38100" cap="sq">
              <a:solidFill>
                <a:srgbClr val="FFFFFF"/>
              </a:solidFill>
              <a:prstDash val="solid"/>
              <a:miter/>
            </a:ln>
          </p:spPr>
        </p:sp>
        <p:sp>
          <p:nvSpPr>
            <p:cNvPr name="TextBox 14" id="14"/>
            <p:cNvSpPr txBox="true"/>
            <p:nvPr/>
          </p:nvSpPr>
          <p:spPr>
            <a:xfrm>
              <a:off x="0" y="-38100"/>
              <a:ext cx="4806733" cy="2290606"/>
            </a:xfrm>
            <a:prstGeom prst="rect">
              <a:avLst/>
            </a:prstGeom>
          </p:spPr>
          <p:txBody>
            <a:bodyPr anchor="ctr" rtlCol="false" tIns="50800" lIns="50800" bIns="50800" rIns="50800"/>
            <a:lstStyle/>
            <a:p>
              <a:pPr algn="ctr">
                <a:lnSpc>
                  <a:spcPts val="2659"/>
                </a:lnSpc>
              </a:pPr>
            </a:p>
          </p:txBody>
        </p:sp>
      </p:grpSp>
      <p:sp>
        <p:nvSpPr>
          <p:cNvPr name="Freeform 15" id="15"/>
          <p:cNvSpPr/>
          <p:nvPr/>
        </p:nvSpPr>
        <p:spPr>
          <a:xfrm flipH="false" flipV="false" rot="0">
            <a:off x="13884534" y="0"/>
            <a:ext cx="4366029" cy="1399858"/>
          </a:xfrm>
          <a:custGeom>
            <a:avLst/>
            <a:gdLst/>
            <a:ahLst/>
            <a:cxnLst/>
            <a:rect r="r" b="b" t="t" l="l"/>
            <a:pathLst>
              <a:path h="1399858" w="4366029">
                <a:moveTo>
                  <a:pt x="0" y="0"/>
                </a:moveTo>
                <a:lnTo>
                  <a:pt x="4366029" y="0"/>
                </a:lnTo>
                <a:lnTo>
                  <a:pt x="4366029" y="1399858"/>
                </a:lnTo>
                <a:lnTo>
                  <a:pt x="0" y="1399858"/>
                </a:lnTo>
                <a:lnTo>
                  <a:pt x="0" y="0"/>
                </a:lnTo>
                <a:close/>
              </a:path>
            </a:pathLst>
          </a:custGeom>
          <a:blipFill>
            <a:blip r:embed="rId3"/>
            <a:stretch>
              <a:fillRect l="0" t="0" r="0" b="0"/>
            </a:stretch>
          </a:blipFill>
        </p:spPr>
      </p:sp>
      <p:sp>
        <p:nvSpPr>
          <p:cNvPr name="Freeform 16" id="16"/>
          <p:cNvSpPr/>
          <p:nvPr/>
        </p:nvSpPr>
        <p:spPr>
          <a:xfrm flipH="false" flipV="false" rot="0">
            <a:off x="17884" y="1832383"/>
            <a:ext cx="18303820" cy="8356749"/>
          </a:xfrm>
          <a:custGeom>
            <a:avLst/>
            <a:gdLst/>
            <a:ahLst/>
            <a:cxnLst/>
            <a:rect r="r" b="b" t="t" l="l"/>
            <a:pathLst>
              <a:path h="8356749" w="18303820">
                <a:moveTo>
                  <a:pt x="0" y="0"/>
                </a:moveTo>
                <a:lnTo>
                  <a:pt x="18303820" y="0"/>
                </a:lnTo>
                <a:lnTo>
                  <a:pt x="18303820" y="8356749"/>
                </a:lnTo>
                <a:lnTo>
                  <a:pt x="0" y="8356749"/>
                </a:lnTo>
                <a:lnTo>
                  <a:pt x="0" y="0"/>
                </a:lnTo>
                <a:close/>
              </a:path>
            </a:pathLst>
          </a:custGeom>
          <a:blipFill>
            <a:blip r:embed="rId4"/>
            <a:stretch>
              <a:fillRect l="0" t="-19800" r="-665" b="-466"/>
            </a:stretch>
          </a:blipFill>
        </p:spPr>
      </p:sp>
      <p:sp>
        <p:nvSpPr>
          <p:cNvPr name="TextBox 17" id="17"/>
          <p:cNvSpPr txBox="true"/>
          <p:nvPr/>
        </p:nvSpPr>
        <p:spPr>
          <a:xfrm rot="0">
            <a:off x="1028700" y="363095"/>
            <a:ext cx="12258783" cy="646430"/>
          </a:xfrm>
          <a:prstGeom prst="rect">
            <a:avLst/>
          </a:prstGeom>
        </p:spPr>
        <p:txBody>
          <a:bodyPr anchor="t" rtlCol="false" tIns="0" lIns="0" bIns="0" rIns="0">
            <a:spAutoFit/>
          </a:bodyPr>
          <a:lstStyle/>
          <a:p>
            <a:pPr algn="l">
              <a:lnSpc>
                <a:spcPts val="5319"/>
              </a:lnSpc>
              <a:spcBef>
                <a:spcPct val="0"/>
              </a:spcBef>
            </a:pPr>
            <a:r>
              <a:rPr lang="en-US" b="true" sz="3799" i="true">
                <a:solidFill>
                  <a:srgbClr val="061647"/>
                </a:solidFill>
                <a:latin typeface="Proxima Nova Heavy Italics"/>
                <a:ea typeface="Proxima Nova Heavy Italics"/>
                <a:cs typeface="Proxima Nova Heavy Italics"/>
                <a:sym typeface="Proxima Nova Heavy Italics"/>
              </a:rPr>
              <a:t>KIẾN TRÚC &amp; NGUYÊN LÝ HOẠT ĐỘNG</a:t>
            </a:r>
          </a:p>
        </p:txBody>
      </p:sp>
    </p:spTree>
  </p:cSld>
  <p:clrMapOvr>
    <a:masterClrMapping/>
  </p:clrMapOvr>
  <p:transition spd="fast">
    <p:cover dir="rd"/>
  </p:transition>
</p:sld>
</file>

<file path=ppt/slides/slide8.xml><?xml version="1.0" encoding="utf-8"?>
<p:sld xmlns:p="http://schemas.openxmlformats.org/presentationml/2006/main" xmlns:a="http://schemas.openxmlformats.org/drawingml/2006/main">
  <p:cSld>
    <p:bg>
      <p:bgPr>
        <a:gradFill rotWithShape="true">
          <a:gsLst>
            <a:gs pos="0">
              <a:srgbClr val="F5FCFF">
                <a:alpha val="100000"/>
              </a:srgbClr>
            </a:gs>
            <a:gs pos="33333">
              <a:srgbClr val="F5FCFF">
                <a:alpha val="100000"/>
              </a:srgbClr>
            </a:gs>
            <a:gs pos="66667">
              <a:srgbClr val="F5FCFF">
                <a:alpha val="100000"/>
              </a:srgbClr>
            </a:gs>
            <a:gs pos="100000">
              <a:srgbClr val="C5E3FF">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189806" y="-202673"/>
            <a:ext cx="18719200" cy="1431252"/>
            <a:chOff x="0" y="0"/>
            <a:chExt cx="4930160" cy="376955"/>
          </a:xfrm>
        </p:grpSpPr>
        <p:sp>
          <p:nvSpPr>
            <p:cNvPr name="Freeform 3" id="3"/>
            <p:cNvSpPr/>
            <p:nvPr/>
          </p:nvSpPr>
          <p:spPr>
            <a:xfrm flipH="false" flipV="false" rot="0">
              <a:off x="0" y="0"/>
              <a:ext cx="4930160" cy="376955"/>
            </a:xfrm>
            <a:custGeom>
              <a:avLst/>
              <a:gdLst/>
              <a:ahLst/>
              <a:cxnLst/>
              <a:rect r="r" b="b" t="t" l="l"/>
              <a:pathLst>
                <a:path h="376955" w="4930160">
                  <a:moveTo>
                    <a:pt x="0" y="0"/>
                  </a:moveTo>
                  <a:lnTo>
                    <a:pt x="4930160" y="0"/>
                  </a:lnTo>
                  <a:lnTo>
                    <a:pt x="4930160" y="376955"/>
                  </a:lnTo>
                  <a:lnTo>
                    <a:pt x="0" y="376955"/>
                  </a:lnTo>
                  <a:close/>
                </a:path>
              </a:pathLst>
            </a:custGeom>
            <a:solidFill>
              <a:srgbClr val="FFFFFF"/>
            </a:solidFill>
          </p:spPr>
        </p:sp>
        <p:sp>
          <p:nvSpPr>
            <p:cNvPr name="TextBox 4" id="4"/>
            <p:cNvSpPr txBox="true"/>
            <p:nvPr/>
          </p:nvSpPr>
          <p:spPr>
            <a:xfrm>
              <a:off x="0" y="-38100"/>
              <a:ext cx="4930160" cy="41505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89806" y="439295"/>
            <a:ext cx="347972" cy="513715"/>
            <a:chOff x="0" y="0"/>
            <a:chExt cx="91647" cy="135299"/>
          </a:xfrm>
        </p:grpSpPr>
        <p:sp>
          <p:nvSpPr>
            <p:cNvPr name="Freeform 6" id="6"/>
            <p:cNvSpPr/>
            <p:nvPr/>
          </p:nvSpPr>
          <p:spPr>
            <a:xfrm flipH="false" flipV="false" rot="0">
              <a:off x="0" y="0"/>
              <a:ext cx="91647" cy="135299"/>
            </a:xfrm>
            <a:custGeom>
              <a:avLst/>
              <a:gdLst/>
              <a:ahLst/>
              <a:cxnLst/>
              <a:rect r="r" b="b" t="t" l="l"/>
              <a:pathLst>
                <a:path h="135299" w="91647">
                  <a:moveTo>
                    <a:pt x="0" y="0"/>
                  </a:moveTo>
                  <a:lnTo>
                    <a:pt x="91647" y="0"/>
                  </a:lnTo>
                  <a:lnTo>
                    <a:pt x="91647" y="135299"/>
                  </a:lnTo>
                  <a:lnTo>
                    <a:pt x="0" y="135299"/>
                  </a:lnTo>
                  <a:close/>
                </a:path>
              </a:pathLst>
            </a:custGeom>
            <a:solidFill>
              <a:srgbClr val="3065CB"/>
            </a:solidFill>
          </p:spPr>
        </p:sp>
        <p:sp>
          <p:nvSpPr>
            <p:cNvPr name="TextBox 7" id="7"/>
            <p:cNvSpPr txBox="true"/>
            <p:nvPr/>
          </p:nvSpPr>
          <p:spPr>
            <a:xfrm>
              <a:off x="0" y="-38100"/>
              <a:ext cx="91647" cy="173399"/>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265152" y="439295"/>
            <a:ext cx="493718" cy="513715"/>
            <a:chOff x="0" y="0"/>
            <a:chExt cx="130033" cy="135299"/>
          </a:xfrm>
        </p:grpSpPr>
        <p:sp>
          <p:nvSpPr>
            <p:cNvPr name="Freeform 9" id="9"/>
            <p:cNvSpPr/>
            <p:nvPr/>
          </p:nvSpPr>
          <p:spPr>
            <a:xfrm flipH="false" flipV="false" rot="0">
              <a:off x="0" y="0"/>
              <a:ext cx="130033" cy="135299"/>
            </a:xfrm>
            <a:custGeom>
              <a:avLst/>
              <a:gdLst/>
              <a:ahLst/>
              <a:cxnLst/>
              <a:rect r="r" b="b" t="t" l="l"/>
              <a:pathLst>
                <a:path h="135299" w="130033">
                  <a:moveTo>
                    <a:pt x="0" y="0"/>
                  </a:moveTo>
                  <a:lnTo>
                    <a:pt x="130033" y="0"/>
                  </a:lnTo>
                  <a:lnTo>
                    <a:pt x="130033" y="135299"/>
                  </a:lnTo>
                  <a:lnTo>
                    <a:pt x="0" y="135299"/>
                  </a:lnTo>
                  <a:close/>
                </a:path>
              </a:pathLst>
            </a:custGeom>
            <a:gradFill rotWithShape="true">
              <a:gsLst>
                <a:gs pos="0">
                  <a:srgbClr val="C08846">
                    <a:alpha val="100000"/>
                  </a:srgbClr>
                </a:gs>
                <a:gs pos="100000">
                  <a:srgbClr val="FFC87B">
                    <a:alpha val="100000"/>
                  </a:srgbClr>
                </a:gs>
              </a:gsLst>
              <a:lin ang="5400000"/>
            </a:gradFill>
          </p:spPr>
        </p:sp>
        <p:sp>
          <p:nvSpPr>
            <p:cNvPr name="TextBox 10" id="10"/>
            <p:cNvSpPr txBox="true"/>
            <p:nvPr/>
          </p:nvSpPr>
          <p:spPr>
            <a:xfrm>
              <a:off x="0" y="-38100"/>
              <a:ext cx="130033" cy="173399"/>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073783" y="1114986"/>
            <a:ext cx="4503619" cy="4503619"/>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C08846">
                    <a:alpha val="100000"/>
                  </a:srgbClr>
                </a:gs>
                <a:gs pos="100000">
                  <a:srgbClr val="FFC87B">
                    <a:alpha val="100000"/>
                  </a:srgbClr>
                </a:gs>
              </a:gsLst>
              <a:lin ang="5400000"/>
            </a:gradFill>
            <a:ln w="38100" cap="rnd">
              <a:solidFill>
                <a:srgbClr val="FFFFFF"/>
              </a:solidFill>
              <a:prstDash val="solid"/>
              <a:round/>
            </a:ln>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4" id="14"/>
          <p:cNvGrpSpPr/>
          <p:nvPr/>
        </p:nvGrpSpPr>
        <p:grpSpPr>
          <a:xfrm rot="0">
            <a:off x="12255232" y="540311"/>
            <a:ext cx="4503619" cy="4503619"/>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C08846">
                    <a:alpha val="100000"/>
                  </a:srgbClr>
                </a:gs>
                <a:gs pos="100000">
                  <a:srgbClr val="FFC87B">
                    <a:alpha val="100000"/>
                  </a:srgbClr>
                </a:gs>
              </a:gsLst>
              <a:lin ang="5400000"/>
            </a:gradFill>
            <a:ln w="38100" cap="rnd">
              <a:solidFill>
                <a:srgbClr val="FFFFFF"/>
              </a:solidFill>
              <a:prstDash val="solid"/>
              <a:round/>
            </a:ln>
          </p:spPr>
        </p:sp>
        <p:sp>
          <p:nvSpPr>
            <p:cNvPr name="TextBox 16" id="16"/>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7" id="17"/>
          <p:cNvGrpSpPr/>
          <p:nvPr/>
        </p:nvGrpSpPr>
        <p:grpSpPr>
          <a:xfrm rot="0">
            <a:off x="6705195" y="1114986"/>
            <a:ext cx="4503619" cy="4503619"/>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235BBB">
                    <a:alpha val="100000"/>
                  </a:srgbClr>
                </a:gs>
                <a:gs pos="100000">
                  <a:srgbClr val="347FFF">
                    <a:alpha val="100000"/>
                  </a:srgbClr>
                </a:gs>
              </a:gsLst>
              <a:lin ang="5400000"/>
            </a:gradFill>
            <a:ln w="38100" cap="rnd">
              <a:solidFill>
                <a:srgbClr val="FFFFFF"/>
              </a:solidFill>
              <a:prstDash val="solid"/>
              <a:round/>
            </a:ln>
          </p:spPr>
        </p:sp>
        <p:sp>
          <p:nvSpPr>
            <p:cNvPr name="TextBox 19" id="19"/>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20" id="20"/>
          <p:cNvGrpSpPr/>
          <p:nvPr/>
        </p:nvGrpSpPr>
        <p:grpSpPr>
          <a:xfrm rot="5400000">
            <a:off x="5768972" y="3103528"/>
            <a:ext cx="831561" cy="526535"/>
            <a:chOff x="0" y="0"/>
            <a:chExt cx="740010" cy="468566"/>
          </a:xfrm>
        </p:grpSpPr>
        <p:sp>
          <p:nvSpPr>
            <p:cNvPr name="Freeform 21" id="21"/>
            <p:cNvSpPr/>
            <p:nvPr/>
          </p:nvSpPr>
          <p:spPr>
            <a:xfrm flipH="false" flipV="false" rot="0">
              <a:off x="0" y="0"/>
              <a:ext cx="740010" cy="468566"/>
            </a:xfrm>
            <a:custGeom>
              <a:avLst/>
              <a:gdLst/>
              <a:ahLst/>
              <a:cxnLst/>
              <a:rect r="r" b="b" t="t" l="l"/>
              <a:pathLst>
                <a:path h="468566" w="740010">
                  <a:moveTo>
                    <a:pt x="370005" y="0"/>
                  </a:moveTo>
                  <a:lnTo>
                    <a:pt x="740010" y="468566"/>
                  </a:lnTo>
                  <a:lnTo>
                    <a:pt x="0" y="468566"/>
                  </a:lnTo>
                  <a:lnTo>
                    <a:pt x="370005" y="0"/>
                  </a:lnTo>
                  <a:close/>
                </a:path>
              </a:pathLst>
            </a:custGeom>
            <a:solidFill>
              <a:srgbClr val="002772"/>
            </a:solidFill>
          </p:spPr>
        </p:sp>
        <p:sp>
          <p:nvSpPr>
            <p:cNvPr name="TextBox 22" id="22"/>
            <p:cNvSpPr txBox="true"/>
            <p:nvPr/>
          </p:nvSpPr>
          <p:spPr>
            <a:xfrm>
              <a:off x="115627" y="179448"/>
              <a:ext cx="508757" cy="255648"/>
            </a:xfrm>
            <a:prstGeom prst="rect">
              <a:avLst/>
            </a:prstGeom>
          </p:spPr>
          <p:txBody>
            <a:bodyPr anchor="ctr" rtlCol="false" tIns="50800" lIns="50800" bIns="50800" rIns="50800"/>
            <a:lstStyle/>
            <a:p>
              <a:pPr algn="ctr">
                <a:lnSpc>
                  <a:spcPts val="2659"/>
                </a:lnSpc>
              </a:pPr>
            </a:p>
          </p:txBody>
        </p:sp>
      </p:grpSp>
      <p:grpSp>
        <p:nvGrpSpPr>
          <p:cNvPr name="Group 23" id="23"/>
          <p:cNvGrpSpPr/>
          <p:nvPr/>
        </p:nvGrpSpPr>
        <p:grpSpPr>
          <a:xfrm rot="4519147">
            <a:off x="11410254" y="3103528"/>
            <a:ext cx="831561" cy="526535"/>
            <a:chOff x="0" y="0"/>
            <a:chExt cx="740010" cy="468566"/>
          </a:xfrm>
        </p:grpSpPr>
        <p:sp>
          <p:nvSpPr>
            <p:cNvPr name="Freeform 24" id="24"/>
            <p:cNvSpPr/>
            <p:nvPr/>
          </p:nvSpPr>
          <p:spPr>
            <a:xfrm flipH="false" flipV="false" rot="0">
              <a:off x="0" y="0"/>
              <a:ext cx="740010" cy="468566"/>
            </a:xfrm>
            <a:custGeom>
              <a:avLst/>
              <a:gdLst/>
              <a:ahLst/>
              <a:cxnLst/>
              <a:rect r="r" b="b" t="t" l="l"/>
              <a:pathLst>
                <a:path h="468566" w="740010">
                  <a:moveTo>
                    <a:pt x="370005" y="0"/>
                  </a:moveTo>
                  <a:lnTo>
                    <a:pt x="740010" y="468566"/>
                  </a:lnTo>
                  <a:lnTo>
                    <a:pt x="0" y="468566"/>
                  </a:lnTo>
                  <a:lnTo>
                    <a:pt x="370005" y="0"/>
                  </a:lnTo>
                  <a:close/>
                </a:path>
              </a:pathLst>
            </a:custGeom>
            <a:solidFill>
              <a:srgbClr val="002772"/>
            </a:solidFill>
          </p:spPr>
        </p:sp>
        <p:sp>
          <p:nvSpPr>
            <p:cNvPr name="TextBox 25" id="25"/>
            <p:cNvSpPr txBox="true"/>
            <p:nvPr/>
          </p:nvSpPr>
          <p:spPr>
            <a:xfrm>
              <a:off x="115627" y="179448"/>
              <a:ext cx="508757" cy="255648"/>
            </a:xfrm>
            <a:prstGeom prst="rect">
              <a:avLst/>
            </a:prstGeom>
          </p:spPr>
          <p:txBody>
            <a:bodyPr anchor="ctr" rtlCol="false" tIns="50800" lIns="50800" bIns="50800" rIns="50800"/>
            <a:lstStyle/>
            <a:p>
              <a:pPr algn="ctr">
                <a:lnSpc>
                  <a:spcPts val="2659"/>
                </a:lnSpc>
              </a:pPr>
            </a:p>
          </p:txBody>
        </p:sp>
      </p:grpSp>
      <p:sp>
        <p:nvSpPr>
          <p:cNvPr name="TextBox 26" id="26"/>
          <p:cNvSpPr txBox="true"/>
          <p:nvPr/>
        </p:nvSpPr>
        <p:spPr>
          <a:xfrm rot="0">
            <a:off x="1028700" y="382145"/>
            <a:ext cx="10180114" cy="570865"/>
          </a:xfrm>
          <a:prstGeom prst="rect">
            <a:avLst/>
          </a:prstGeom>
        </p:spPr>
        <p:txBody>
          <a:bodyPr anchor="t" rtlCol="false" tIns="0" lIns="0" bIns="0" rIns="0">
            <a:spAutoFit/>
          </a:bodyPr>
          <a:lstStyle/>
          <a:p>
            <a:pPr algn="l">
              <a:lnSpc>
                <a:spcPts val="4759"/>
              </a:lnSpc>
              <a:spcBef>
                <a:spcPct val="0"/>
              </a:spcBef>
            </a:pPr>
            <a:r>
              <a:rPr lang="en-US" b="true" sz="3399" i="true">
                <a:solidFill>
                  <a:srgbClr val="061647"/>
                </a:solidFill>
                <a:latin typeface="Proxima Nova Heavy Italics"/>
                <a:ea typeface="Proxima Nova Heavy Italics"/>
                <a:cs typeface="Proxima Nova Heavy Italics"/>
                <a:sym typeface="Proxima Nova Heavy Italics"/>
              </a:rPr>
              <a:t>LUỒNG NGƯỜI DÙNG</a:t>
            </a:r>
          </a:p>
        </p:txBody>
      </p:sp>
      <p:sp>
        <p:nvSpPr>
          <p:cNvPr name="TextBox 27" id="27"/>
          <p:cNvSpPr txBox="true"/>
          <p:nvPr/>
        </p:nvSpPr>
        <p:spPr>
          <a:xfrm rot="0">
            <a:off x="7353561" y="2725446"/>
            <a:ext cx="3206887" cy="1216025"/>
          </a:xfrm>
          <a:prstGeom prst="rect">
            <a:avLst/>
          </a:prstGeom>
        </p:spPr>
        <p:txBody>
          <a:bodyPr anchor="t" rtlCol="false" tIns="0" lIns="0" bIns="0" rIns="0">
            <a:spAutoFit/>
          </a:bodyPr>
          <a:lstStyle/>
          <a:p>
            <a:pPr algn="ctr">
              <a:lnSpc>
                <a:spcPts val="4900"/>
              </a:lnSpc>
            </a:pPr>
            <a:r>
              <a:rPr lang="en-US" b="true" sz="3500" i="true">
                <a:solidFill>
                  <a:srgbClr val="FFFFFF"/>
                </a:solidFill>
                <a:latin typeface="Proxima Nova Bold Italics"/>
                <a:ea typeface="Proxima Nova Bold Italics"/>
                <a:cs typeface="Proxima Nova Bold Italics"/>
                <a:sym typeface="Proxima Nova Bold Italics"/>
              </a:rPr>
              <a:t>Đăng nhập tài khoản</a:t>
            </a:r>
          </a:p>
        </p:txBody>
      </p:sp>
      <p:sp>
        <p:nvSpPr>
          <p:cNvPr name="TextBox 28" id="28"/>
          <p:cNvSpPr txBox="true"/>
          <p:nvPr/>
        </p:nvSpPr>
        <p:spPr>
          <a:xfrm rot="0">
            <a:off x="1543725" y="3044533"/>
            <a:ext cx="3563735" cy="587375"/>
          </a:xfrm>
          <a:prstGeom prst="rect">
            <a:avLst/>
          </a:prstGeom>
        </p:spPr>
        <p:txBody>
          <a:bodyPr anchor="t" rtlCol="false" tIns="0" lIns="0" bIns="0" rIns="0">
            <a:spAutoFit/>
          </a:bodyPr>
          <a:lstStyle/>
          <a:p>
            <a:pPr algn="ctr">
              <a:lnSpc>
                <a:spcPts val="4899"/>
              </a:lnSpc>
            </a:pPr>
            <a:r>
              <a:rPr lang="en-US" b="true" sz="3499" i="true">
                <a:solidFill>
                  <a:srgbClr val="FFFFFF"/>
                </a:solidFill>
                <a:latin typeface="Proxima Nova Bold Italics"/>
                <a:ea typeface="Proxima Nova Bold Italics"/>
                <a:cs typeface="Proxima Nova Bold Italics"/>
                <a:sym typeface="Proxima Nova Bold Italics"/>
              </a:rPr>
              <a:t>Mở ứng dụng</a:t>
            </a:r>
          </a:p>
        </p:txBody>
      </p:sp>
      <p:sp>
        <p:nvSpPr>
          <p:cNvPr name="TextBox 29" id="29"/>
          <p:cNvSpPr txBox="true"/>
          <p:nvPr/>
        </p:nvSpPr>
        <p:spPr>
          <a:xfrm rot="0">
            <a:off x="13098710" y="1841208"/>
            <a:ext cx="2816664" cy="1835150"/>
          </a:xfrm>
          <a:prstGeom prst="rect">
            <a:avLst/>
          </a:prstGeom>
        </p:spPr>
        <p:txBody>
          <a:bodyPr anchor="t" rtlCol="false" tIns="0" lIns="0" bIns="0" rIns="0">
            <a:spAutoFit/>
          </a:bodyPr>
          <a:lstStyle/>
          <a:p>
            <a:pPr algn="ctr">
              <a:lnSpc>
                <a:spcPts val="4900"/>
              </a:lnSpc>
            </a:pPr>
            <a:r>
              <a:rPr lang="en-US" b="true" sz="3500" i="true">
                <a:solidFill>
                  <a:srgbClr val="FFFFFF"/>
                </a:solidFill>
                <a:latin typeface="Proxima Nova Bold Italics"/>
                <a:ea typeface="Proxima Nova Bold Italics"/>
                <a:cs typeface="Proxima Nova Bold Italics"/>
                <a:sym typeface="Proxima Nova Bold Italics"/>
              </a:rPr>
              <a:t>Kích hoạt xác thực sinh trắc học</a:t>
            </a:r>
          </a:p>
        </p:txBody>
      </p:sp>
      <p:grpSp>
        <p:nvGrpSpPr>
          <p:cNvPr name="Group 30" id="30"/>
          <p:cNvGrpSpPr/>
          <p:nvPr/>
        </p:nvGrpSpPr>
        <p:grpSpPr>
          <a:xfrm rot="0">
            <a:off x="12255232" y="5783381"/>
            <a:ext cx="4503619" cy="4503619"/>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235BBB">
                    <a:alpha val="100000"/>
                  </a:srgbClr>
                </a:gs>
                <a:gs pos="100000">
                  <a:srgbClr val="347FFF">
                    <a:alpha val="100000"/>
                  </a:srgbClr>
                </a:gs>
              </a:gsLst>
              <a:lin ang="5400000"/>
            </a:gradFill>
            <a:ln w="38100" cap="rnd">
              <a:solidFill>
                <a:srgbClr val="FFFFFF"/>
              </a:solidFill>
              <a:prstDash val="solid"/>
              <a:round/>
            </a:ln>
          </p:spPr>
        </p:sp>
        <p:sp>
          <p:nvSpPr>
            <p:cNvPr name="TextBox 32" id="32"/>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33" id="33"/>
          <p:cNvGrpSpPr/>
          <p:nvPr/>
        </p:nvGrpSpPr>
        <p:grpSpPr>
          <a:xfrm rot="0">
            <a:off x="6705195" y="5783381"/>
            <a:ext cx="4503619" cy="4503619"/>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C08846">
                    <a:alpha val="100000"/>
                  </a:srgbClr>
                </a:gs>
                <a:gs pos="100000">
                  <a:srgbClr val="FFC87B">
                    <a:alpha val="100000"/>
                  </a:srgbClr>
                </a:gs>
              </a:gsLst>
              <a:lin ang="5400000"/>
            </a:gradFill>
            <a:ln w="38100" cap="rnd">
              <a:solidFill>
                <a:srgbClr val="FFFFFF"/>
              </a:solidFill>
              <a:prstDash val="solid"/>
              <a:round/>
            </a:ln>
          </p:spPr>
        </p:sp>
        <p:sp>
          <p:nvSpPr>
            <p:cNvPr name="TextBox 35" id="35"/>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36" id="36"/>
          <p:cNvGrpSpPr/>
          <p:nvPr/>
        </p:nvGrpSpPr>
        <p:grpSpPr>
          <a:xfrm rot="0">
            <a:off x="1073783" y="5780530"/>
            <a:ext cx="4503619" cy="4503619"/>
            <a:chOff x="0" y="0"/>
            <a:chExt cx="812800" cy="812800"/>
          </a:xfrm>
        </p:grpSpPr>
        <p:sp>
          <p:nvSpPr>
            <p:cNvPr name="Freeform 37" id="3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235BBB">
                    <a:alpha val="100000"/>
                  </a:srgbClr>
                </a:gs>
                <a:gs pos="100000">
                  <a:srgbClr val="347FFF">
                    <a:alpha val="100000"/>
                  </a:srgbClr>
                </a:gs>
              </a:gsLst>
              <a:lin ang="5400000"/>
            </a:gradFill>
            <a:ln w="38100" cap="rnd">
              <a:solidFill>
                <a:srgbClr val="FFFFFF"/>
              </a:solidFill>
              <a:prstDash val="solid"/>
              <a:round/>
            </a:ln>
          </p:spPr>
        </p:sp>
        <p:sp>
          <p:nvSpPr>
            <p:cNvPr name="TextBox 38" id="38"/>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39" id="39"/>
          <p:cNvGrpSpPr/>
          <p:nvPr/>
        </p:nvGrpSpPr>
        <p:grpSpPr>
          <a:xfrm rot="-10800000">
            <a:off x="14091261" y="5256846"/>
            <a:ext cx="831561" cy="526535"/>
            <a:chOff x="0" y="0"/>
            <a:chExt cx="740010" cy="468566"/>
          </a:xfrm>
        </p:grpSpPr>
        <p:sp>
          <p:nvSpPr>
            <p:cNvPr name="Freeform 40" id="40"/>
            <p:cNvSpPr/>
            <p:nvPr/>
          </p:nvSpPr>
          <p:spPr>
            <a:xfrm flipH="false" flipV="false" rot="0">
              <a:off x="0" y="0"/>
              <a:ext cx="740010" cy="468566"/>
            </a:xfrm>
            <a:custGeom>
              <a:avLst/>
              <a:gdLst/>
              <a:ahLst/>
              <a:cxnLst/>
              <a:rect r="r" b="b" t="t" l="l"/>
              <a:pathLst>
                <a:path h="468566" w="740010">
                  <a:moveTo>
                    <a:pt x="370005" y="0"/>
                  </a:moveTo>
                  <a:lnTo>
                    <a:pt x="740010" y="468566"/>
                  </a:lnTo>
                  <a:lnTo>
                    <a:pt x="0" y="468566"/>
                  </a:lnTo>
                  <a:lnTo>
                    <a:pt x="370005" y="0"/>
                  </a:lnTo>
                  <a:close/>
                </a:path>
              </a:pathLst>
            </a:custGeom>
            <a:solidFill>
              <a:srgbClr val="002772"/>
            </a:solidFill>
          </p:spPr>
        </p:sp>
        <p:sp>
          <p:nvSpPr>
            <p:cNvPr name="TextBox 41" id="41"/>
            <p:cNvSpPr txBox="true"/>
            <p:nvPr/>
          </p:nvSpPr>
          <p:spPr>
            <a:xfrm>
              <a:off x="115627" y="179448"/>
              <a:ext cx="508757" cy="255648"/>
            </a:xfrm>
            <a:prstGeom prst="rect">
              <a:avLst/>
            </a:prstGeom>
          </p:spPr>
          <p:txBody>
            <a:bodyPr anchor="ctr" rtlCol="false" tIns="50800" lIns="50800" bIns="50800" rIns="50800"/>
            <a:lstStyle/>
            <a:p>
              <a:pPr algn="ctr">
                <a:lnSpc>
                  <a:spcPts val="2659"/>
                </a:lnSpc>
              </a:pPr>
            </a:p>
          </p:txBody>
        </p:sp>
      </p:grpSp>
      <p:sp>
        <p:nvSpPr>
          <p:cNvPr name="TextBox 42" id="42"/>
          <p:cNvSpPr txBox="true"/>
          <p:nvPr/>
        </p:nvSpPr>
        <p:spPr>
          <a:xfrm rot="0">
            <a:off x="13098710" y="6774716"/>
            <a:ext cx="2816664" cy="2454275"/>
          </a:xfrm>
          <a:prstGeom prst="rect">
            <a:avLst/>
          </a:prstGeom>
        </p:spPr>
        <p:txBody>
          <a:bodyPr anchor="t" rtlCol="false" tIns="0" lIns="0" bIns="0" rIns="0">
            <a:spAutoFit/>
          </a:bodyPr>
          <a:lstStyle/>
          <a:p>
            <a:pPr algn="ctr">
              <a:lnSpc>
                <a:spcPts val="4900"/>
              </a:lnSpc>
            </a:pPr>
            <a:r>
              <a:rPr lang="en-US" b="true" sz="3500" i="true">
                <a:solidFill>
                  <a:srgbClr val="FFFFFF"/>
                </a:solidFill>
                <a:latin typeface="Proxima Nova Bold Italics"/>
                <a:ea typeface="Proxima Nova Bold Italics"/>
                <a:cs typeface="Proxima Nova Bold Italics"/>
                <a:sym typeface="Proxima Nova Bold Italics"/>
              </a:rPr>
              <a:t>Lần sau mở ứng dụng → chọn Face ID / Vân tay</a:t>
            </a:r>
          </a:p>
        </p:txBody>
      </p:sp>
      <p:sp>
        <p:nvSpPr>
          <p:cNvPr name="TextBox 43" id="43"/>
          <p:cNvSpPr txBox="true"/>
          <p:nvPr/>
        </p:nvSpPr>
        <p:spPr>
          <a:xfrm rot="0">
            <a:off x="7548672" y="7081427"/>
            <a:ext cx="2816664" cy="1835150"/>
          </a:xfrm>
          <a:prstGeom prst="rect">
            <a:avLst/>
          </a:prstGeom>
        </p:spPr>
        <p:txBody>
          <a:bodyPr anchor="t" rtlCol="false" tIns="0" lIns="0" bIns="0" rIns="0">
            <a:spAutoFit/>
          </a:bodyPr>
          <a:lstStyle/>
          <a:p>
            <a:pPr algn="ctr">
              <a:lnSpc>
                <a:spcPts val="4900"/>
              </a:lnSpc>
            </a:pPr>
            <a:r>
              <a:rPr lang="en-US" b="true" sz="3500" i="true">
                <a:solidFill>
                  <a:srgbClr val="FFFFFF"/>
                </a:solidFill>
                <a:latin typeface="Proxima Nova Bold Italics"/>
                <a:ea typeface="Proxima Nova Bold Italics"/>
                <a:cs typeface="Proxima Nova Bold Italics"/>
                <a:sym typeface="Proxima Nova Bold Italics"/>
              </a:rPr>
              <a:t>Hệ thống xác thực người dùng</a:t>
            </a:r>
          </a:p>
        </p:txBody>
      </p:sp>
      <p:sp>
        <p:nvSpPr>
          <p:cNvPr name="TextBox 44" id="44"/>
          <p:cNvSpPr txBox="true"/>
          <p:nvPr/>
        </p:nvSpPr>
        <p:spPr>
          <a:xfrm rot="0">
            <a:off x="1917260" y="6804025"/>
            <a:ext cx="2816664" cy="2454275"/>
          </a:xfrm>
          <a:prstGeom prst="rect">
            <a:avLst/>
          </a:prstGeom>
        </p:spPr>
        <p:txBody>
          <a:bodyPr anchor="t" rtlCol="false" tIns="0" lIns="0" bIns="0" rIns="0">
            <a:spAutoFit/>
          </a:bodyPr>
          <a:lstStyle/>
          <a:p>
            <a:pPr algn="ctr">
              <a:lnSpc>
                <a:spcPts val="4900"/>
              </a:lnSpc>
            </a:pPr>
            <a:r>
              <a:rPr lang="en-US" b="true" sz="3500" i="true">
                <a:solidFill>
                  <a:srgbClr val="FFFFFF"/>
                </a:solidFill>
                <a:latin typeface="Proxima Nova Bold Italics"/>
                <a:ea typeface="Proxima Nova Bold Italics"/>
                <a:cs typeface="Proxima Nova Bold Italics"/>
                <a:sym typeface="Proxima Nova Bold Italics"/>
              </a:rPr>
              <a:t>Xác thực thành công → truy cập ứng dụng</a:t>
            </a:r>
          </a:p>
        </p:txBody>
      </p:sp>
      <p:grpSp>
        <p:nvGrpSpPr>
          <p:cNvPr name="Group 45" id="45"/>
          <p:cNvGrpSpPr/>
          <p:nvPr/>
        </p:nvGrpSpPr>
        <p:grpSpPr>
          <a:xfrm rot="-5400000">
            <a:off x="11313476" y="7769072"/>
            <a:ext cx="831561" cy="526535"/>
            <a:chOff x="0" y="0"/>
            <a:chExt cx="740010" cy="468566"/>
          </a:xfrm>
        </p:grpSpPr>
        <p:sp>
          <p:nvSpPr>
            <p:cNvPr name="Freeform 46" id="46"/>
            <p:cNvSpPr/>
            <p:nvPr/>
          </p:nvSpPr>
          <p:spPr>
            <a:xfrm flipH="false" flipV="false" rot="0">
              <a:off x="0" y="0"/>
              <a:ext cx="740010" cy="468566"/>
            </a:xfrm>
            <a:custGeom>
              <a:avLst/>
              <a:gdLst/>
              <a:ahLst/>
              <a:cxnLst/>
              <a:rect r="r" b="b" t="t" l="l"/>
              <a:pathLst>
                <a:path h="468566" w="740010">
                  <a:moveTo>
                    <a:pt x="370005" y="0"/>
                  </a:moveTo>
                  <a:lnTo>
                    <a:pt x="740010" y="468566"/>
                  </a:lnTo>
                  <a:lnTo>
                    <a:pt x="0" y="468566"/>
                  </a:lnTo>
                  <a:lnTo>
                    <a:pt x="370005" y="0"/>
                  </a:lnTo>
                  <a:close/>
                </a:path>
              </a:pathLst>
            </a:custGeom>
            <a:solidFill>
              <a:srgbClr val="002772"/>
            </a:solidFill>
          </p:spPr>
        </p:sp>
        <p:sp>
          <p:nvSpPr>
            <p:cNvPr name="TextBox 47" id="47"/>
            <p:cNvSpPr txBox="true"/>
            <p:nvPr/>
          </p:nvSpPr>
          <p:spPr>
            <a:xfrm>
              <a:off x="115627" y="179448"/>
              <a:ext cx="508757" cy="255648"/>
            </a:xfrm>
            <a:prstGeom prst="rect">
              <a:avLst/>
            </a:prstGeom>
          </p:spPr>
          <p:txBody>
            <a:bodyPr anchor="ctr" rtlCol="false" tIns="50800" lIns="50800" bIns="50800" rIns="50800"/>
            <a:lstStyle/>
            <a:p>
              <a:pPr algn="ctr">
                <a:lnSpc>
                  <a:spcPts val="2659"/>
                </a:lnSpc>
              </a:pPr>
            </a:p>
          </p:txBody>
        </p:sp>
      </p:grpSp>
      <p:grpSp>
        <p:nvGrpSpPr>
          <p:cNvPr name="Group 48" id="48"/>
          <p:cNvGrpSpPr/>
          <p:nvPr/>
        </p:nvGrpSpPr>
        <p:grpSpPr>
          <a:xfrm rot="-5400000">
            <a:off x="5768972" y="7769072"/>
            <a:ext cx="831561" cy="526535"/>
            <a:chOff x="0" y="0"/>
            <a:chExt cx="740010" cy="468566"/>
          </a:xfrm>
        </p:grpSpPr>
        <p:sp>
          <p:nvSpPr>
            <p:cNvPr name="Freeform 49" id="49"/>
            <p:cNvSpPr/>
            <p:nvPr/>
          </p:nvSpPr>
          <p:spPr>
            <a:xfrm flipH="false" flipV="false" rot="0">
              <a:off x="0" y="0"/>
              <a:ext cx="740010" cy="468566"/>
            </a:xfrm>
            <a:custGeom>
              <a:avLst/>
              <a:gdLst/>
              <a:ahLst/>
              <a:cxnLst/>
              <a:rect r="r" b="b" t="t" l="l"/>
              <a:pathLst>
                <a:path h="468566" w="740010">
                  <a:moveTo>
                    <a:pt x="370005" y="0"/>
                  </a:moveTo>
                  <a:lnTo>
                    <a:pt x="740010" y="468566"/>
                  </a:lnTo>
                  <a:lnTo>
                    <a:pt x="0" y="468566"/>
                  </a:lnTo>
                  <a:lnTo>
                    <a:pt x="370005" y="0"/>
                  </a:lnTo>
                  <a:close/>
                </a:path>
              </a:pathLst>
            </a:custGeom>
            <a:solidFill>
              <a:srgbClr val="002772"/>
            </a:solidFill>
          </p:spPr>
        </p:sp>
        <p:sp>
          <p:nvSpPr>
            <p:cNvPr name="TextBox 50" id="50"/>
            <p:cNvSpPr txBox="true"/>
            <p:nvPr/>
          </p:nvSpPr>
          <p:spPr>
            <a:xfrm>
              <a:off x="115627" y="179448"/>
              <a:ext cx="508757" cy="255648"/>
            </a:xfrm>
            <a:prstGeom prst="rect">
              <a:avLst/>
            </a:prstGeom>
          </p:spPr>
          <p:txBody>
            <a:bodyPr anchor="ctr" rtlCol="false" tIns="50800" lIns="50800" bIns="50800" rIns="50800"/>
            <a:lstStyle/>
            <a:p>
              <a:pPr algn="ctr">
                <a:lnSpc>
                  <a:spcPts val="2659"/>
                </a:lnSpc>
              </a:pPr>
            </a:p>
          </p:txBody>
        </p:sp>
      </p:grpSp>
    </p:spTree>
  </p:cSld>
  <p:clrMapOvr>
    <a:masterClrMapping/>
  </p:clrMapOvr>
  <p:transition spd="fast">
    <p:cover dir="rd"/>
  </p:transition>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50000">
              <a:srgbClr val="71A2FF">
                <a:alpha val="100000"/>
              </a:srgbClr>
            </a:gs>
            <a:gs pos="100000">
              <a:srgbClr val="002772">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189806" y="-202673"/>
            <a:ext cx="18719200" cy="1431252"/>
            <a:chOff x="0" y="0"/>
            <a:chExt cx="4930160" cy="376955"/>
          </a:xfrm>
        </p:grpSpPr>
        <p:sp>
          <p:nvSpPr>
            <p:cNvPr name="Freeform 3" id="3"/>
            <p:cNvSpPr/>
            <p:nvPr/>
          </p:nvSpPr>
          <p:spPr>
            <a:xfrm flipH="false" flipV="false" rot="0">
              <a:off x="0" y="0"/>
              <a:ext cx="4930160" cy="376955"/>
            </a:xfrm>
            <a:custGeom>
              <a:avLst/>
              <a:gdLst/>
              <a:ahLst/>
              <a:cxnLst/>
              <a:rect r="r" b="b" t="t" l="l"/>
              <a:pathLst>
                <a:path h="376955" w="4930160">
                  <a:moveTo>
                    <a:pt x="0" y="0"/>
                  </a:moveTo>
                  <a:lnTo>
                    <a:pt x="4930160" y="0"/>
                  </a:lnTo>
                  <a:lnTo>
                    <a:pt x="4930160" y="376955"/>
                  </a:lnTo>
                  <a:lnTo>
                    <a:pt x="0" y="376955"/>
                  </a:lnTo>
                  <a:close/>
                </a:path>
              </a:pathLst>
            </a:custGeom>
            <a:solidFill>
              <a:srgbClr val="FFFFFF"/>
            </a:solidFill>
          </p:spPr>
        </p:sp>
        <p:sp>
          <p:nvSpPr>
            <p:cNvPr name="TextBox 4" id="4"/>
            <p:cNvSpPr txBox="true"/>
            <p:nvPr/>
          </p:nvSpPr>
          <p:spPr>
            <a:xfrm>
              <a:off x="0" y="-38100"/>
              <a:ext cx="4930160" cy="41505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89806" y="439295"/>
            <a:ext cx="347972" cy="513715"/>
            <a:chOff x="0" y="0"/>
            <a:chExt cx="91647" cy="135299"/>
          </a:xfrm>
        </p:grpSpPr>
        <p:sp>
          <p:nvSpPr>
            <p:cNvPr name="Freeform 6" id="6"/>
            <p:cNvSpPr/>
            <p:nvPr/>
          </p:nvSpPr>
          <p:spPr>
            <a:xfrm flipH="false" flipV="false" rot="0">
              <a:off x="0" y="0"/>
              <a:ext cx="91647" cy="135299"/>
            </a:xfrm>
            <a:custGeom>
              <a:avLst/>
              <a:gdLst/>
              <a:ahLst/>
              <a:cxnLst/>
              <a:rect r="r" b="b" t="t" l="l"/>
              <a:pathLst>
                <a:path h="135299" w="91647">
                  <a:moveTo>
                    <a:pt x="0" y="0"/>
                  </a:moveTo>
                  <a:lnTo>
                    <a:pt x="91647" y="0"/>
                  </a:lnTo>
                  <a:lnTo>
                    <a:pt x="91647" y="135299"/>
                  </a:lnTo>
                  <a:lnTo>
                    <a:pt x="0" y="135299"/>
                  </a:lnTo>
                  <a:close/>
                </a:path>
              </a:pathLst>
            </a:custGeom>
            <a:solidFill>
              <a:srgbClr val="3065CB"/>
            </a:solidFill>
          </p:spPr>
        </p:sp>
        <p:sp>
          <p:nvSpPr>
            <p:cNvPr name="TextBox 7" id="7"/>
            <p:cNvSpPr txBox="true"/>
            <p:nvPr/>
          </p:nvSpPr>
          <p:spPr>
            <a:xfrm>
              <a:off x="0" y="-38100"/>
              <a:ext cx="91647" cy="173399"/>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265152" y="439295"/>
            <a:ext cx="493718" cy="513715"/>
            <a:chOff x="0" y="0"/>
            <a:chExt cx="130033" cy="135299"/>
          </a:xfrm>
        </p:grpSpPr>
        <p:sp>
          <p:nvSpPr>
            <p:cNvPr name="Freeform 9" id="9"/>
            <p:cNvSpPr/>
            <p:nvPr/>
          </p:nvSpPr>
          <p:spPr>
            <a:xfrm flipH="false" flipV="false" rot="0">
              <a:off x="0" y="0"/>
              <a:ext cx="130033" cy="135299"/>
            </a:xfrm>
            <a:custGeom>
              <a:avLst/>
              <a:gdLst/>
              <a:ahLst/>
              <a:cxnLst/>
              <a:rect r="r" b="b" t="t" l="l"/>
              <a:pathLst>
                <a:path h="135299" w="130033">
                  <a:moveTo>
                    <a:pt x="0" y="0"/>
                  </a:moveTo>
                  <a:lnTo>
                    <a:pt x="130033" y="0"/>
                  </a:lnTo>
                  <a:lnTo>
                    <a:pt x="130033" y="135299"/>
                  </a:lnTo>
                  <a:lnTo>
                    <a:pt x="0" y="135299"/>
                  </a:lnTo>
                  <a:close/>
                </a:path>
              </a:pathLst>
            </a:custGeom>
            <a:gradFill rotWithShape="true">
              <a:gsLst>
                <a:gs pos="0">
                  <a:srgbClr val="C08846">
                    <a:alpha val="100000"/>
                  </a:srgbClr>
                </a:gs>
                <a:gs pos="100000">
                  <a:srgbClr val="FFC87B">
                    <a:alpha val="100000"/>
                  </a:srgbClr>
                </a:gs>
              </a:gsLst>
              <a:lin ang="5400000"/>
            </a:gradFill>
          </p:spPr>
        </p:sp>
        <p:sp>
          <p:nvSpPr>
            <p:cNvPr name="TextBox 10" id="10"/>
            <p:cNvSpPr txBox="true"/>
            <p:nvPr/>
          </p:nvSpPr>
          <p:spPr>
            <a:xfrm>
              <a:off x="0" y="-38100"/>
              <a:ext cx="130033" cy="173399"/>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2441542" y="1442262"/>
            <a:ext cx="3896850" cy="8448455"/>
          </a:xfrm>
          <a:custGeom>
            <a:avLst/>
            <a:gdLst/>
            <a:ahLst/>
            <a:cxnLst/>
            <a:rect r="r" b="b" t="t" l="l"/>
            <a:pathLst>
              <a:path h="8448455" w="3896850">
                <a:moveTo>
                  <a:pt x="0" y="0"/>
                </a:moveTo>
                <a:lnTo>
                  <a:pt x="3896849" y="0"/>
                </a:lnTo>
                <a:lnTo>
                  <a:pt x="3896849" y="8448455"/>
                </a:lnTo>
                <a:lnTo>
                  <a:pt x="0" y="8448455"/>
                </a:lnTo>
                <a:lnTo>
                  <a:pt x="0" y="0"/>
                </a:lnTo>
                <a:close/>
              </a:path>
            </a:pathLst>
          </a:custGeom>
          <a:blipFill>
            <a:blip r:embed="rId2"/>
            <a:stretch>
              <a:fillRect l="0" t="0" r="0" b="0"/>
            </a:stretch>
          </a:blipFill>
        </p:spPr>
      </p:sp>
      <p:sp>
        <p:nvSpPr>
          <p:cNvPr name="Freeform 12" id="12"/>
          <p:cNvSpPr/>
          <p:nvPr/>
        </p:nvSpPr>
        <p:spPr>
          <a:xfrm flipH="false" flipV="false" rot="0">
            <a:off x="2441542" y="1442262"/>
            <a:ext cx="3906995" cy="8448455"/>
          </a:xfrm>
          <a:custGeom>
            <a:avLst/>
            <a:gdLst/>
            <a:ahLst/>
            <a:cxnLst/>
            <a:rect r="r" b="b" t="t" l="l"/>
            <a:pathLst>
              <a:path h="8448455" w="3906995">
                <a:moveTo>
                  <a:pt x="0" y="0"/>
                </a:moveTo>
                <a:lnTo>
                  <a:pt x="3906995" y="0"/>
                </a:lnTo>
                <a:lnTo>
                  <a:pt x="3906995" y="8448455"/>
                </a:lnTo>
                <a:lnTo>
                  <a:pt x="0" y="8448455"/>
                </a:lnTo>
                <a:lnTo>
                  <a:pt x="0" y="0"/>
                </a:lnTo>
                <a:close/>
              </a:path>
            </a:pathLst>
          </a:custGeom>
          <a:blipFill>
            <a:blip r:embed="rId3"/>
            <a:stretch>
              <a:fillRect l="-17393" t="0" r="-189328" b="0"/>
            </a:stretch>
          </a:blipFill>
        </p:spPr>
      </p:sp>
      <p:sp>
        <p:nvSpPr>
          <p:cNvPr name="Freeform 13" id="13"/>
          <p:cNvSpPr/>
          <p:nvPr/>
        </p:nvSpPr>
        <p:spPr>
          <a:xfrm flipH="false" flipV="false" rot="0">
            <a:off x="9029700" y="1661117"/>
            <a:ext cx="8229600" cy="8229600"/>
          </a:xfrm>
          <a:custGeom>
            <a:avLst/>
            <a:gdLst/>
            <a:ahLst/>
            <a:cxnLst/>
            <a:rect r="r" b="b" t="t" l="l"/>
            <a:pathLst>
              <a:path h="8229600" w="8229600">
                <a:moveTo>
                  <a:pt x="0" y="0"/>
                </a:moveTo>
                <a:lnTo>
                  <a:pt x="8229600" y="0"/>
                </a:lnTo>
                <a:lnTo>
                  <a:pt x="8229600" y="8229600"/>
                </a:lnTo>
                <a:lnTo>
                  <a:pt x="0" y="8229600"/>
                </a:lnTo>
                <a:lnTo>
                  <a:pt x="0" y="0"/>
                </a:lnTo>
                <a:close/>
              </a:path>
            </a:pathLst>
          </a:custGeom>
          <a:blipFill>
            <a:blip r:embed="rId4"/>
            <a:stretch>
              <a:fillRect l="0" t="0" r="0" b="0"/>
            </a:stretch>
          </a:blipFill>
        </p:spPr>
      </p:sp>
      <p:sp>
        <p:nvSpPr>
          <p:cNvPr name="TextBox 14" id="14"/>
          <p:cNvSpPr txBox="true"/>
          <p:nvPr/>
        </p:nvSpPr>
        <p:spPr>
          <a:xfrm rot="0">
            <a:off x="1028700" y="382145"/>
            <a:ext cx="8850302" cy="570865"/>
          </a:xfrm>
          <a:prstGeom prst="rect">
            <a:avLst/>
          </a:prstGeom>
        </p:spPr>
        <p:txBody>
          <a:bodyPr anchor="t" rtlCol="false" tIns="0" lIns="0" bIns="0" rIns="0">
            <a:spAutoFit/>
          </a:bodyPr>
          <a:lstStyle/>
          <a:p>
            <a:pPr algn="l">
              <a:lnSpc>
                <a:spcPts val="4759"/>
              </a:lnSpc>
              <a:spcBef>
                <a:spcPct val="0"/>
              </a:spcBef>
            </a:pPr>
            <a:r>
              <a:rPr lang="en-US" b="true" sz="3399" i="true">
                <a:solidFill>
                  <a:srgbClr val="061647"/>
                </a:solidFill>
                <a:latin typeface="Proxima Nova Heavy Italics"/>
                <a:ea typeface="Proxima Nova Heavy Italics"/>
                <a:cs typeface="Proxima Nova Heavy Italics"/>
                <a:sym typeface="Proxima Nova Heavy Italics"/>
              </a:rPr>
              <a:t>THIẾT KẾ GIAO DIỆN ỨNG DỤNG (UI/UX)</a:t>
            </a:r>
          </a:p>
        </p:txBody>
      </p:sp>
      <p:sp>
        <p:nvSpPr>
          <p:cNvPr name="TextBox 15" id="15"/>
          <p:cNvSpPr txBox="true"/>
          <p:nvPr/>
        </p:nvSpPr>
        <p:spPr>
          <a:xfrm rot="0">
            <a:off x="8883227" y="2244888"/>
            <a:ext cx="8234073" cy="7415530"/>
          </a:xfrm>
          <a:prstGeom prst="rect">
            <a:avLst/>
          </a:prstGeom>
        </p:spPr>
        <p:txBody>
          <a:bodyPr anchor="t" rtlCol="false" tIns="0" lIns="0" bIns="0" rIns="0">
            <a:spAutoFit/>
          </a:bodyPr>
          <a:lstStyle/>
          <a:p>
            <a:pPr algn="l">
              <a:lnSpc>
                <a:spcPts val="3920"/>
              </a:lnSpc>
            </a:pPr>
          </a:p>
          <a:p>
            <a:pPr algn="l" marL="604523" indent="-302261" lvl="1">
              <a:lnSpc>
                <a:spcPts val="3920"/>
              </a:lnSpc>
              <a:buFont typeface="Arial"/>
              <a:buChar char="•"/>
            </a:pPr>
            <a:r>
              <a:rPr lang="en-US" b="true" sz="2800">
                <a:solidFill>
                  <a:srgbClr val="FFFFFF"/>
                </a:solidFill>
                <a:latin typeface="Proxima Nova Bold"/>
                <a:ea typeface="Proxima Nova Bold"/>
                <a:cs typeface="Proxima Nova Bold"/>
                <a:sym typeface="Proxima Nova Bold"/>
              </a:rPr>
              <a:t>Đăng nhập truyền thống:</a:t>
            </a:r>
          </a:p>
          <a:p>
            <a:pPr algn="l" marL="604523" indent="-302261" lvl="1">
              <a:lnSpc>
                <a:spcPts val="3920"/>
              </a:lnSpc>
              <a:buFont typeface="Arial"/>
              <a:buChar char="•"/>
            </a:pPr>
            <a:r>
              <a:rPr lang="en-US" b="true" sz="2800">
                <a:solidFill>
                  <a:srgbClr val="FFFFFF"/>
                </a:solidFill>
                <a:latin typeface="Proxima Nova Bold"/>
                <a:ea typeface="Proxima Nova Bold"/>
                <a:cs typeface="Proxima Nova Bold"/>
                <a:sym typeface="Proxima Nova Bold"/>
              </a:rPr>
              <a:t>Nhập Số điện thoại / Email và Mật khẩu. </a:t>
            </a:r>
          </a:p>
          <a:p>
            <a:pPr algn="l" marL="604523" indent="-302261" lvl="1">
              <a:lnSpc>
                <a:spcPts val="3920"/>
              </a:lnSpc>
              <a:buFont typeface="Arial"/>
              <a:buChar char="•"/>
            </a:pPr>
            <a:r>
              <a:rPr lang="en-US" b="true" sz="2800">
                <a:solidFill>
                  <a:srgbClr val="FFFFFF"/>
                </a:solidFill>
                <a:latin typeface="Proxima Nova Bold"/>
                <a:ea typeface="Proxima Nova Bold"/>
                <a:cs typeface="Proxima Nova Bold"/>
                <a:sym typeface="Proxima Nova Bold"/>
              </a:rPr>
              <a:t>Có nút ẩn/hiện mật khẩu bảo mật. </a:t>
            </a:r>
          </a:p>
          <a:p>
            <a:pPr algn="l" marL="604523" indent="-302261" lvl="1">
              <a:lnSpc>
                <a:spcPts val="3920"/>
              </a:lnSpc>
              <a:buFont typeface="Arial"/>
              <a:buChar char="•"/>
            </a:pPr>
            <a:r>
              <a:rPr lang="en-US" b="true" sz="2800">
                <a:solidFill>
                  <a:srgbClr val="FFFFFF"/>
                </a:solidFill>
                <a:latin typeface="Proxima Nova Bold"/>
                <a:ea typeface="Proxima Nova Bold"/>
                <a:cs typeface="Proxima Nova Bold"/>
                <a:sym typeface="Proxima Nova Bold"/>
              </a:rPr>
              <a:t>Xác thực nhanh bằng Sinh trắc học:</a:t>
            </a:r>
          </a:p>
          <a:p>
            <a:pPr algn="l" marL="604523" indent="-302261" lvl="1">
              <a:lnSpc>
                <a:spcPts val="3920"/>
              </a:lnSpc>
              <a:buFont typeface="Arial"/>
              <a:buChar char="•"/>
            </a:pPr>
            <a:r>
              <a:rPr lang="en-US" b="true" sz="2800">
                <a:solidFill>
                  <a:srgbClr val="FFFFFF"/>
                </a:solidFill>
                <a:latin typeface="Proxima Nova Bold"/>
                <a:ea typeface="Proxima Nova Bold"/>
                <a:cs typeface="Proxima Nova Bold"/>
                <a:sym typeface="Proxima Nova Bold"/>
              </a:rPr>
              <a:t>Nút kích hoạt quét vân tay / Face ID đặt ở vị trí thuận tiện thao tác. </a:t>
            </a:r>
          </a:p>
          <a:p>
            <a:pPr algn="l" marL="604523" indent="-302261" lvl="1">
              <a:lnSpc>
                <a:spcPts val="3920"/>
              </a:lnSpc>
              <a:buFont typeface="Arial"/>
              <a:buChar char="•"/>
            </a:pPr>
            <a:r>
              <a:rPr lang="en-US" b="true" sz="2800">
                <a:solidFill>
                  <a:srgbClr val="FFFFFF"/>
                </a:solidFill>
                <a:latin typeface="Proxima Nova Bold"/>
                <a:ea typeface="Proxima Nova Bold"/>
                <a:cs typeface="Proxima Nova Bold"/>
                <a:sym typeface="Proxima Nova Bold"/>
              </a:rPr>
              <a:t>Tích hợp cơ chế tự động mở hộp thoại quét vân tay ngay khi vào app.</a:t>
            </a:r>
          </a:p>
          <a:p>
            <a:pPr algn="l" marL="604523" indent="-302261" lvl="1">
              <a:lnSpc>
                <a:spcPts val="3920"/>
              </a:lnSpc>
              <a:buFont typeface="Arial"/>
              <a:buChar char="•"/>
            </a:pPr>
            <a:r>
              <a:rPr lang="en-US" b="true" sz="2800">
                <a:solidFill>
                  <a:srgbClr val="FFFFFF"/>
                </a:solidFill>
                <a:latin typeface="Proxima Nova Bold"/>
                <a:ea typeface="Proxima Nova Bold"/>
                <a:cs typeface="Proxima Nova Bold"/>
                <a:sym typeface="Proxima Nova Bold"/>
              </a:rPr>
              <a:t>Xử lý trạng thái &amp; Phản hồi (Feedback):</a:t>
            </a:r>
          </a:p>
          <a:p>
            <a:pPr algn="l" marL="604523" indent="-302261" lvl="1">
              <a:lnSpc>
                <a:spcPts val="3920"/>
              </a:lnSpc>
              <a:buFont typeface="Arial"/>
              <a:buChar char="•"/>
            </a:pPr>
            <a:r>
              <a:rPr lang="en-US" b="true" sz="2800">
                <a:solidFill>
                  <a:srgbClr val="FFFFFF"/>
                </a:solidFill>
                <a:latin typeface="Proxima Nova Bold"/>
                <a:ea typeface="Proxima Nova Bold"/>
                <a:cs typeface="Proxima Nova Bold"/>
                <a:sym typeface="Proxima Nova Bold"/>
              </a:rPr>
              <a:t>Hiển thị thông báo (SnackBar/Toast) phản hồi tức thì khi người dùng hủy thao tác hoặc xác thực thất bại. </a:t>
            </a:r>
          </a:p>
          <a:p>
            <a:pPr algn="l" marL="604523" indent="-302261" lvl="1">
              <a:lnSpc>
                <a:spcPts val="3920"/>
              </a:lnSpc>
              <a:buFont typeface="Arial"/>
              <a:buChar char="•"/>
            </a:pPr>
            <a:r>
              <a:rPr lang="en-US" b="true" sz="2800">
                <a:solidFill>
                  <a:srgbClr val="FFFFFF"/>
                </a:solidFill>
                <a:latin typeface="Proxima Nova Bold"/>
                <a:ea typeface="Proxima Nova Bold"/>
                <a:cs typeface="Proxima Nova Bold"/>
                <a:sym typeface="Proxima Nova Bold"/>
              </a:rPr>
              <a:t>Tự động điều hướng và lưu trữ phiên đăng nhập an toàn khi xác thực thành công.</a:t>
            </a:r>
          </a:p>
        </p:txBody>
      </p:sp>
      <p:sp>
        <p:nvSpPr>
          <p:cNvPr name="TextBox 16" id="16"/>
          <p:cNvSpPr txBox="true"/>
          <p:nvPr/>
        </p:nvSpPr>
        <p:spPr>
          <a:xfrm rot="0">
            <a:off x="9169547" y="1970251"/>
            <a:ext cx="7661434" cy="596900"/>
          </a:xfrm>
          <a:prstGeom prst="rect">
            <a:avLst/>
          </a:prstGeom>
        </p:spPr>
        <p:txBody>
          <a:bodyPr anchor="t" rtlCol="false" tIns="0" lIns="0" bIns="0" rIns="0">
            <a:spAutoFit/>
          </a:bodyPr>
          <a:lstStyle/>
          <a:p>
            <a:pPr algn="ctr">
              <a:lnSpc>
                <a:spcPts val="4900"/>
              </a:lnSpc>
              <a:spcBef>
                <a:spcPct val="0"/>
              </a:spcBef>
            </a:pPr>
            <a:r>
              <a:rPr lang="en-US" b="true" sz="3500">
                <a:solidFill>
                  <a:srgbClr val="061647"/>
                </a:solidFill>
                <a:latin typeface="Proxima Nova Bold"/>
                <a:ea typeface="Proxima Nova Bold"/>
                <a:cs typeface="Proxima Nova Bold"/>
                <a:sym typeface="Proxima Nova Bold"/>
              </a:rPr>
              <a:t>GIAO DIỆN ĐĂNG NHẬP &amp; XÁC THỰC</a:t>
            </a:r>
          </a:p>
        </p:txBody>
      </p:sp>
      <p:sp>
        <p:nvSpPr>
          <p:cNvPr name="Freeform 17" id="17"/>
          <p:cNvSpPr/>
          <p:nvPr/>
        </p:nvSpPr>
        <p:spPr>
          <a:xfrm flipH="false" flipV="false" rot="0">
            <a:off x="13752280" y="0"/>
            <a:ext cx="4498283" cy="1442262"/>
          </a:xfrm>
          <a:custGeom>
            <a:avLst/>
            <a:gdLst/>
            <a:ahLst/>
            <a:cxnLst/>
            <a:rect r="r" b="b" t="t" l="l"/>
            <a:pathLst>
              <a:path h="1442262" w="4498283">
                <a:moveTo>
                  <a:pt x="0" y="0"/>
                </a:moveTo>
                <a:lnTo>
                  <a:pt x="4498283" y="0"/>
                </a:lnTo>
                <a:lnTo>
                  <a:pt x="4498283" y="1442262"/>
                </a:lnTo>
                <a:lnTo>
                  <a:pt x="0" y="1442262"/>
                </a:lnTo>
                <a:lnTo>
                  <a:pt x="0" y="0"/>
                </a:lnTo>
                <a:close/>
              </a:path>
            </a:pathLst>
          </a:custGeom>
          <a:blipFill>
            <a:blip r:embed="rId5"/>
            <a:stretch>
              <a:fillRect l="0" t="0" r="0" b="0"/>
            </a:stretch>
          </a:blipFill>
        </p:spPr>
      </p:sp>
    </p:spTree>
  </p:cSld>
  <p:clrMapOvr>
    <a:masterClrMapping/>
  </p:clrMapOvr>
  <p:transition spd="fast">
    <p:cover dir="rd"/>
  </p:transition>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50000">
              <a:srgbClr val="71A2FF">
                <a:alpha val="100000"/>
              </a:srgbClr>
            </a:gs>
            <a:gs pos="100000">
              <a:srgbClr val="002772">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189806" y="-202673"/>
            <a:ext cx="18719200" cy="1431252"/>
            <a:chOff x="0" y="0"/>
            <a:chExt cx="4930160" cy="376955"/>
          </a:xfrm>
        </p:grpSpPr>
        <p:sp>
          <p:nvSpPr>
            <p:cNvPr name="Freeform 3" id="3"/>
            <p:cNvSpPr/>
            <p:nvPr/>
          </p:nvSpPr>
          <p:spPr>
            <a:xfrm flipH="false" flipV="false" rot="0">
              <a:off x="0" y="0"/>
              <a:ext cx="4930160" cy="376955"/>
            </a:xfrm>
            <a:custGeom>
              <a:avLst/>
              <a:gdLst/>
              <a:ahLst/>
              <a:cxnLst/>
              <a:rect r="r" b="b" t="t" l="l"/>
              <a:pathLst>
                <a:path h="376955" w="4930160">
                  <a:moveTo>
                    <a:pt x="0" y="0"/>
                  </a:moveTo>
                  <a:lnTo>
                    <a:pt x="4930160" y="0"/>
                  </a:lnTo>
                  <a:lnTo>
                    <a:pt x="4930160" y="376955"/>
                  </a:lnTo>
                  <a:lnTo>
                    <a:pt x="0" y="376955"/>
                  </a:lnTo>
                  <a:close/>
                </a:path>
              </a:pathLst>
            </a:custGeom>
            <a:solidFill>
              <a:srgbClr val="FFFFFF"/>
            </a:solidFill>
          </p:spPr>
        </p:sp>
        <p:sp>
          <p:nvSpPr>
            <p:cNvPr name="TextBox 4" id="4"/>
            <p:cNvSpPr txBox="true"/>
            <p:nvPr/>
          </p:nvSpPr>
          <p:spPr>
            <a:xfrm>
              <a:off x="0" y="-38100"/>
              <a:ext cx="4930160" cy="41505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89806" y="439295"/>
            <a:ext cx="347972" cy="513715"/>
            <a:chOff x="0" y="0"/>
            <a:chExt cx="91647" cy="135299"/>
          </a:xfrm>
        </p:grpSpPr>
        <p:sp>
          <p:nvSpPr>
            <p:cNvPr name="Freeform 6" id="6"/>
            <p:cNvSpPr/>
            <p:nvPr/>
          </p:nvSpPr>
          <p:spPr>
            <a:xfrm flipH="false" flipV="false" rot="0">
              <a:off x="0" y="0"/>
              <a:ext cx="91647" cy="135299"/>
            </a:xfrm>
            <a:custGeom>
              <a:avLst/>
              <a:gdLst/>
              <a:ahLst/>
              <a:cxnLst/>
              <a:rect r="r" b="b" t="t" l="l"/>
              <a:pathLst>
                <a:path h="135299" w="91647">
                  <a:moveTo>
                    <a:pt x="0" y="0"/>
                  </a:moveTo>
                  <a:lnTo>
                    <a:pt x="91647" y="0"/>
                  </a:lnTo>
                  <a:lnTo>
                    <a:pt x="91647" y="135299"/>
                  </a:lnTo>
                  <a:lnTo>
                    <a:pt x="0" y="135299"/>
                  </a:lnTo>
                  <a:close/>
                </a:path>
              </a:pathLst>
            </a:custGeom>
            <a:solidFill>
              <a:srgbClr val="3065CB"/>
            </a:solidFill>
          </p:spPr>
        </p:sp>
        <p:sp>
          <p:nvSpPr>
            <p:cNvPr name="TextBox 7" id="7"/>
            <p:cNvSpPr txBox="true"/>
            <p:nvPr/>
          </p:nvSpPr>
          <p:spPr>
            <a:xfrm>
              <a:off x="0" y="-38100"/>
              <a:ext cx="91647" cy="173399"/>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265152" y="439295"/>
            <a:ext cx="493718" cy="513715"/>
            <a:chOff x="0" y="0"/>
            <a:chExt cx="130033" cy="135299"/>
          </a:xfrm>
        </p:grpSpPr>
        <p:sp>
          <p:nvSpPr>
            <p:cNvPr name="Freeform 9" id="9"/>
            <p:cNvSpPr/>
            <p:nvPr/>
          </p:nvSpPr>
          <p:spPr>
            <a:xfrm flipH="false" flipV="false" rot="0">
              <a:off x="0" y="0"/>
              <a:ext cx="130033" cy="135299"/>
            </a:xfrm>
            <a:custGeom>
              <a:avLst/>
              <a:gdLst/>
              <a:ahLst/>
              <a:cxnLst/>
              <a:rect r="r" b="b" t="t" l="l"/>
              <a:pathLst>
                <a:path h="135299" w="130033">
                  <a:moveTo>
                    <a:pt x="0" y="0"/>
                  </a:moveTo>
                  <a:lnTo>
                    <a:pt x="130033" y="0"/>
                  </a:lnTo>
                  <a:lnTo>
                    <a:pt x="130033" y="135299"/>
                  </a:lnTo>
                  <a:lnTo>
                    <a:pt x="0" y="135299"/>
                  </a:lnTo>
                  <a:close/>
                </a:path>
              </a:pathLst>
            </a:custGeom>
            <a:gradFill rotWithShape="true">
              <a:gsLst>
                <a:gs pos="0">
                  <a:srgbClr val="C08846">
                    <a:alpha val="100000"/>
                  </a:srgbClr>
                </a:gs>
                <a:gs pos="100000">
                  <a:srgbClr val="FFC87B">
                    <a:alpha val="100000"/>
                  </a:srgbClr>
                </a:gs>
              </a:gsLst>
              <a:lin ang="5400000"/>
            </a:gradFill>
          </p:spPr>
        </p:sp>
        <p:sp>
          <p:nvSpPr>
            <p:cNvPr name="TextBox 10" id="10"/>
            <p:cNvSpPr txBox="true"/>
            <p:nvPr/>
          </p:nvSpPr>
          <p:spPr>
            <a:xfrm>
              <a:off x="0" y="-38100"/>
              <a:ext cx="130033" cy="173399"/>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8592296" y="2010780"/>
            <a:ext cx="8667004" cy="9362771"/>
            <a:chOff x="0" y="0"/>
            <a:chExt cx="11556006" cy="12483694"/>
          </a:xfrm>
        </p:grpSpPr>
        <p:sp>
          <p:nvSpPr>
            <p:cNvPr name="TextBox 12" id="12"/>
            <p:cNvSpPr txBox="true"/>
            <p:nvPr/>
          </p:nvSpPr>
          <p:spPr>
            <a:xfrm rot="0">
              <a:off x="0" y="57150"/>
              <a:ext cx="7865063" cy="705747"/>
            </a:xfrm>
            <a:prstGeom prst="rect">
              <a:avLst/>
            </a:prstGeom>
          </p:spPr>
          <p:txBody>
            <a:bodyPr anchor="t" rtlCol="false" tIns="0" lIns="0" bIns="0" rIns="0">
              <a:spAutoFit/>
            </a:bodyPr>
            <a:lstStyle/>
            <a:p>
              <a:pPr algn="l" marL="816771" indent="-408385" lvl="1">
                <a:lnSpc>
                  <a:spcPts val="3934"/>
                </a:lnSpc>
                <a:buFont typeface="Arial"/>
                <a:buChar char="•"/>
              </a:pPr>
              <a:r>
                <a:rPr lang="en-US" b="true" sz="3783">
                  <a:solidFill>
                    <a:srgbClr val="061647"/>
                  </a:solidFill>
                  <a:latin typeface="Proxima Nova Heavy"/>
                  <a:ea typeface="Proxima Nova Heavy"/>
                  <a:cs typeface="Proxima Nova Heavy"/>
                  <a:sym typeface="Proxima Nova Heavy"/>
                </a:rPr>
                <a:t>ƯU ĐIỂM</a:t>
              </a:r>
            </a:p>
          </p:txBody>
        </p:sp>
        <p:sp>
          <p:nvSpPr>
            <p:cNvPr name="TextBox 13" id="13"/>
            <p:cNvSpPr txBox="true"/>
            <p:nvPr/>
          </p:nvSpPr>
          <p:spPr>
            <a:xfrm rot="0">
              <a:off x="0" y="5636895"/>
              <a:ext cx="10071582" cy="705747"/>
            </a:xfrm>
            <a:prstGeom prst="rect">
              <a:avLst/>
            </a:prstGeom>
          </p:spPr>
          <p:txBody>
            <a:bodyPr anchor="t" rtlCol="false" tIns="0" lIns="0" bIns="0" rIns="0">
              <a:spAutoFit/>
            </a:bodyPr>
            <a:lstStyle/>
            <a:p>
              <a:pPr algn="l" marL="816771" indent="-408385" lvl="1">
                <a:lnSpc>
                  <a:spcPts val="3934"/>
                </a:lnSpc>
                <a:buFont typeface="Arial"/>
                <a:buChar char="•"/>
              </a:pPr>
              <a:r>
                <a:rPr lang="en-US" b="true" sz="3783">
                  <a:solidFill>
                    <a:srgbClr val="061647"/>
                  </a:solidFill>
                  <a:latin typeface="Proxima Nova Heavy"/>
                  <a:ea typeface="Proxima Nova Heavy"/>
                  <a:cs typeface="Proxima Nova Heavy"/>
                  <a:sym typeface="Proxima Nova Heavy"/>
                </a:rPr>
                <a:t>HẠN CHẾ</a:t>
              </a:r>
            </a:p>
          </p:txBody>
        </p:sp>
        <p:sp>
          <p:nvSpPr>
            <p:cNvPr name="TextBox 14" id="14"/>
            <p:cNvSpPr txBox="true"/>
            <p:nvPr/>
          </p:nvSpPr>
          <p:spPr>
            <a:xfrm rot="0">
              <a:off x="0" y="11222174"/>
              <a:ext cx="10071582" cy="706320"/>
            </a:xfrm>
            <a:prstGeom prst="rect">
              <a:avLst/>
            </a:prstGeom>
          </p:spPr>
          <p:txBody>
            <a:bodyPr anchor="t" rtlCol="false" tIns="0" lIns="0" bIns="0" rIns="0">
              <a:spAutoFit/>
            </a:bodyPr>
            <a:lstStyle/>
            <a:p>
              <a:pPr algn="l">
                <a:lnSpc>
                  <a:spcPts val="3934"/>
                </a:lnSpc>
              </a:pPr>
            </a:p>
          </p:txBody>
        </p:sp>
        <p:sp>
          <p:nvSpPr>
            <p:cNvPr name="TextBox 15" id="15"/>
            <p:cNvSpPr txBox="true"/>
            <p:nvPr/>
          </p:nvSpPr>
          <p:spPr>
            <a:xfrm rot="0">
              <a:off x="1197592" y="812258"/>
              <a:ext cx="10358414" cy="3924723"/>
            </a:xfrm>
            <a:prstGeom prst="rect">
              <a:avLst/>
            </a:prstGeom>
          </p:spPr>
          <p:txBody>
            <a:bodyPr anchor="t" rtlCol="false" tIns="0" lIns="0" bIns="0" rIns="0">
              <a:spAutoFit/>
            </a:bodyPr>
            <a:lstStyle/>
            <a:p>
              <a:pPr algn="l" marL="604519" indent="-302260" lvl="1">
                <a:lnSpc>
                  <a:spcPts val="3919"/>
                </a:lnSpc>
                <a:buFont typeface="Arial"/>
                <a:buChar char="•"/>
              </a:pPr>
              <a:r>
                <a:rPr lang="en-US" b="true" sz="2799">
                  <a:solidFill>
                    <a:srgbClr val="FFFFFF"/>
                  </a:solidFill>
                  <a:latin typeface="Proxima Nova Bold"/>
                  <a:ea typeface="Proxima Nova Bold"/>
                  <a:cs typeface="Proxima Nova Bold"/>
                  <a:sym typeface="Proxima Nova Bold"/>
                </a:rPr>
                <a:t>Tốc độ xác thực cực nhanh (&lt; 0.5s), không cần gõ mật khẩu thủ công.</a:t>
              </a:r>
            </a:p>
            <a:p>
              <a:pPr algn="l" marL="604519" indent="-302260" lvl="1">
                <a:lnSpc>
                  <a:spcPts val="3919"/>
                </a:lnSpc>
                <a:buFont typeface="Arial"/>
                <a:buChar char="•"/>
              </a:pPr>
              <a:r>
                <a:rPr lang="en-US" b="true" sz="2799">
                  <a:solidFill>
                    <a:srgbClr val="FFFFFF"/>
                  </a:solidFill>
                  <a:latin typeface="Proxima Nova Bold"/>
                  <a:ea typeface="Proxima Nova Bold"/>
                  <a:cs typeface="Proxima Nova Bold"/>
                  <a:sym typeface="Proxima Nova Bold"/>
                </a:rPr>
                <a:t>Bảo mật cao cấp: Token không bao giờ lưu dưới dạng văn bản thô (plain text).</a:t>
              </a:r>
            </a:p>
            <a:p>
              <a:pPr algn="l" marL="604519" indent="-302260" lvl="1">
                <a:lnSpc>
                  <a:spcPts val="3919"/>
                </a:lnSpc>
                <a:buFont typeface="Arial"/>
                <a:buChar char="•"/>
              </a:pPr>
              <a:r>
                <a:rPr lang="en-US" b="true" sz="2799">
                  <a:solidFill>
                    <a:srgbClr val="FFFFFF"/>
                  </a:solidFill>
                  <a:latin typeface="Proxima Nova Bold"/>
                  <a:ea typeface="Proxima Nova Bold"/>
                  <a:cs typeface="Proxima Nova Bold"/>
                  <a:sym typeface="Proxima Nova Bold"/>
                </a:rPr>
                <a:t>Trải nghiệm người dùng mượt mà, tiện lợi cho người dùng .</a:t>
              </a:r>
            </a:p>
          </p:txBody>
        </p:sp>
        <p:sp>
          <p:nvSpPr>
            <p:cNvPr name="TextBox 16" id="16"/>
            <p:cNvSpPr txBox="true"/>
            <p:nvPr/>
          </p:nvSpPr>
          <p:spPr>
            <a:xfrm rot="0">
              <a:off x="1197592" y="6392003"/>
              <a:ext cx="10322900" cy="3924723"/>
            </a:xfrm>
            <a:prstGeom prst="rect">
              <a:avLst/>
            </a:prstGeom>
          </p:spPr>
          <p:txBody>
            <a:bodyPr anchor="t" rtlCol="false" tIns="0" lIns="0" bIns="0" rIns="0">
              <a:spAutoFit/>
            </a:bodyPr>
            <a:lstStyle/>
            <a:p>
              <a:pPr algn="l" marL="604519" indent="-302260" lvl="1">
                <a:lnSpc>
                  <a:spcPts val="3919"/>
                </a:lnSpc>
                <a:buFont typeface="Arial"/>
                <a:buChar char="•"/>
              </a:pPr>
              <a:r>
                <a:rPr lang="en-US" b="true" sz="2799">
                  <a:solidFill>
                    <a:srgbClr val="FFFFFF"/>
                  </a:solidFill>
                  <a:latin typeface="Proxima Nova Bold"/>
                  <a:ea typeface="Proxima Nova Bold"/>
                  <a:cs typeface="Proxima Nova Bold"/>
                  <a:sym typeface="Proxima Nova Bold"/>
                </a:rPr>
                <a:t>Phụ thuộc vào phần cứng của thiết bị (máy cũ không có cảm biến vân tay sẽ phải dùng mã PIN).</a:t>
              </a:r>
            </a:p>
            <a:p>
              <a:pPr algn="l" marL="604519" indent="-302260" lvl="1">
                <a:lnSpc>
                  <a:spcPts val="3919"/>
                </a:lnSpc>
                <a:buFont typeface="Arial"/>
                <a:buChar char="•"/>
              </a:pPr>
              <a:r>
                <a:rPr lang="en-US" b="true" sz="2799">
                  <a:solidFill>
                    <a:srgbClr val="FFFFFF"/>
                  </a:solidFill>
                  <a:latin typeface="Proxima Nova Bold"/>
                  <a:ea typeface="Proxima Nova Bold"/>
                  <a:cs typeface="Proxima Nova Bold"/>
                  <a:sym typeface="Proxima Nova Bold"/>
                </a:rPr>
                <a:t>Phụ thuộc phần cứng thiết bị (máy hỏng cảm biến không dùng được), tay bị ướt/bẩn khó nhận diện.</a:t>
              </a:r>
            </a:p>
          </p:txBody>
        </p:sp>
        <p:sp>
          <p:nvSpPr>
            <p:cNvPr name="TextBox 17" id="17"/>
            <p:cNvSpPr txBox="true"/>
            <p:nvPr/>
          </p:nvSpPr>
          <p:spPr>
            <a:xfrm rot="0">
              <a:off x="1197592" y="11987381"/>
              <a:ext cx="10358414" cy="496313"/>
            </a:xfrm>
            <a:prstGeom prst="rect">
              <a:avLst/>
            </a:prstGeom>
          </p:spPr>
          <p:txBody>
            <a:bodyPr anchor="t" rtlCol="false" tIns="0" lIns="0" bIns="0" rIns="0">
              <a:spAutoFit/>
            </a:bodyPr>
            <a:lstStyle/>
            <a:p>
              <a:pPr algn="l">
                <a:lnSpc>
                  <a:spcPts val="3137"/>
                </a:lnSpc>
              </a:pPr>
            </a:p>
          </p:txBody>
        </p:sp>
      </p:grpSp>
      <p:grpSp>
        <p:nvGrpSpPr>
          <p:cNvPr name="Group 18" id="18"/>
          <p:cNvGrpSpPr/>
          <p:nvPr/>
        </p:nvGrpSpPr>
        <p:grpSpPr>
          <a:xfrm rot="0">
            <a:off x="9169794" y="5626218"/>
            <a:ext cx="8115300" cy="547423"/>
            <a:chOff x="0" y="0"/>
            <a:chExt cx="2137363" cy="144177"/>
          </a:xfrm>
        </p:grpSpPr>
        <p:sp>
          <p:nvSpPr>
            <p:cNvPr name="Freeform 19" id="19"/>
            <p:cNvSpPr/>
            <p:nvPr/>
          </p:nvSpPr>
          <p:spPr>
            <a:xfrm flipH="false" flipV="false" rot="0">
              <a:off x="0" y="0"/>
              <a:ext cx="2137363" cy="144177"/>
            </a:xfrm>
            <a:custGeom>
              <a:avLst/>
              <a:gdLst/>
              <a:ahLst/>
              <a:cxnLst/>
              <a:rect r="r" b="b" t="t" l="l"/>
              <a:pathLst>
                <a:path h="144177" w="2137363">
                  <a:moveTo>
                    <a:pt x="2137363" y="0"/>
                  </a:moveTo>
                  <a:lnTo>
                    <a:pt x="0" y="0"/>
                  </a:lnTo>
                  <a:lnTo>
                    <a:pt x="101600" y="72089"/>
                  </a:lnTo>
                  <a:lnTo>
                    <a:pt x="0" y="144177"/>
                  </a:lnTo>
                  <a:lnTo>
                    <a:pt x="2137363" y="144177"/>
                  </a:lnTo>
                  <a:lnTo>
                    <a:pt x="2035763" y="72089"/>
                  </a:lnTo>
                  <a:lnTo>
                    <a:pt x="2137363" y="0"/>
                  </a:lnTo>
                  <a:close/>
                </a:path>
              </a:pathLst>
            </a:custGeom>
            <a:solidFill>
              <a:srgbClr val="061647"/>
            </a:solidFill>
          </p:spPr>
        </p:sp>
        <p:sp>
          <p:nvSpPr>
            <p:cNvPr name="TextBox 20" id="20"/>
            <p:cNvSpPr txBox="true"/>
            <p:nvPr/>
          </p:nvSpPr>
          <p:spPr>
            <a:xfrm>
              <a:off x="88900" y="-38100"/>
              <a:ext cx="1959563" cy="182277"/>
            </a:xfrm>
            <a:prstGeom prst="rect">
              <a:avLst/>
            </a:prstGeom>
          </p:spPr>
          <p:txBody>
            <a:bodyPr anchor="ctr" rtlCol="false" tIns="50800" lIns="50800" bIns="50800" rIns="50800"/>
            <a:lstStyle/>
            <a:p>
              <a:pPr algn="ctr">
                <a:lnSpc>
                  <a:spcPts val="2659"/>
                </a:lnSpc>
              </a:pPr>
            </a:p>
          </p:txBody>
        </p:sp>
      </p:grpSp>
      <p:sp>
        <p:nvSpPr>
          <p:cNvPr name="Freeform 21" id="21"/>
          <p:cNvSpPr/>
          <p:nvPr/>
        </p:nvSpPr>
        <p:spPr>
          <a:xfrm flipH="false" flipV="false" rot="0">
            <a:off x="2684796" y="5349528"/>
            <a:ext cx="3670565" cy="3266803"/>
          </a:xfrm>
          <a:custGeom>
            <a:avLst/>
            <a:gdLst/>
            <a:ahLst/>
            <a:cxnLst/>
            <a:rect r="r" b="b" t="t" l="l"/>
            <a:pathLst>
              <a:path h="3266803" w="3670565">
                <a:moveTo>
                  <a:pt x="0" y="0"/>
                </a:moveTo>
                <a:lnTo>
                  <a:pt x="3670565" y="0"/>
                </a:lnTo>
                <a:lnTo>
                  <a:pt x="3670565" y="3266803"/>
                </a:lnTo>
                <a:lnTo>
                  <a:pt x="0" y="326680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2" id="22"/>
          <p:cNvSpPr/>
          <p:nvPr/>
        </p:nvSpPr>
        <p:spPr>
          <a:xfrm flipH="false" flipV="false" rot="547638">
            <a:off x="2132703" y="2444129"/>
            <a:ext cx="3775395" cy="3794367"/>
          </a:xfrm>
          <a:custGeom>
            <a:avLst/>
            <a:gdLst/>
            <a:ahLst/>
            <a:cxnLst/>
            <a:rect r="r" b="b" t="t" l="l"/>
            <a:pathLst>
              <a:path h="3794367" w="3775395">
                <a:moveTo>
                  <a:pt x="0" y="0"/>
                </a:moveTo>
                <a:lnTo>
                  <a:pt x="3775395" y="0"/>
                </a:lnTo>
                <a:lnTo>
                  <a:pt x="3775395" y="3794367"/>
                </a:lnTo>
                <a:lnTo>
                  <a:pt x="0" y="379436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3" id="23"/>
          <p:cNvSpPr/>
          <p:nvPr/>
        </p:nvSpPr>
        <p:spPr>
          <a:xfrm flipH="false" flipV="false" rot="0">
            <a:off x="400882" y="2627583"/>
            <a:ext cx="7239037" cy="6268002"/>
          </a:xfrm>
          <a:custGeom>
            <a:avLst/>
            <a:gdLst/>
            <a:ahLst/>
            <a:cxnLst/>
            <a:rect r="r" b="b" t="t" l="l"/>
            <a:pathLst>
              <a:path h="6268002" w="7239037">
                <a:moveTo>
                  <a:pt x="0" y="0"/>
                </a:moveTo>
                <a:lnTo>
                  <a:pt x="7239037" y="0"/>
                </a:lnTo>
                <a:lnTo>
                  <a:pt x="7239037" y="6268002"/>
                </a:lnTo>
                <a:lnTo>
                  <a:pt x="0" y="6268002"/>
                </a:lnTo>
                <a:lnTo>
                  <a:pt x="0" y="0"/>
                </a:lnTo>
                <a:close/>
              </a:path>
            </a:pathLst>
          </a:custGeom>
          <a:blipFill>
            <a:blip r:embed="rId6"/>
            <a:stretch>
              <a:fillRect l="-5675" t="0" r="-17141" b="0"/>
            </a:stretch>
          </a:blipFill>
        </p:spPr>
      </p:sp>
      <p:sp>
        <p:nvSpPr>
          <p:cNvPr name="Freeform 24" id="24"/>
          <p:cNvSpPr/>
          <p:nvPr/>
        </p:nvSpPr>
        <p:spPr>
          <a:xfrm flipH="false" flipV="false" rot="0">
            <a:off x="80655" y="2627583"/>
            <a:ext cx="8878848" cy="6268002"/>
          </a:xfrm>
          <a:custGeom>
            <a:avLst/>
            <a:gdLst/>
            <a:ahLst/>
            <a:cxnLst/>
            <a:rect r="r" b="b" t="t" l="l"/>
            <a:pathLst>
              <a:path h="6268002" w="8878848">
                <a:moveTo>
                  <a:pt x="0" y="0"/>
                </a:moveTo>
                <a:lnTo>
                  <a:pt x="8878848" y="0"/>
                </a:lnTo>
                <a:lnTo>
                  <a:pt x="8878848" y="6268002"/>
                </a:lnTo>
                <a:lnTo>
                  <a:pt x="0" y="6268002"/>
                </a:lnTo>
                <a:lnTo>
                  <a:pt x="0" y="0"/>
                </a:lnTo>
                <a:close/>
              </a:path>
            </a:pathLst>
          </a:custGeom>
          <a:blipFill>
            <a:blip r:embed="rId6"/>
            <a:stretch>
              <a:fillRect l="0" t="0" r="-134" b="0"/>
            </a:stretch>
          </a:blipFill>
        </p:spPr>
      </p:sp>
      <p:sp>
        <p:nvSpPr>
          <p:cNvPr name="TextBox 25" id="25"/>
          <p:cNvSpPr txBox="true"/>
          <p:nvPr/>
        </p:nvSpPr>
        <p:spPr>
          <a:xfrm rot="0">
            <a:off x="1028700" y="382145"/>
            <a:ext cx="11087075" cy="570865"/>
          </a:xfrm>
          <a:prstGeom prst="rect">
            <a:avLst/>
          </a:prstGeom>
        </p:spPr>
        <p:txBody>
          <a:bodyPr anchor="t" rtlCol="false" tIns="0" lIns="0" bIns="0" rIns="0">
            <a:spAutoFit/>
          </a:bodyPr>
          <a:lstStyle/>
          <a:p>
            <a:pPr algn="l">
              <a:lnSpc>
                <a:spcPts val="4759"/>
              </a:lnSpc>
              <a:spcBef>
                <a:spcPct val="0"/>
              </a:spcBef>
            </a:pPr>
            <a:r>
              <a:rPr lang="en-US" b="true" sz="3399" i="true">
                <a:solidFill>
                  <a:srgbClr val="061647"/>
                </a:solidFill>
                <a:latin typeface="Proxima Nova Heavy Italics"/>
                <a:ea typeface="Proxima Nova Heavy Italics"/>
                <a:cs typeface="Proxima Nova Heavy Italics"/>
                <a:sym typeface="Proxima Nova Heavy Italics"/>
              </a:rPr>
              <a:t>ĐÁNH GIÁ ƯU ĐIỂM &amp; HẠN CHẾ</a:t>
            </a:r>
          </a:p>
        </p:txBody>
      </p:sp>
      <p:sp>
        <p:nvSpPr>
          <p:cNvPr name="Freeform 26" id="26"/>
          <p:cNvSpPr/>
          <p:nvPr/>
        </p:nvSpPr>
        <p:spPr>
          <a:xfrm flipH="false" flipV="false" rot="0">
            <a:off x="14418738" y="0"/>
            <a:ext cx="3831825" cy="1228579"/>
          </a:xfrm>
          <a:custGeom>
            <a:avLst/>
            <a:gdLst/>
            <a:ahLst/>
            <a:cxnLst/>
            <a:rect r="r" b="b" t="t" l="l"/>
            <a:pathLst>
              <a:path h="1228579" w="3831825">
                <a:moveTo>
                  <a:pt x="0" y="0"/>
                </a:moveTo>
                <a:lnTo>
                  <a:pt x="3831825" y="0"/>
                </a:lnTo>
                <a:lnTo>
                  <a:pt x="3831825" y="1228579"/>
                </a:lnTo>
                <a:lnTo>
                  <a:pt x="0" y="1228579"/>
                </a:lnTo>
                <a:lnTo>
                  <a:pt x="0" y="0"/>
                </a:lnTo>
                <a:close/>
              </a:path>
            </a:pathLst>
          </a:custGeom>
          <a:blipFill>
            <a:blip r:embed="rId7"/>
            <a:stretch>
              <a:fillRect l="0" t="0" r="0" b="0"/>
            </a:stretch>
          </a:blipFill>
        </p:spPr>
      </p:sp>
    </p:spTree>
  </p:cSld>
  <p:clrMapOvr>
    <a:masterClrMapping/>
  </p:clrMapOvr>
  <p:transition spd="fast">
    <p:cover dir="d"/>
  </p:transition>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50000">
              <a:srgbClr val="71A2FF">
                <a:alpha val="100000"/>
              </a:srgbClr>
            </a:gs>
            <a:gs pos="100000">
              <a:srgbClr val="002772">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189806" y="-202673"/>
            <a:ext cx="18719200" cy="1431252"/>
            <a:chOff x="0" y="0"/>
            <a:chExt cx="4930160" cy="376955"/>
          </a:xfrm>
        </p:grpSpPr>
        <p:sp>
          <p:nvSpPr>
            <p:cNvPr name="Freeform 3" id="3"/>
            <p:cNvSpPr/>
            <p:nvPr/>
          </p:nvSpPr>
          <p:spPr>
            <a:xfrm flipH="false" flipV="false" rot="0">
              <a:off x="0" y="0"/>
              <a:ext cx="4930160" cy="376955"/>
            </a:xfrm>
            <a:custGeom>
              <a:avLst/>
              <a:gdLst/>
              <a:ahLst/>
              <a:cxnLst/>
              <a:rect r="r" b="b" t="t" l="l"/>
              <a:pathLst>
                <a:path h="376955" w="4930160">
                  <a:moveTo>
                    <a:pt x="0" y="0"/>
                  </a:moveTo>
                  <a:lnTo>
                    <a:pt x="4930160" y="0"/>
                  </a:lnTo>
                  <a:lnTo>
                    <a:pt x="4930160" y="376955"/>
                  </a:lnTo>
                  <a:lnTo>
                    <a:pt x="0" y="376955"/>
                  </a:lnTo>
                  <a:close/>
                </a:path>
              </a:pathLst>
            </a:custGeom>
            <a:solidFill>
              <a:srgbClr val="FFFFFF"/>
            </a:solidFill>
          </p:spPr>
        </p:sp>
        <p:sp>
          <p:nvSpPr>
            <p:cNvPr name="TextBox 4" id="4"/>
            <p:cNvSpPr txBox="true"/>
            <p:nvPr/>
          </p:nvSpPr>
          <p:spPr>
            <a:xfrm>
              <a:off x="0" y="-38100"/>
              <a:ext cx="4930160" cy="41505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89806" y="439295"/>
            <a:ext cx="347972" cy="513715"/>
            <a:chOff x="0" y="0"/>
            <a:chExt cx="91647" cy="135299"/>
          </a:xfrm>
        </p:grpSpPr>
        <p:sp>
          <p:nvSpPr>
            <p:cNvPr name="Freeform 6" id="6"/>
            <p:cNvSpPr/>
            <p:nvPr/>
          </p:nvSpPr>
          <p:spPr>
            <a:xfrm flipH="false" flipV="false" rot="0">
              <a:off x="0" y="0"/>
              <a:ext cx="91647" cy="135299"/>
            </a:xfrm>
            <a:custGeom>
              <a:avLst/>
              <a:gdLst/>
              <a:ahLst/>
              <a:cxnLst/>
              <a:rect r="r" b="b" t="t" l="l"/>
              <a:pathLst>
                <a:path h="135299" w="91647">
                  <a:moveTo>
                    <a:pt x="0" y="0"/>
                  </a:moveTo>
                  <a:lnTo>
                    <a:pt x="91647" y="0"/>
                  </a:lnTo>
                  <a:lnTo>
                    <a:pt x="91647" y="135299"/>
                  </a:lnTo>
                  <a:lnTo>
                    <a:pt x="0" y="135299"/>
                  </a:lnTo>
                  <a:close/>
                </a:path>
              </a:pathLst>
            </a:custGeom>
            <a:solidFill>
              <a:srgbClr val="3065CB"/>
            </a:solidFill>
          </p:spPr>
        </p:sp>
        <p:sp>
          <p:nvSpPr>
            <p:cNvPr name="TextBox 7" id="7"/>
            <p:cNvSpPr txBox="true"/>
            <p:nvPr/>
          </p:nvSpPr>
          <p:spPr>
            <a:xfrm>
              <a:off x="0" y="-38100"/>
              <a:ext cx="91647" cy="173399"/>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265152" y="439295"/>
            <a:ext cx="493718" cy="513715"/>
            <a:chOff x="0" y="0"/>
            <a:chExt cx="130033" cy="135299"/>
          </a:xfrm>
        </p:grpSpPr>
        <p:sp>
          <p:nvSpPr>
            <p:cNvPr name="Freeform 9" id="9"/>
            <p:cNvSpPr/>
            <p:nvPr/>
          </p:nvSpPr>
          <p:spPr>
            <a:xfrm flipH="false" flipV="false" rot="0">
              <a:off x="0" y="0"/>
              <a:ext cx="130033" cy="135299"/>
            </a:xfrm>
            <a:custGeom>
              <a:avLst/>
              <a:gdLst/>
              <a:ahLst/>
              <a:cxnLst/>
              <a:rect r="r" b="b" t="t" l="l"/>
              <a:pathLst>
                <a:path h="135299" w="130033">
                  <a:moveTo>
                    <a:pt x="0" y="0"/>
                  </a:moveTo>
                  <a:lnTo>
                    <a:pt x="130033" y="0"/>
                  </a:lnTo>
                  <a:lnTo>
                    <a:pt x="130033" y="135299"/>
                  </a:lnTo>
                  <a:lnTo>
                    <a:pt x="0" y="135299"/>
                  </a:lnTo>
                  <a:close/>
                </a:path>
              </a:pathLst>
            </a:custGeom>
            <a:gradFill rotWithShape="true">
              <a:gsLst>
                <a:gs pos="0">
                  <a:srgbClr val="C08846">
                    <a:alpha val="100000"/>
                  </a:srgbClr>
                </a:gs>
                <a:gs pos="100000">
                  <a:srgbClr val="FFC87B">
                    <a:alpha val="100000"/>
                  </a:srgbClr>
                </a:gs>
              </a:gsLst>
              <a:lin ang="5400000"/>
            </a:gradFill>
          </p:spPr>
        </p:sp>
        <p:sp>
          <p:nvSpPr>
            <p:cNvPr name="TextBox 10" id="10"/>
            <p:cNvSpPr txBox="true"/>
            <p:nvPr/>
          </p:nvSpPr>
          <p:spPr>
            <a:xfrm>
              <a:off x="0" y="-38100"/>
              <a:ext cx="130033" cy="173399"/>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1028700" y="382145"/>
            <a:ext cx="12959206" cy="570865"/>
          </a:xfrm>
          <a:prstGeom prst="rect">
            <a:avLst/>
          </a:prstGeom>
        </p:spPr>
        <p:txBody>
          <a:bodyPr anchor="t" rtlCol="false" tIns="0" lIns="0" bIns="0" rIns="0">
            <a:spAutoFit/>
          </a:bodyPr>
          <a:lstStyle/>
          <a:p>
            <a:pPr algn="l">
              <a:lnSpc>
                <a:spcPts val="4759"/>
              </a:lnSpc>
              <a:spcBef>
                <a:spcPct val="0"/>
              </a:spcBef>
            </a:pPr>
            <a:r>
              <a:rPr lang="en-US" b="true" sz="3399" i="true">
                <a:solidFill>
                  <a:srgbClr val="061647"/>
                </a:solidFill>
                <a:latin typeface="Proxima Nova Heavy Italics"/>
                <a:ea typeface="Proxima Nova Heavy Italics"/>
                <a:cs typeface="Proxima Nova Heavy Italics"/>
                <a:sym typeface="Proxima Nova Heavy Italics"/>
              </a:rPr>
              <a:t> KẾT LUẬN &amp; HƯỚNG PHÁT TRIỂN</a:t>
            </a:r>
          </a:p>
        </p:txBody>
      </p:sp>
      <p:sp>
        <p:nvSpPr>
          <p:cNvPr name="TextBox 12" id="12"/>
          <p:cNvSpPr txBox="true"/>
          <p:nvPr/>
        </p:nvSpPr>
        <p:spPr>
          <a:xfrm rot="0">
            <a:off x="755157" y="7279361"/>
            <a:ext cx="16777685" cy="2600325"/>
          </a:xfrm>
          <a:prstGeom prst="rect">
            <a:avLst/>
          </a:prstGeom>
        </p:spPr>
        <p:txBody>
          <a:bodyPr anchor="t" rtlCol="false" tIns="0" lIns="0" bIns="0" rIns="0">
            <a:spAutoFit/>
          </a:bodyPr>
          <a:lstStyle/>
          <a:p>
            <a:pPr algn="ctr">
              <a:lnSpc>
                <a:spcPts val="9600"/>
              </a:lnSpc>
            </a:pPr>
            <a:r>
              <a:rPr lang="en-US" b="true" sz="12000">
                <a:solidFill>
                  <a:srgbClr val="83AAF6"/>
                </a:solidFill>
                <a:latin typeface="Proxima Nova Heavy"/>
                <a:ea typeface="Proxima Nova Heavy"/>
                <a:cs typeface="Proxima Nova Heavy"/>
                <a:sym typeface="Proxima Nova Heavy"/>
              </a:rPr>
              <a:t>CONCLUSION AND RECOMMENDATIONS</a:t>
            </a:r>
          </a:p>
        </p:txBody>
      </p:sp>
      <p:grpSp>
        <p:nvGrpSpPr>
          <p:cNvPr name="Group 13" id="13"/>
          <p:cNvGrpSpPr/>
          <p:nvPr/>
        </p:nvGrpSpPr>
        <p:grpSpPr>
          <a:xfrm rot="0">
            <a:off x="1405160" y="2215290"/>
            <a:ext cx="7394818" cy="6606567"/>
            <a:chOff x="0" y="0"/>
            <a:chExt cx="1947606" cy="1740001"/>
          </a:xfrm>
        </p:grpSpPr>
        <p:sp>
          <p:nvSpPr>
            <p:cNvPr name="Freeform 14" id="14"/>
            <p:cNvSpPr/>
            <p:nvPr/>
          </p:nvSpPr>
          <p:spPr>
            <a:xfrm flipH="false" flipV="false" rot="0">
              <a:off x="0" y="0"/>
              <a:ext cx="1947606" cy="1740001"/>
            </a:xfrm>
            <a:custGeom>
              <a:avLst/>
              <a:gdLst/>
              <a:ahLst/>
              <a:cxnLst/>
              <a:rect r="r" b="b" t="t" l="l"/>
              <a:pathLst>
                <a:path h="1740001" w="1947606">
                  <a:moveTo>
                    <a:pt x="81661" y="0"/>
                  </a:moveTo>
                  <a:lnTo>
                    <a:pt x="1865945" y="0"/>
                  </a:lnTo>
                  <a:cubicBezTo>
                    <a:pt x="1911045" y="0"/>
                    <a:pt x="1947606" y="36561"/>
                    <a:pt x="1947606" y="81661"/>
                  </a:cubicBezTo>
                  <a:lnTo>
                    <a:pt x="1947606" y="1658340"/>
                  </a:lnTo>
                  <a:cubicBezTo>
                    <a:pt x="1947606" y="1679998"/>
                    <a:pt x="1939003" y="1700769"/>
                    <a:pt x="1923688" y="1716083"/>
                  </a:cubicBezTo>
                  <a:cubicBezTo>
                    <a:pt x="1908374" y="1731398"/>
                    <a:pt x="1887603" y="1740001"/>
                    <a:pt x="1865945" y="1740001"/>
                  </a:cubicBezTo>
                  <a:lnTo>
                    <a:pt x="81661" y="1740001"/>
                  </a:lnTo>
                  <a:cubicBezTo>
                    <a:pt x="36561" y="1740001"/>
                    <a:pt x="0" y="1703440"/>
                    <a:pt x="0" y="1658340"/>
                  </a:cubicBezTo>
                  <a:lnTo>
                    <a:pt x="0" y="81661"/>
                  </a:lnTo>
                  <a:cubicBezTo>
                    <a:pt x="0" y="36561"/>
                    <a:pt x="36561" y="0"/>
                    <a:pt x="81661" y="0"/>
                  </a:cubicBezTo>
                  <a:close/>
                </a:path>
              </a:pathLst>
            </a:custGeom>
            <a:gradFill rotWithShape="true">
              <a:gsLst>
                <a:gs pos="0">
                  <a:srgbClr val="235BBB">
                    <a:alpha val="100000"/>
                  </a:srgbClr>
                </a:gs>
                <a:gs pos="100000">
                  <a:srgbClr val="347FFF">
                    <a:alpha val="100000"/>
                  </a:srgbClr>
                </a:gs>
              </a:gsLst>
              <a:lin ang="5400000"/>
            </a:gradFill>
            <a:ln w="38100" cap="rnd">
              <a:solidFill>
                <a:srgbClr val="FFFFFF"/>
              </a:solidFill>
              <a:prstDash val="solid"/>
              <a:round/>
            </a:ln>
          </p:spPr>
        </p:sp>
        <p:sp>
          <p:nvSpPr>
            <p:cNvPr name="TextBox 15" id="15"/>
            <p:cNvSpPr txBox="true"/>
            <p:nvPr/>
          </p:nvSpPr>
          <p:spPr>
            <a:xfrm>
              <a:off x="0" y="-38100"/>
              <a:ext cx="1947606" cy="1778101"/>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9539610" y="2215290"/>
            <a:ext cx="7394818" cy="6606567"/>
            <a:chOff x="0" y="0"/>
            <a:chExt cx="1947606" cy="1740001"/>
          </a:xfrm>
        </p:grpSpPr>
        <p:sp>
          <p:nvSpPr>
            <p:cNvPr name="Freeform 17" id="17"/>
            <p:cNvSpPr/>
            <p:nvPr/>
          </p:nvSpPr>
          <p:spPr>
            <a:xfrm flipH="false" flipV="false" rot="0">
              <a:off x="0" y="0"/>
              <a:ext cx="1947606" cy="1740001"/>
            </a:xfrm>
            <a:custGeom>
              <a:avLst/>
              <a:gdLst/>
              <a:ahLst/>
              <a:cxnLst/>
              <a:rect r="r" b="b" t="t" l="l"/>
              <a:pathLst>
                <a:path h="1740001" w="1947606">
                  <a:moveTo>
                    <a:pt x="81661" y="0"/>
                  </a:moveTo>
                  <a:lnTo>
                    <a:pt x="1865945" y="0"/>
                  </a:lnTo>
                  <a:cubicBezTo>
                    <a:pt x="1911045" y="0"/>
                    <a:pt x="1947606" y="36561"/>
                    <a:pt x="1947606" y="81661"/>
                  </a:cubicBezTo>
                  <a:lnTo>
                    <a:pt x="1947606" y="1658340"/>
                  </a:lnTo>
                  <a:cubicBezTo>
                    <a:pt x="1947606" y="1679998"/>
                    <a:pt x="1939003" y="1700769"/>
                    <a:pt x="1923688" y="1716083"/>
                  </a:cubicBezTo>
                  <a:cubicBezTo>
                    <a:pt x="1908374" y="1731398"/>
                    <a:pt x="1887603" y="1740001"/>
                    <a:pt x="1865945" y="1740001"/>
                  </a:cubicBezTo>
                  <a:lnTo>
                    <a:pt x="81661" y="1740001"/>
                  </a:lnTo>
                  <a:cubicBezTo>
                    <a:pt x="36561" y="1740001"/>
                    <a:pt x="0" y="1703440"/>
                    <a:pt x="0" y="1658340"/>
                  </a:cubicBezTo>
                  <a:lnTo>
                    <a:pt x="0" y="81661"/>
                  </a:lnTo>
                  <a:cubicBezTo>
                    <a:pt x="0" y="36561"/>
                    <a:pt x="36561" y="0"/>
                    <a:pt x="81661" y="0"/>
                  </a:cubicBezTo>
                  <a:close/>
                </a:path>
              </a:pathLst>
            </a:custGeom>
            <a:gradFill rotWithShape="true">
              <a:gsLst>
                <a:gs pos="0">
                  <a:srgbClr val="C08846">
                    <a:alpha val="100000"/>
                  </a:srgbClr>
                </a:gs>
                <a:gs pos="100000">
                  <a:srgbClr val="FFC87B">
                    <a:alpha val="100000"/>
                  </a:srgbClr>
                </a:gs>
              </a:gsLst>
              <a:lin ang="5400000"/>
            </a:gradFill>
            <a:ln w="38100" cap="rnd">
              <a:solidFill>
                <a:srgbClr val="FFFFFF"/>
              </a:solidFill>
              <a:prstDash val="solid"/>
              <a:round/>
            </a:ln>
          </p:spPr>
        </p:sp>
        <p:sp>
          <p:nvSpPr>
            <p:cNvPr name="TextBox 18" id="18"/>
            <p:cNvSpPr txBox="true"/>
            <p:nvPr/>
          </p:nvSpPr>
          <p:spPr>
            <a:xfrm>
              <a:off x="0" y="-38100"/>
              <a:ext cx="1947606" cy="1778101"/>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1714089" y="2597584"/>
            <a:ext cx="6776960" cy="1937423"/>
            <a:chOff x="0" y="0"/>
            <a:chExt cx="1784878" cy="510268"/>
          </a:xfrm>
        </p:grpSpPr>
        <p:sp>
          <p:nvSpPr>
            <p:cNvPr name="Freeform 20" id="20"/>
            <p:cNvSpPr/>
            <p:nvPr/>
          </p:nvSpPr>
          <p:spPr>
            <a:xfrm flipH="false" flipV="false" rot="0">
              <a:off x="0" y="0"/>
              <a:ext cx="1784878" cy="510268"/>
            </a:xfrm>
            <a:custGeom>
              <a:avLst/>
              <a:gdLst/>
              <a:ahLst/>
              <a:cxnLst/>
              <a:rect r="r" b="b" t="t" l="l"/>
              <a:pathLst>
                <a:path h="510268" w="1784878">
                  <a:moveTo>
                    <a:pt x="114239" y="0"/>
                  </a:moveTo>
                  <a:lnTo>
                    <a:pt x="1670639" y="0"/>
                  </a:lnTo>
                  <a:cubicBezTo>
                    <a:pt x="1733732" y="0"/>
                    <a:pt x="1784878" y="51146"/>
                    <a:pt x="1784878" y="114239"/>
                  </a:cubicBezTo>
                  <a:lnTo>
                    <a:pt x="1784878" y="396029"/>
                  </a:lnTo>
                  <a:cubicBezTo>
                    <a:pt x="1784878" y="459121"/>
                    <a:pt x="1733732" y="510268"/>
                    <a:pt x="1670639" y="510268"/>
                  </a:cubicBezTo>
                  <a:lnTo>
                    <a:pt x="114239" y="510268"/>
                  </a:lnTo>
                  <a:cubicBezTo>
                    <a:pt x="51146" y="510268"/>
                    <a:pt x="0" y="459121"/>
                    <a:pt x="0" y="396029"/>
                  </a:cubicBezTo>
                  <a:lnTo>
                    <a:pt x="0" y="114239"/>
                  </a:lnTo>
                  <a:cubicBezTo>
                    <a:pt x="0" y="51146"/>
                    <a:pt x="51146" y="0"/>
                    <a:pt x="114239" y="0"/>
                  </a:cubicBezTo>
                  <a:close/>
                </a:path>
              </a:pathLst>
            </a:custGeom>
            <a:solidFill>
              <a:srgbClr val="FFFFFF"/>
            </a:solidFill>
          </p:spPr>
        </p:sp>
        <p:sp>
          <p:nvSpPr>
            <p:cNvPr name="TextBox 21" id="21"/>
            <p:cNvSpPr txBox="true"/>
            <p:nvPr/>
          </p:nvSpPr>
          <p:spPr>
            <a:xfrm>
              <a:off x="0" y="-38100"/>
              <a:ext cx="1784878" cy="548368"/>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0">
            <a:off x="9848539" y="2597584"/>
            <a:ext cx="6776960" cy="1937423"/>
            <a:chOff x="0" y="0"/>
            <a:chExt cx="1784878" cy="510268"/>
          </a:xfrm>
        </p:grpSpPr>
        <p:sp>
          <p:nvSpPr>
            <p:cNvPr name="Freeform 23" id="23"/>
            <p:cNvSpPr/>
            <p:nvPr/>
          </p:nvSpPr>
          <p:spPr>
            <a:xfrm flipH="false" flipV="false" rot="0">
              <a:off x="0" y="0"/>
              <a:ext cx="1784878" cy="510268"/>
            </a:xfrm>
            <a:custGeom>
              <a:avLst/>
              <a:gdLst/>
              <a:ahLst/>
              <a:cxnLst/>
              <a:rect r="r" b="b" t="t" l="l"/>
              <a:pathLst>
                <a:path h="510268" w="1784878">
                  <a:moveTo>
                    <a:pt x="114239" y="0"/>
                  </a:moveTo>
                  <a:lnTo>
                    <a:pt x="1670639" y="0"/>
                  </a:lnTo>
                  <a:cubicBezTo>
                    <a:pt x="1733732" y="0"/>
                    <a:pt x="1784878" y="51146"/>
                    <a:pt x="1784878" y="114239"/>
                  </a:cubicBezTo>
                  <a:lnTo>
                    <a:pt x="1784878" y="396029"/>
                  </a:lnTo>
                  <a:cubicBezTo>
                    <a:pt x="1784878" y="459121"/>
                    <a:pt x="1733732" y="510268"/>
                    <a:pt x="1670639" y="510268"/>
                  </a:cubicBezTo>
                  <a:lnTo>
                    <a:pt x="114239" y="510268"/>
                  </a:lnTo>
                  <a:cubicBezTo>
                    <a:pt x="51146" y="510268"/>
                    <a:pt x="0" y="459121"/>
                    <a:pt x="0" y="396029"/>
                  </a:cubicBezTo>
                  <a:lnTo>
                    <a:pt x="0" y="114239"/>
                  </a:lnTo>
                  <a:cubicBezTo>
                    <a:pt x="0" y="51146"/>
                    <a:pt x="51146" y="0"/>
                    <a:pt x="114239" y="0"/>
                  </a:cubicBezTo>
                  <a:close/>
                </a:path>
              </a:pathLst>
            </a:custGeom>
            <a:solidFill>
              <a:srgbClr val="FFFFFF"/>
            </a:solidFill>
          </p:spPr>
        </p:sp>
        <p:sp>
          <p:nvSpPr>
            <p:cNvPr name="TextBox 24" id="24"/>
            <p:cNvSpPr txBox="true"/>
            <p:nvPr/>
          </p:nvSpPr>
          <p:spPr>
            <a:xfrm>
              <a:off x="0" y="-38100"/>
              <a:ext cx="1784878" cy="548368"/>
            </a:xfrm>
            <a:prstGeom prst="rect">
              <a:avLst/>
            </a:prstGeom>
          </p:spPr>
          <p:txBody>
            <a:bodyPr anchor="ctr" rtlCol="false" tIns="50800" lIns="50800" bIns="50800" rIns="50800"/>
            <a:lstStyle/>
            <a:p>
              <a:pPr algn="ctr">
                <a:lnSpc>
                  <a:spcPts val="2659"/>
                </a:lnSpc>
              </a:pPr>
            </a:p>
          </p:txBody>
        </p:sp>
      </p:grpSp>
      <p:sp>
        <p:nvSpPr>
          <p:cNvPr name="TextBox 25" id="25"/>
          <p:cNvSpPr txBox="true"/>
          <p:nvPr/>
        </p:nvSpPr>
        <p:spPr>
          <a:xfrm rot="0">
            <a:off x="1974792" y="4896796"/>
            <a:ext cx="6255555" cy="3453130"/>
          </a:xfrm>
          <a:prstGeom prst="rect">
            <a:avLst/>
          </a:prstGeom>
        </p:spPr>
        <p:txBody>
          <a:bodyPr anchor="t" rtlCol="false" tIns="0" lIns="0" bIns="0" rIns="0">
            <a:spAutoFit/>
          </a:bodyPr>
          <a:lstStyle/>
          <a:p>
            <a:pPr algn="l" marL="604519" indent="-302260" lvl="1">
              <a:lnSpc>
                <a:spcPts val="3919"/>
              </a:lnSpc>
              <a:buFont typeface="Arial"/>
              <a:buChar char="•"/>
            </a:pPr>
            <a:r>
              <a:rPr lang="en-US" b="true" sz="2799">
                <a:solidFill>
                  <a:srgbClr val="FFFFFF"/>
                </a:solidFill>
                <a:latin typeface="Proxima Nova Bold"/>
                <a:ea typeface="Proxima Nova Bold"/>
                <a:cs typeface="Proxima Nova Bold"/>
                <a:sym typeface="Proxima Nova Bold"/>
              </a:rPr>
              <a:t>Hoàn thành xây dựng cơ chế xác thực sinh trắc học (Vân </a:t>
            </a:r>
            <a:r>
              <a:rPr lang="en-US" b="true" sz="2799">
                <a:solidFill>
                  <a:srgbClr val="FFFFFF"/>
                </a:solidFill>
                <a:latin typeface="Proxima Nova Bold"/>
                <a:ea typeface="Proxima Nova Bold"/>
                <a:cs typeface="Proxima Nova Bold"/>
                <a:sym typeface="Proxima Nova Bold"/>
              </a:rPr>
              <a:t>tay / Khuôn mặt) hoàn chỉnh trên ứng dụng Mobile.</a:t>
            </a:r>
          </a:p>
          <a:p>
            <a:pPr algn="l" marL="604519" indent="-302260" lvl="1">
              <a:lnSpc>
                <a:spcPts val="3919"/>
              </a:lnSpc>
              <a:buFont typeface="Arial"/>
              <a:buChar char="•"/>
            </a:pPr>
            <a:r>
              <a:rPr lang="en-US" b="true" sz="2799">
                <a:solidFill>
                  <a:srgbClr val="FFFFFF"/>
                </a:solidFill>
                <a:latin typeface="Proxima Nova Bold"/>
                <a:ea typeface="Proxima Nova Bold"/>
                <a:cs typeface="Proxima Nova Bold"/>
                <a:sym typeface="Proxima Nova Bold"/>
              </a:rPr>
              <a:t>Ứng dụng hoạt động ổn định trên thiết bị thật, giao diện thân thiện, đảm bảo tính an toàn và bảo mật.</a:t>
            </a:r>
          </a:p>
        </p:txBody>
      </p:sp>
      <p:sp>
        <p:nvSpPr>
          <p:cNvPr name="TextBox 26" id="26"/>
          <p:cNvSpPr txBox="true"/>
          <p:nvPr/>
        </p:nvSpPr>
        <p:spPr>
          <a:xfrm rot="0">
            <a:off x="10010581" y="4896796"/>
            <a:ext cx="6452876" cy="2957830"/>
          </a:xfrm>
          <a:prstGeom prst="rect">
            <a:avLst/>
          </a:prstGeom>
        </p:spPr>
        <p:txBody>
          <a:bodyPr anchor="t" rtlCol="false" tIns="0" lIns="0" bIns="0" rIns="0">
            <a:spAutoFit/>
          </a:bodyPr>
          <a:lstStyle/>
          <a:p>
            <a:pPr algn="l" marL="604519" indent="-302260" lvl="1">
              <a:lnSpc>
                <a:spcPts val="3919"/>
              </a:lnSpc>
              <a:buFont typeface="Arial"/>
              <a:buChar char="•"/>
            </a:pPr>
            <a:r>
              <a:rPr lang="en-US" b="true" sz="2799">
                <a:solidFill>
                  <a:srgbClr val="FFFFFF"/>
                </a:solidFill>
                <a:latin typeface="Proxima Nova Bold"/>
                <a:ea typeface="Proxima Nova Bold"/>
                <a:cs typeface="Proxima Nova Bold"/>
                <a:sym typeface="Proxima Nova Bold"/>
              </a:rPr>
              <a:t>Nâng</a:t>
            </a:r>
            <a:r>
              <a:rPr lang="en-US" b="true" sz="2799" strike="noStrike" u="none">
                <a:solidFill>
                  <a:srgbClr val="FFFFFF"/>
                </a:solidFill>
                <a:latin typeface="Proxima Nova Bold"/>
                <a:ea typeface="Proxima Nova Bold"/>
                <a:cs typeface="Proxima Nova Bold"/>
                <a:sym typeface="Proxima Nova Bold"/>
              </a:rPr>
              <a:t> cấp cơ ch</a:t>
            </a:r>
            <a:r>
              <a:rPr lang="en-US" b="true" sz="2799" strike="noStrike" u="none">
                <a:solidFill>
                  <a:srgbClr val="FFFFFF"/>
                </a:solidFill>
                <a:latin typeface="Proxima Nova Bold"/>
                <a:ea typeface="Proxima Nova Bold"/>
                <a:cs typeface="Proxima Nova Bold"/>
                <a:sym typeface="Proxima Nova Bold"/>
              </a:rPr>
              <a:t>ế </a:t>
            </a:r>
            <a:r>
              <a:rPr lang="en-US" b="true" sz="2799" strike="noStrike" u="none">
                <a:solidFill>
                  <a:srgbClr val="FFFFFF"/>
                </a:solidFill>
                <a:latin typeface="Proxima Nova Bold"/>
                <a:ea typeface="Proxima Nova Bold"/>
                <a:cs typeface="Proxima Nova Bold"/>
                <a:sym typeface="Proxima Nova Bold"/>
              </a:rPr>
              <a:t>nh</a:t>
            </a:r>
            <a:r>
              <a:rPr lang="en-US" b="true" sz="2799" strike="noStrike" u="none">
                <a:solidFill>
                  <a:srgbClr val="FFFFFF"/>
                </a:solidFill>
                <a:latin typeface="Proxima Nova Bold"/>
                <a:ea typeface="Proxima Nova Bold"/>
                <a:cs typeface="Proxima Nova Bold"/>
                <a:sym typeface="Proxima Nova Bold"/>
              </a:rPr>
              <a:t>ận</a:t>
            </a:r>
            <a:r>
              <a:rPr lang="en-US" b="true" sz="2799" strike="noStrike" u="none">
                <a:solidFill>
                  <a:srgbClr val="FFFFFF"/>
                </a:solidFill>
                <a:latin typeface="Proxima Nova Bold"/>
                <a:ea typeface="Proxima Nova Bold"/>
                <a:cs typeface="Proxima Nova Bold"/>
                <a:sym typeface="Proxima Nova Bold"/>
              </a:rPr>
              <a:t> diện khuôn mặt </a:t>
            </a:r>
            <a:r>
              <a:rPr lang="en-US" b="true" sz="2799" strike="noStrike" u="none">
                <a:solidFill>
                  <a:srgbClr val="FFFFFF"/>
                </a:solidFill>
                <a:latin typeface="Proxima Nova Bold"/>
                <a:ea typeface="Proxima Nova Bold"/>
                <a:cs typeface="Proxima Nova Bold"/>
                <a:sym typeface="Proxima Nova Bold"/>
              </a:rPr>
              <a:t>trực tiếp </a:t>
            </a:r>
            <a:r>
              <a:rPr lang="en-US" b="true" sz="2799" strike="noStrike" u="none">
                <a:solidFill>
                  <a:srgbClr val="FFFFFF"/>
                </a:solidFill>
                <a:latin typeface="Proxima Nova Bold"/>
                <a:ea typeface="Proxima Nova Bold"/>
                <a:cs typeface="Proxima Nova Bold"/>
                <a:sym typeface="Proxima Nova Bold"/>
              </a:rPr>
              <a:t>qua Camera (Live</a:t>
            </a:r>
            <a:r>
              <a:rPr lang="en-US" b="true" sz="2799" strike="noStrike" u="none">
                <a:solidFill>
                  <a:srgbClr val="FFFFFF"/>
                </a:solidFill>
                <a:latin typeface="Proxima Nova Bold"/>
                <a:ea typeface="Proxima Nova Bold"/>
                <a:cs typeface="Proxima Nova Bold"/>
                <a:sym typeface="Proxima Nova Bold"/>
              </a:rPr>
              <a:t> Fa</a:t>
            </a:r>
            <a:r>
              <a:rPr lang="en-US" b="true" sz="2799" strike="noStrike" u="none">
                <a:solidFill>
                  <a:srgbClr val="FFFFFF"/>
                </a:solidFill>
                <a:latin typeface="Proxima Nova Bold"/>
                <a:ea typeface="Proxima Nova Bold"/>
                <a:cs typeface="Proxima Nova Bold"/>
                <a:sym typeface="Proxima Nova Bold"/>
              </a:rPr>
              <a:t>c</a:t>
            </a:r>
            <a:r>
              <a:rPr lang="en-US" b="true" sz="2799" strike="noStrike" u="none">
                <a:solidFill>
                  <a:srgbClr val="FFFFFF"/>
                </a:solidFill>
                <a:latin typeface="Proxima Nova Bold"/>
                <a:ea typeface="Proxima Nova Bold"/>
                <a:cs typeface="Proxima Nova Bold"/>
                <a:sym typeface="Proxima Nova Bold"/>
              </a:rPr>
              <a:t>e</a:t>
            </a:r>
            <a:r>
              <a:rPr lang="en-US" b="true" sz="2799" strike="noStrike" u="none">
                <a:solidFill>
                  <a:srgbClr val="FFFFFF"/>
                </a:solidFill>
                <a:latin typeface="Proxima Nova Bold"/>
                <a:ea typeface="Proxima Nova Bold"/>
                <a:cs typeface="Proxima Nova Bold"/>
                <a:sym typeface="Proxima Nova Bold"/>
              </a:rPr>
              <a:t> De</a:t>
            </a:r>
            <a:r>
              <a:rPr lang="en-US" b="true" sz="2799" strike="noStrike" u="none">
                <a:solidFill>
                  <a:srgbClr val="FFFFFF"/>
                </a:solidFill>
                <a:latin typeface="Proxima Nova Bold"/>
                <a:ea typeface="Proxima Nova Bold"/>
                <a:cs typeface="Proxima Nova Bold"/>
                <a:sym typeface="Proxima Nova Bold"/>
              </a:rPr>
              <a:t>t</a:t>
            </a:r>
            <a:r>
              <a:rPr lang="en-US" b="true" sz="2799" strike="noStrike" u="none">
                <a:solidFill>
                  <a:srgbClr val="FFFFFF"/>
                </a:solidFill>
                <a:latin typeface="Proxima Nova Bold"/>
                <a:ea typeface="Proxima Nova Bold"/>
                <a:cs typeface="Proxima Nova Bold"/>
                <a:sym typeface="Proxima Nova Bold"/>
              </a:rPr>
              <a:t>e</a:t>
            </a:r>
            <a:r>
              <a:rPr lang="en-US" b="true" sz="2799" strike="noStrike" u="none">
                <a:solidFill>
                  <a:srgbClr val="FFFFFF"/>
                </a:solidFill>
                <a:latin typeface="Proxima Nova Bold"/>
                <a:ea typeface="Proxima Nova Bold"/>
                <a:cs typeface="Proxima Nova Bold"/>
                <a:sym typeface="Proxima Nova Bold"/>
              </a:rPr>
              <a:t>ct</a:t>
            </a:r>
            <a:r>
              <a:rPr lang="en-US" b="true" sz="2799" strike="noStrike" u="none">
                <a:solidFill>
                  <a:srgbClr val="FFFFFF"/>
                </a:solidFill>
                <a:latin typeface="Proxima Nova Bold"/>
                <a:ea typeface="Proxima Nova Bold"/>
                <a:cs typeface="Proxima Nova Bold"/>
                <a:sym typeface="Proxima Nova Bold"/>
              </a:rPr>
              <a:t>i</a:t>
            </a:r>
            <a:r>
              <a:rPr lang="en-US" b="true" sz="2799" strike="noStrike" u="none">
                <a:solidFill>
                  <a:srgbClr val="FFFFFF"/>
                </a:solidFill>
                <a:latin typeface="Proxima Nova Bold"/>
                <a:ea typeface="Proxima Nova Bold"/>
                <a:cs typeface="Proxima Nova Bold"/>
                <a:sym typeface="Proxima Nova Bold"/>
              </a:rPr>
              <a:t>o</a:t>
            </a:r>
            <a:r>
              <a:rPr lang="en-US" b="true" sz="2799" strike="noStrike" u="none">
                <a:solidFill>
                  <a:srgbClr val="FFFFFF"/>
                </a:solidFill>
                <a:latin typeface="Proxima Nova Bold"/>
                <a:ea typeface="Proxima Nova Bold"/>
                <a:cs typeface="Proxima Nova Bold"/>
                <a:sym typeface="Proxima Nova Bold"/>
              </a:rPr>
              <a:t>n) ngay trong ứng dụng.</a:t>
            </a:r>
          </a:p>
          <a:p>
            <a:pPr algn="l" marL="604519" indent="-302260" lvl="1">
              <a:lnSpc>
                <a:spcPts val="3919"/>
              </a:lnSpc>
              <a:buFont typeface="Arial"/>
              <a:buChar char="•"/>
            </a:pPr>
            <a:r>
              <a:rPr lang="en-US" b="true" sz="2799" strike="noStrike" u="none">
                <a:solidFill>
                  <a:srgbClr val="FFFFFF"/>
                </a:solidFill>
                <a:latin typeface="Proxima Nova Bold"/>
                <a:ea typeface="Proxima Nova Bold"/>
                <a:cs typeface="Proxima Nova Bold"/>
                <a:sym typeface="Proxima Nova Bold"/>
              </a:rPr>
              <a:t>Tối ưu hóa tốc</a:t>
            </a:r>
            <a:r>
              <a:rPr lang="en-US" b="true" sz="2799" strike="noStrike" u="none">
                <a:solidFill>
                  <a:srgbClr val="FFFFFF"/>
                </a:solidFill>
                <a:latin typeface="Proxima Nova Bold"/>
                <a:ea typeface="Proxima Nova Bold"/>
                <a:cs typeface="Proxima Nova Bold"/>
                <a:sym typeface="Proxima Nova Bold"/>
              </a:rPr>
              <a:t> độ xác thực và hỗ trợ chạy mượt </a:t>
            </a:r>
            <a:r>
              <a:rPr lang="en-US" b="true" sz="2799" strike="noStrike" u="none">
                <a:solidFill>
                  <a:srgbClr val="FFFFFF"/>
                </a:solidFill>
                <a:latin typeface="Proxima Nova Bold"/>
                <a:ea typeface="Proxima Nova Bold"/>
                <a:cs typeface="Proxima Nova Bold"/>
                <a:sym typeface="Proxima Nova Bold"/>
              </a:rPr>
              <a:t>mà</a:t>
            </a:r>
            <a:r>
              <a:rPr lang="en-US" b="true" sz="2799" strike="noStrike" u="none">
                <a:solidFill>
                  <a:srgbClr val="FFFFFF"/>
                </a:solidFill>
                <a:latin typeface="Proxima Nova Bold"/>
                <a:ea typeface="Proxima Nova Bold"/>
                <a:cs typeface="Proxima Nova Bold"/>
                <a:sym typeface="Proxima Nova Bold"/>
              </a:rPr>
              <a:t> trên nhiều </a:t>
            </a:r>
            <a:r>
              <a:rPr lang="en-US" b="true" sz="2799" strike="noStrike" u="none">
                <a:solidFill>
                  <a:srgbClr val="FFFFFF"/>
                </a:solidFill>
                <a:latin typeface="Proxima Nova Bold"/>
                <a:ea typeface="Proxima Nova Bold"/>
                <a:cs typeface="Proxima Nova Bold"/>
                <a:sym typeface="Proxima Nova Bold"/>
              </a:rPr>
              <a:t>dò</a:t>
            </a:r>
            <a:r>
              <a:rPr lang="en-US" b="true" sz="2799" strike="noStrike" u="none">
                <a:solidFill>
                  <a:srgbClr val="FFFFFF"/>
                </a:solidFill>
                <a:latin typeface="Proxima Nova Bold"/>
                <a:ea typeface="Proxima Nova Bold"/>
                <a:cs typeface="Proxima Nova Bold"/>
                <a:sym typeface="Proxima Nova Bold"/>
              </a:rPr>
              <a:t>ng thiết bị Android khác nhau.</a:t>
            </a:r>
          </a:p>
        </p:txBody>
      </p:sp>
      <p:sp>
        <p:nvSpPr>
          <p:cNvPr name="TextBox 27" id="27"/>
          <p:cNvSpPr txBox="true"/>
          <p:nvPr/>
        </p:nvSpPr>
        <p:spPr>
          <a:xfrm rot="0">
            <a:off x="2504705" y="3063407"/>
            <a:ext cx="5195727" cy="910528"/>
          </a:xfrm>
          <a:prstGeom prst="rect">
            <a:avLst/>
          </a:prstGeom>
        </p:spPr>
        <p:txBody>
          <a:bodyPr anchor="t" rtlCol="false" tIns="0" lIns="0" bIns="0" rIns="0">
            <a:spAutoFit/>
          </a:bodyPr>
          <a:lstStyle/>
          <a:p>
            <a:pPr algn="ctr">
              <a:lnSpc>
                <a:spcPts val="7563"/>
              </a:lnSpc>
              <a:spcBef>
                <a:spcPct val="0"/>
              </a:spcBef>
            </a:pPr>
            <a:r>
              <a:rPr lang="en-US" b="true" sz="5402">
                <a:gradFill>
                  <a:gsLst>
                    <a:gs pos="0">
                      <a:srgbClr val="235BBB">
                        <a:alpha val="100000"/>
                      </a:srgbClr>
                    </a:gs>
                    <a:gs pos="100000">
                      <a:srgbClr val="347FFF">
                        <a:alpha val="100000"/>
                      </a:srgbClr>
                    </a:gs>
                  </a:gsLst>
                  <a:lin ang="5400000"/>
                </a:gradFill>
                <a:latin typeface="Proxima Nova Heavy"/>
                <a:ea typeface="Proxima Nova Heavy"/>
                <a:cs typeface="Proxima Nova Heavy"/>
                <a:sym typeface="Proxima Nova Heavy"/>
              </a:rPr>
              <a:t>KẾT LUẬN</a:t>
            </a:r>
          </a:p>
        </p:txBody>
      </p:sp>
      <p:sp>
        <p:nvSpPr>
          <p:cNvPr name="TextBox 28" id="28"/>
          <p:cNvSpPr txBox="true"/>
          <p:nvPr/>
        </p:nvSpPr>
        <p:spPr>
          <a:xfrm rot="0">
            <a:off x="10639155" y="2705607"/>
            <a:ext cx="5480079" cy="1836992"/>
          </a:xfrm>
          <a:prstGeom prst="rect">
            <a:avLst/>
          </a:prstGeom>
        </p:spPr>
        <p:txBody>
          <a:bodyPr anchor="t" rtlCol="false" tIns="0" lIns="0" bIns="0" rIns="0">
            <a:spAutoFit/>
          </a:bodyPr>
          <a:lstStyle/>
          <a:p>
            <a:pPr algn="ctr">
              <a:lnSpc>
                <a:spcPts val="7423"/>
              </a:lnSpc>
              <a:spcBef>
                <a:spcPct val="0"/>
              </a:spcBef>
            </a:pPr>
            <a:r>
              <a:rPr lang="en-US" b="true" sz="5302">
                <a:gradFill>
                  <a:gsLst>
                    <a:gs pos="0">
                      <a:srgbClr val="C08846">
                        <a:alpha val="100000"/>
                      </a:srgbClr>
                    </a:gs>
                    <a:gs pos="100000">
                      <a:srgbClr val="FFC87B">
                        <a:alpha val="100000"/>
                      </a:srgbClr>
                    </a:gs>
                  </a:gsLst>
                  <a:lin ang="5400000"/>
                </a:gradFill>
                <a:latin typeface="Proxima Nova Heavy"/>
                <a:ea typeface="Proxima Nova Heavy"/>
                <a:cs typeface="Proxima Nova Heavy"/>
                <a:sym typeface="Proxima Nova Heavy"/>
              </a:rPr>
              <a:t>HƯỚNG PHÁT TRIỂN</a:t>
            </a:r>
          </a:p>
        </p:txBody>
      </p:sp>
      <p:sp>
        <p:nvSpPr>
          <p:cNvPr name="Freeform 29" id="29"/>
          <p:cNvSpPr/>
          <p:nvPr/>
        </p:nvSpPr>
        <p:spPr>
          <a:xfrm flipH="false" flipV="false" rot="0">
            <a:off x="13987906" y="0"/>
            <a:ext cx="4262657" cy="1366714"/>
          </a:xfrm>
          <a:custGeom>
            <a:avLst/>
            <a:gdLst/>
            <a:ahLst/>
            <a:cxnLst/>
            <a:rect r="r" b="b" t="t" l="l"/>
            <a:pathLst>
              <a:path h="1366714" w="4262657">
                <a:moveTo>
                  <a:pt x="0" y="0"/>
                </a:moveTo>
                <a:lnTo>
                  <a:pt x="4262657" y="0"/>
                </a:lnTo>
                <a:lnTo>
                  <a:pt x="4262657" y="1366714"/>
                </a:lnTo>
                <a:lnTo>
                  <a:pt x="0" y="1366714"/>
                </a:lnTo>
                <a:lnTo>
                  <a:pt x="0" y="0"/>
                </a:lnTo>
                <a:close/>
              </a:path>
            </a:pathLst>
          </a:custGeom>
          <a:blipFill>
            <a:blip r:embed="rId2"/>
            <a:stretch>
              <a:fillRect l="0" t="0" r="0" b="0"/>
            </a:stretch>
          </a:blipFill>
        </p:spPr>
      </p:sp>
    </p:spTree>
  </p:cSld>
  <p:clrMapOvr>
    <a:masterClrMapping/>
  </p:clrMapOvr>
  <p:transition spd="fast">
    <p:fade/>
  </p:transition>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2772">
                <a:alpha val="100000"/>
              </a:srgbClr>
            </a:gs>
            <a:gs pos="50000">
              <a:srgbClr val="356BD1">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TextBox 2" id="2"/>
          <p:cNvSpPr txBox="true"/>
          <p:nvPr/>
        </p:nvSpPr>
        <p:spPr>
          <a:xfrm rot="0">
            <a:off x="9879002" y="2251306"/>
            <a:ext cx="10068243" cy="2600325"/>
          </a:xfrm>
          <a:prstGeom prst="rect">
            <a:avLst/>
          </a:prstGeom>
        </p:spPr>
        <p:txBody>
          <a:bodyPr anchor="t" rtlCol="false" tIns="0" lIns="0" bIns="0" rIns="0">
            <a:spAutoFit/>
          </a:bodyPr>
          <a:lstStyle/>
          <a:p>
            <a:pPr algn="ctr">
              <a:lnSpc>
                <a:spcPts val="9600"/>
              </a:lnSpc>
            </a:pPr>
            <a:r>
              <a:rPr lang="en-US" b="true" sz="12000">
                <a:solidFill>
                  <a:srgbClr val="3065CB"/>
                </a:solidFill>
                <a:latin typeface="Proxima Nova Heavy"/>
                <a:ea typeface="Proxima Nova Heavy"/>
                <a:cs typeface="Proxima Nova Heavy"/>
                <a:sym typeface="Proxima Nova Heavy"/>
              </a:rPr>
              <a:t>OPTIMAL SOLUTIONS</a:t>
            </a:r>
          </a:p>
        </p:txBody>
      </p:sp>
      <p:grpSp>
        <p:nvGrpSpPr>
          <p:cNvPr name="Group 3" id="3"/>
          <p:cNvGrpSpPr/>
          <p:nvPr/>
        </p:nvGrpSpPr>
        <p:grpSpPr>
          <a:xfrm rot="0">
            <a:off x="-189806" y="-202673"/>
            <a:ext cx="18719200" cy="1431252"/>
            <a:chOff x="0" y="0"/>
            <a:chExt cx="4930160" cy="376955"/>
          </a:xfrm>
        </p:grpSpPr>
        <p:sp>
          <p:nvSpPr>
            <p:cNvPr name="Freeform 4" id="4"/>
            <p:cNvSpPr/>
            <p:nvPr/>
          </p:nvSpPr>
          <p:spPr>
            <a:xfrm flipH="false" flipV="false" rot="0">
              <a:off x="0" y="0"/>
              <a:ext cx="4930160" cy="376955"/>
            </a:xfrm>
            <a:custGeom>
              <a:avLst/>
              <a:gdLst/>
              <a:ahLst/>
              <a:cxnLst/>
              <a:rect r="r" b="b" t="t" l="l"/>
              <a:pathLst>
                <a:path h="376955" w="4930160">
                  <a:moveTo>
                    <a:pt x="0" y="0"/>
                  </a:moveTo>
                  <a:lnTo>
                    <a:pt x="4930160" y="0"/>
                  </a:lnTo>
                  <a:lnTo>
                    <a:pt x="4930160" y="376955"/>
                  </a:lnTo>
                  <a:lnTo>
                    <a:pt x="0" y="376955"/>
                  </a:lnTo>
                  <a:close/>
                </a:path>
              </a:pathLst>
            </a:custGeom>
            <a:solidFill>
              <a:srgbClr val="FFFFFF"/>
            </a:solidFill>
          </p:spPr>
        </p:sp>
        <p:sp>
          <p:nvSpPr>
            <p:cNvPr name="TextBox 5" id="5"/>
            <p:cNvSpPr txBox="true"/>
            <p:nvPr/>
          </p:nvSpPr>
          <p:spPr>
            <a:xfrm>
              <a:off x="0" y="-38100"/>
              <a:ext cx="4930160" cy="415055"/>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89806" y="439295"/>
            <a:ext cx="347972" cy="513715"/>
            <a:chOff x="0" y="0"/>
            <a:chExt cx="91647" cy="135299"/>
          </a:xfrm>
        </p:grpSpPr>
        <p:sp>
          <p:nvSpPr>
            <p:cNvPr name="Freeform 7" id="7"/>
            <p:cNvSpPr/>
            <p:nvPr/>
          </p:nvSpPr>
          <p:spPr>
            <a:xfrm flipH="false" flipV="false" rot="0">
              <a:off x="0" y="0"/>
              <a:ext cx="91647" cy="135299"/>
            </a:xfrm>
            <a:custGeom>
              <a:avLst/>
              <a:gdLst/>
              <a:ahLst/>
              <a:cxnLst/>
              <a:rect r="r" b="b" t="t" l="l"/>
              <a:pathLst>
                <a:path h="135299" w="91647">
                  <a:moveTo>
                    <a:pt x="0" y="0"/>
                  </a:moveTo>
                  <a:lnTo>
                    <a:pt x="91647" y="0"/>
                  </a:lnTo>
                  <a:lnTo>
                    <a:pt x="91647" y="135299"/>
                  </a:lnTo>
                  <a:lnTo>
                    <a:pt x="0" y="135299"/>
                  </a:lnTo>
                  <a:close/>
                </a:path>
              </a:pathLst>
            </a:custGeom>
            <a:solidFill>
              <a:srgbClr val="3065CB"/>
            </a:solidFill>
          </p:spPr>
        </p:sp>
        <p:sp>
          <p:nvSpPr>
            <p:cNvPr name="TextBox 8" id="8"/>
            <p:cNvSpPr txBox="true"/>
            <p:nvPr/>
          </p:nvSpPr>
          <p:spPr>
            <a:xfrm>
              <a:off x="0" y="-38100"/>
              <a:ext cx="91647" cy="173399"/>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265152" y="439295"/>
            <a:ext cx="493718" cy="513715"/>
            <a:chOff x="0" y="0"/>
            <a:chExt cx="130033" cy="135299"/>
          </a:xfrm>
        </p:grpSpPr>
        <p:sp>
          <p:nvSpPr>
            <p:cNvPr name="Freeform 10" id="10"/>
            <p:cNvSpPr/>
            <p:nvPr/>
          </p:nvSpPr>
          <p:spPr>
            <a:xfrm flipH="false" flipV="false" rot="0">
              <a:off x="0" y="0"/>
              <a:ext cx="130033" cy="135299"/>
            </a:xfrm>
            <a:custGeom>
              <a:avLst/>
              <a:gdLst/>
              <a:ahLst/>
              <a:cxnLst/>
              <a:rect r="r" b="b" t="t" l="l"/>
              <a:pathLst>
                <a:path h="135299" w="130033">
                  <a:moveTo>
                    <a:pt x="0" y="0"/>
                  </a:moveTo>
                  <a:lnTo>
                    <a:pt x="130033" y="0"/>
                  </a:lnTo>
                  <a:lnTo>
                    <a:pt x="130033" y="135299"/>
                  </a:lnTo>
                  <a:lnTo>
                    <a:pt x="0" y="135299"/>
                  </a:lnTo>
                  <a:close/>
                </a:path>
              </a:pathLst>
            </a:custGeom>
            <a:gradFill rotWithShape="true">
              <a:gsLst>
                <a:gs pos="0">
                  <a:srgbClr val="C08846">
                    <a:alpha val="100000"/>
                  </a:srgbClr>
                </a:gs>
                <a:gs pos="100000">
                  <a:srgbClr val="FFC87B">
                    <a:alpha val="100000"/>
                  </a:srgbClr>
                </a:gs>
              </a:gsLst>
              <a:lin ang="5400000"/>
            </a:gradFill>
          </p:spPr>
        </p:sp>
        <p:sp>
          <p:nvSpPr>
            <p:cNvPr name="TextBox 11" id="11"/>
            <p:cNvSpPr txBox="true"/>
            <p:nvPr/>
          </p:nvSpPr>
          <p:spPr>
            <a:xfrm>
              <a:off x="0" y="-38100"/>
              <a:ext cx="130033" cy="173399"/>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028700" y="382145"/>
            <a:ext cx="8850302" cy="570865"/>
          </a:xfrm>
          <a:prstGeom prst="rect">
            <a:avLst/>
          </a:prstGeom>
        </p:spPr>
        <p:txBody>
          <a:bodyPr anchor="t" rtlCol="false" tIns="0" lIns="0" bIns="0" rIns="0">
            <a:spAutoFit/>
          </a:bodyPr>
          <a:lstStyle/>
          <a:p>
            <a:pPr algn="l">
              <a:lnSpc>
                <a:spcPts val="4759"/>
              </a:lnSpc>
              <a:spcBef>
                <a:spcPct val="0"/>
              </a:spcBef>
            </a:pPr>
            <a:r>
              <a:rPr lang="en-US" b="true" sz="3399" i="true">
                <a:solidFill>
                  <a:srgbClr val="061647"/>
                </a:solidFill>
                <a:latin typeface="Proxima Nova Heavy Italics"/>
                <a:ea typeface="Proxima Nova Heavy Italics"/>
                <a:cs typeface="Proxima Nova Heavy Italics"/>
                <a:sym typeface="Proxima Nova Heavy Italics"/>
              </a:rPr>
              <a:t>TÀI LIỆU CÀI ĐẶT &amp; KHO MÃ NGUỒN (GIT)</a:t>
            </a:r>
          </a:p>
        </p:txBody>
      </p:sp>
      <p:sp>
        <p:nvSpPr>
          <p:cNvPr name="Freeform 13" id="13"/>
          <p:cNvSpPr/>
          <p:nvPr/>
        </p:nvSpPr>
        <p:spPr>
          <a:xfrm flipH="false" flipV="false" rot="0">
            <a:off x="13856101" y="0"/>
            <a:ext cx="4394462" cy="1408974"/>
          </a:xfrm>
          <a:custGeom>
            <a:avLst/>
            <a:gdLst/>
            <a:ahLst/>
            <a:cxnLst/>
            <a:rect r="r" b="b" t="t" l="l"/>
            <a:pathLst>
              <a:path h="1408974" w="4394462">
                <a:moveTo>
                  <a:pt x="0" y="0"/>
                </a:moveTo>
                <a:lnTo>
                  <a:pt x="4394462" y="0"/>
                </a:lnTo>
                <a:lnTo>
                  <a:pt x="4394462" y="1408974"/>
                </a:lnTo>
                <a:lnTo>
                  <a:pt x="0" y="1408974"/>
                </a:lnTo>
                <a:lnTo>
                  <a:pt x="0" y="0"/>
                </a:lnTo>
                <a:close/>
              </a:path>
            </a:pathLst>
          </a:custGeom>
          <a:blipFill>
            <a:blip r:embed="rId2"/>
            <a:stretch>
              <a:fillRect l="0" t="0" r="0" b="0"/>
            </a:stretch>
          </a:blipFill>
        </p:spPr>
      </p:sp>
      <p:sp>
        <p:nvSpPr>
          <p:cNvPr name="TextBox 14" id="14"/>
          <p:cNvSpPr txBox="true"/>
          <p:nvPr/>
        </p:nvSpPr>
        <p:spPr>
          <a:xfrm rot="0">
            <a:off x="1028700" y="2129155"/>
            <a:ext cx="13641740" cy="5971540"/>
          </a:xfrm>
          <a:prstGeom prst="rect">
            <a:avLst/>
          </a:prstGeom>
        </p:spPr>
        <p:txBody>
          <a:bodyPr anchor="t" rtlCol="false" tIns="0" lIns="0" bIns="0" rIns="0">
            <a:spAutoFit/>
          </a:bodyPr>
          <a:lstStyle/>
          <a:p>
            <a:pPr algn="l">
              <a:lnSpc>
                <a:spcPts val="4759"/>
              </a:lnSpc>
              <a:spcBef>
                <a:spcPct val="0"/>
              </a:spcBef>
            </a:pPr>
            <a:r>
              <a:rPr lang="en-US" b="true" sz="3399">
                <a:solidFill>
                  <a:srgbClr val="FFFFFF"/>
                </a:solidFill>
                <a:latin typeface="Proxima Nova Bold"/>
                <a:ea typeface="Proxima Nova Bold"/>
                <a:cs typeface="Proxima Nova Bold"/>
                <a:sym typeface="Proxima Nova Bold"/>
              </a:rPr>
              <a:t>KHO LƯU TRỮ &amp; TÀI</a:t>
            </a:r>
            <a:r>
              <a:rPr lang="en-US" b="true" sz="3399">
                <a:solidFill>
                  <a:srgbClr val="FFFFFF"/>
                </a:solidFill>
                <a:latin typeface="Proxima Nova Bold"/>
                <a:ea typeface="Proxima Nova Bold"/>
                <a:cs typeface="Proxima Nova Bold"/>
                <a:sym typeface="Proxima Nova Bold"/>
              </a:rPr>
              <a:t> LIỆU </a:t>
            </a:r>
          </a:p>
          <a:p>
            <a:pPr algn="l">
              <a:lnSpc>
                <a:spcPts val="4759"/>
              </a:lnSpc>
              <a:spcBef>
                <a:spcPct val="0"/>
              </a:spcBef>
            </a:pPr>
            <a:r>
              <a:rPr lang="en-US" b="true" sz="3399">
                <a:solidFill>
                  <a:srgbClr val="FFFFFF"/>
                </a:solidFill>
                <a:latin typeface="Proxima Nova Bold"/>
                <a:ea typeface="Proxima Nova Bold"/>
                <a:cs typeface="Proxima Nova Bold"/>
                <a:sym typeface="Proxima Nova Bold"/>
              </a:rPr>
              <a:t>GitHub Repository:</a:t>
            </a:r>
          </a:p>
          <a:p>
            <a:pPr algn="l" marL="734059" indent="-367030" lvl="1">
              <a:lnSpc>
                <a:spcPts val="4759"/>
              </a:lnSpc>
              <a:spcBef>
                <a:spcPct val="0"/>
              </a:spcBef>
              <a:buFont typeface="Arial"/>
              <a:buChar char="•"/>
            </a:pPr>
            <a:r>
              <a:rPr lang="en-US" b="true" sz="3399">
                <a:solidFill>
                  <a:srgbClr val="FFFFFF"/>
                </a:solidFill>
                <a:latin typeface="Proxima Nova Bold"/>
                <a:ea typeface="Proxima Nova Bold"/>
                <a:cs typeface="Proxima Nova Bold"/>
                <a:sym typeface="Proxima Nova Bold"/>
              </a:rPr>
              <a:t>https://github.com/nhphuc2035commits/AppDatLichHotToc.git</a:t>
            </a:r>
          </a:p>
          <a:p>
            <a:pPr algn="l">
              <a:lnSpc>
                <a:spcPts val="4759"/>
              </a:lnSpc>
              <a:spcBef>
                <a:spcPct val="0"/>
              </a:spcBef>
            </a:pPr>
            <a:r>
              <a:rPr lang="en-US" b="true" sz="3399">
                <a:solidFill>
                  <a:srgbClr val="FFFFFF"/>
                </a:solidFill>
                <a:latin typeface="Proxima Nova Bold"/>
                <a:ea typeface="Proxima Nova Bold"/>
                <a:cs typeface="Proxima Nova Bold"/>
                <a:sym typeface="Proxima Nova Bold"/>
              </a:rPr>
              <a:t>Tài liệu (Document):</a:t>
            </a:r>
          </a:p>
          <a:p>
            <a:pPr algn="l" marL="734059" indent="-367030" lvl="1">
              <a:lnSpc>
                <a:spcPts val="4759"/>
              </a:lnSpc>
              <a:spcBef>
                <a:spcPct val="0"/>
              </a:spcBef>
              <a:buFont typeface="Arial"/>
              <a:buChar char="•"/>
            </a:pPr>
            <a:r>
              <a:rPr lang="en-US" b="true" sz="3399">
                <a:solidFill>
                  <a:srgbClr val="FFFFFF"/>
                </a:solidFill>
                <a:latin typeface="Proxima Nova Bold"/>
                <a:ea typeface="Proxima Nova Bold"/>
                <a:cs typeface="Proxima Nova Bold"/>
                <a:sym typeface="Proxima Nova Bold"/>
              </a:rPr>
              <a:t>File Word Tài Liệu Hướng Dẫn </a:t>
            </a:r>
          </a:p>
          <a:p>
            <a:pPr algn="l">
              <a:lnSpc>
                <a:spcPts val="4759"/>
              </a:lnSpc>
              <a:spcBef>
                <a:spcPct val="0"/>
              </a:spcBef>
            </a:pPr>
            <a:r>
              <a:rPr lang="en-US" b="true" sz="3399">
                <a:solidFill>
                  <a:srgbClr val="FFFFFF"/>
                </a:solidFill>
                <a:latin typeface="Proxima Nova Bold"/>
                <a:ea typeface="Proxima Nova Bold"/>
                <a:cs typeface="Proxima Nova Bold"/>
                <a:sym typeface="Proxima Nova Bold"/>
              </a:rPr>
              <a:t>Yêu cầu môi trường:</a:t>
            </a:r>
          </a:p>
          <a:p>
            <a:pPr algn="l" marL="734059" indent="-367030" lvl="1">
              <a:lnSpc>
                <a:spcPts val="4759"/>
              </a:lnSpc>
              <a:spcBef>
                <a:spcPct val="0"/>
              </a:spcBef>
              <a:buFont typeface="Arial"/>
              <a:buChar char="•"/>
            </a:pPr>
            <a:r>
              <a:rPr lang="en-US" b="true" sz="3399">
                <a:solidFill>
                  <a:srgbClr val="FFFFFF"/>
                </a:solidFill>
                <a:latin typeface="Proxima Nova Bold"/>
                <a:ea typeface="Proxima Nova Bold"/>
                <a:cs typeface="Proxima Nova Bold"/>
                <a:sym typeface="Proxima Nova Bold"/>
              </a:rPr>
              <a:t>Flutter SDK &gt;= 3.0 | Android API &gt;= 23</a:t>
            </a:r>
          </a:p>
          <a:p>
            <a:pPr algn="l">
              <a:lnSpc>
                <a:spcPts val="4759"/>
              </a:lnSpc>
              <a:spcBef>
                <a:spcPct val="0"/>
              </a:spcBef>
            </a:pPr>
            <a:r>
              <a:rPr lang="en-US" b="true" sz="3399">
                <a:solidFill>
                  <a:srgbClr val="FFFFFF"/>
                </a:solidFill>
                <a:latin typeface="Proxima Nova Bold"/>
                <a:ea typeface="Proxima Nova Bold"/>
                <a:cs typeface="Proxima Nova Bold"/>
                <a:sym typeface="Proxima Nova Bold"/>
              </a:rPr>
              <a:t>Lệnh cài đặt &amp; chạy nhanh (CLI):</a:t>
            </a:r>
          </a:p>
          <a:p>
            <a:pPr algn="l" marL="734059" indent="-367030" lvl="1">
              <a:lnSpc>
                <a:spcPts val="4759"/>
              </a:lnSpc>
              <a:spcBef>
                <a:spcPct val="0"/>
              </a:spcBef>
              <a:buFont typeface="Arial"/>
              <a:buChar char="•"/>
            </a:pPr>
            <a:r>
              <a:rPr lang="en-US" b="true" sz="3399">
                <a:solidFill>
                  <a:srgbClr val="FFFFFF"/>
                </a:solidFill>
                <a:latin typeface="Proxima Nova Bold"/>
                <a:ea typeface="Proxima Nova Bold"/>
                <a:cs typeface="Proxima Nova Bold"/>
                <a:sym typeface="Proxima Nova Bold"/>
              </a:rPr>
              <a:t>flutter pub get</a:t>
            </a:r>
          </a:p>
          <a:p>
            <a:pPr algn="l" marL="734059" indent="-367030" lvl="1">
              <a:lnSpc>
                <a:spcPts val="4759"/>
              </a:lnSpc>
              <a:spcBef>
                <a:spcPct val="0"/>
              </a:spcBef>
              <a:buFont typeface="Arial"/>
              <a:buChar char="•"/>
            </a:pPr>
            <a:r>
              <a:rPr lang="en-US" b="true" sz="3399">
                <a:solidFill>
                  <a:srgbClr val="FFFFFF"/>
                </a:solidFill>
                <a:latin typeface="Proxima Nova Bold"/>
                <a:ea typeface="Proxima Nova Bold"/>
                <a:cs typeface="Proxima Nova Bold"/>
                <a:sym typeface="Proxima Nova Bold"/>
              </a:rPr>
              <a:t>flutter run</a:t>
            </a:r>
          </a:p>
        </p:txBody>
      </p:sp>
    </p:spTree>
  </p:cSld>
  <p:clrMapOvr>
    <a:masterClrMapping/>
  </p:clrMapOvr>
  <p:transition spd="slow">
    <p:push dir="l"/>
  </p:transition>
</p:sld>
</file>

<file path=ppt/slides/slide1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2772">
                <a:alpha val="100000"/>
              </a:srgbClr>
            </a:gs>
            <a:gs pos="50000">
              <a:srgbClr val="356BD1">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TextBox 2" id="2"/>
          <p:cNvSpPr txBox="true"/>
          <p:nvPr/>
        </p:nvSpPr>
        <p:spPr>
          <a:xfrm rot="0">
            <a:off x="158166" y="1791328"/>
            <a:ext cx="10068243" cy="2600325"/>
          </a:xfrm>
          <a:prstGeom prst="rect">
            <a:avLst/>
          </a:prstGeom>
        </p:spPr>
        <p:txBody>
          <a:bodyPr anchor="t" rtlCol="false" tIns="0" lIns="0" bIns="0" rIns="0">
            <a:spAutoFit/>
          </a:bodyPr>
          <a:lstStyle/>
          <a:p>
            <a:pPr algn="ctr">
              <a:lnSpc>
                <a:spcPts val="9600"/>
              </a:lnSpc>
            </a:pPr>
            <a:r>
              <a:rPr lang="en-US" b="true" sz="12000">
                <a:solidFill>
                  <a:srgbClr val="3065CB"/>
                </a:solidFill>
                <a:latin typeface="Proxima Nova Heavy"/>
                <a:ea typeface="Proxima Nova Heavy"/>
                <a:cs typeface="Proxima Nova Heavy"/>
                <a:sym typeface="Proxima Nova Heavy"/>
              </a:rPr>
              <a:t>OPTIMAL SOLUTIONS</a:t>
            </a:r>
          </a:p>
        </p:txBody>
      </p:sp>
      <p:grpSp>
        <p:nvGrpSpPr>
          <p:cNvPr name="Group 3" id="3"/>
          <p:cNvGrpSpPr/>
          <p:nvPr/>
        </p:nvGrpSpPr>
        <p:grpSpPr>
          <a:xfrm rot="0">
            <a:off x="-189806" y="-202673"/>
            <a:ext cx="18719200" cy="1431252"/>
            <a:chOff x="0" y="0"/>
            <a:chExt cx="4930160" cy="376955"/>
          </a:xfrm>
        </p:grpSpPr>
        <p:sp>
          <p:nvSpPr>
            <p:cNvPr name="Freeform 4" id="4"/>
            <p:cNvSpPr/>
            <p:nvPr/>
          </p:nvSpPr>
          <p:spPr>
            <a:xfrm flipH="false" flipV="false" rot="0">
              <a:off x="0" y="0"/>
              <a:ext cx="4930160" cy="376955"/>
            </a:xfrm>
            <a:custGeom>
              <a:avLst/>
              <a:gdLst/>
              <a:ahLst/>
              <a:cxnLst/>
              <a:rect r="r" b="b" t="t" l="l"/>
              <a:pathLst>
                <a:path h="376955" w="4930160">
                  <a:moveTo>
                    <a:pt x="0" y="0"/>
                  </a:moveTo>
                  <a:lnTo>
                    <a:pt x="4930160" y="0"/>
                  </a:lnTo>
                  <a:lnTo>
                    <a:pt x="4930160" y="376955"/>
                  </a:lnTo>
                  <a:lnTo>
                    <a:pt x="0" y="376955"/>
                  </a:lnTo>
                  <a:close/>
                </a:path>
              </a:pathLst>
            </a:custGeom>
            <a:solidFill>
              <a:srgbClr val="FFFFFF"/>
            </a:solidFill>
          </p:spPr>
        </p:sp>
        <p:sp>
          <p:nvSpPr>
            <p:cNvPr name="TextBox 5" id="5"/>
            <p:cNvSpPr txBox="true"/>
            <p:nvPr/>
          </p:nvSpPr>
          <p:spPr>
            <a:xfrm>
              <a:off x="0" y="-38100"/>
              <a:ext cx="4930160" cy="415055"/>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89806" y="439295"/>
            <a:ext cx="347972" cy="513715"/>
            <a:chOff x="0" y="0"/>
            <a:chExt cx="91647" cy="135299"/>
          </a:xfrm>
        </p:grpSpPr>
        <p:sp>
          <p:nvSpPr>
            <p:cNvPr name="Freeform 7" id="7"/>
            <p:cNvSpPr/>
            <p:nvPr/>
          </p:nvSpPr>
          <p:spPr>
            <a:xfrm flipH="false" flipV="false" rot="0">
              <a:off x="0" y="0"/>
              <a:ext cx="91647" cy="135299"/>
            </a:xfrm>
            <a:custGeom>
              <a:avLst/>
              <a:gdLst/>
              <a:ahLst/>
              <a:cxnLst/>
              <a:rect r="r" b="b" t="t" l="l"/>
              <a:pathLst>
                <a:path h="135299" w="91647">
                  <a:moveTo>
                    <a:pt x="0" y="0"/>
                  </a:moveTo>
                  <a:lnTo>
                    <a:pt x="91647" y="0"/>
                  </a:lnTo>
                  <a:lnTo>
                    <a:pt x="91647" y="135299"/>
                  </a:lnTo>
                  <a:lnTo>
                    <a:pt x="0" y="135299"/>
                  </a:lnTo>
                  <a:close/>
                </a:path>
              </a:pathLst>
            </a:custGeom>
            <a:solidFill>
              <a:srgbClr val="3065CB"/>
            </a:solidFill>
          </p:spPr>
        </p:sp>
        <p:sp>
          <p:nvSpPr>
            <p:cNvPr name="TextBox 8" id="8"/>
            <p:cNvSpPr txBox="true"/>
            <p:nvPr/>
          </p:nvSpPr>
          <p:spPr>
            <a:xfrm>
              <a:off x="0" y="-38100"/>
              <a:ext cx="91647" cy="173399"/>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265152" y="439295"/>
            <a:ext cx="493718" cy="513715"/>
            <a:chOff x="0" y="0"/>
            <a:chExt cx="130033" cy="135299"/>
          </a:xfrm>
        </p:grpSpPr>
        <p:sp>
          <p:nvSpPr>
            <p:cNvPr name="Freeform 10" id="10"/>
            <p:cNvSpPr/>
            <p:nvPr/>
          </p:nvSpPr>
          <p:spPr>
            <a:xfrm flipH="false" flipV="false" rot="0">
              <a:off x="0" y="0"/>
              <a:ext cx="130033" cy="135299"/>
            </a:xfrm>
            <a:custGeom>
              <a:avLst/>
              <a:gdLst/>
              <a:ahLst/>
              <a:cxnLst/>
              <a:rect r="r" b="b" t="t" l="l"/>
              <a:pathLst>
                <a:path h="135299" w="130033">
                  <a:moveTo>
                    <a:pt x="0" y="0"/>
                  </a:moveTo>
                  <a:lnTo>
                    <a:pt x="130033" y="0"/>
                  </a:lnTo>
                  <a:lnTo>
                    <a:pt x="130033" y="135299"/>
                  </a:lnTo>
                  <a:lnTo>
                    <a:pt x="0" y="135299"/>
                  </a:lnTo>
                  <a:close/>
                </a:path>
              </a:pathLst>
            </a:custGeom>
            <a:gradFill rotWithShape="true">
              <a:gsLst>
                <a:gs pos="0">
                  <a:srgbClr val="C08846">
                    <a:alpha val="100000"/>
                  </a:srgbClr>
                </a:gs>
                <a:gs pos="100000">
                  <a:srgbClr val="FFC87B">
                    <a:alpha val="100000"/>
                  </a:srgbClr>
                </a:gs>
              </a:gsLst>
              <a:lin ang="5400000"/>
            </a:gradFill>
          </p:spPr>
        </p:sp>
        <p:sp>
          <p:nvSpPr>
            <p:cNvPr name="TextBox 11" id="11"/>
            <p:cNvSpPr txBox="true"/>
            <p:nvPr/>
          </p:nvSpPr>
          <p:spPr>
            <a:xfrm>
              <a:off x="0" y="-38100"/>
              <a:ext cx="130033" cy="173399"/>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0" y="1028700"/>
            <a:ext cx="9954926" cy="9665390"/>
          </a:xfrm>
          <a:custGeom>
            <a:avLst/>
            <a:gdLst/>
            <a:ahLst/>
            <a:cxnLst/>
            <a:rect r="r" b="b" t="t" l="l"/>
            <a:pathLst>
              <a:path h="9665390" w="9954926">
                <a:moveTo>
                  <a:pt x="0" y="0"/>
                </a:moveTo>
                <a:lnTo>
                  <a:pt x="9954926" y="0"/>
                </a:lnTo>
                <a:lnTo>
                  <a:pt x="9954926" y="9665390"/>
                </a:lnTo>
                <a:lnTo>
                  <a:pt x="0" y="9665390"/>
                </a:lnTo>
                <a:lnTo>
                  <a:pt x="0" y="0"/>
                </a:lnTo>
                <a:close/>
              </a:path>
            </a:pathLst>
          </a:custGeom>
          <a:blipFill>
            <a:blip r:embed="rId2"/>
            <a:stretch>
              <a:fillRect l="0" t="-8279" r="-66896" b="-6422"/>
            </a:stretch>
          </a:blipFill>
        </p:spPr>
      </p:sp>
      <p:grpSp>
        <p:nvGrpSpPr>
          <p:cNvPr name="Group 13" id="13"/>
          <p:cNvGrpSpPr/>
          <p:nvPr/>
        </p:nvGrpSpPr>
        <p:grpSpPr>
          <a:xfrm rot="-7662578">
            <a:off x="8027733" y="2039681"/>
            <a:ext cx="2051435" cy="4079850"/>
            <a:chOff x="0" y="0"/>
            <a:chExt cx="540296" cy="1074528"/>
          </a:xfrm>
        </p:grpSpPr>
        <p:sp>
          <p:nvSpPr>
            <p:cNvPr name="Freeform 14" id="14"/>
            <p:cNvSpPr/>
            <p:nvPr/>
          </p:nvSpPr>
          <p:spPr>
            <a:xfrm flipH="false" flipV="false" rot="0">
              <a:off x="0" y="0"/>
              <a:ext cx="540296" cy="1074528"/>
            </a:xfrm>
            <a:custGeom>
              <a:avLst/>
              <a:gdLst/>
              <a:ahLst/>
              <a:cxnLst/>
              <a:rect r="r" b="b" t="t" l="l"/>
              <a:pathLst>
                <a:path h="1074528" w="540296">
                  <a:moveTo>
                    <a:pt x="270148" y="0"/>
                  </a:moveTo>
                  <a:lnTo>
                    <a:pt x="540296" y="1074528"/>
                  </a:lnTo>
                  <a:lnTo>
                    <a:pt x="0" y="1074528"/>
                  </a:lnTo>
                  <a:lnTo>
                    <a:pt x="270148" y="0"/>
                  </a:lnTo>
                  <a:close/>
                </a:path>
              </a:pathLst>
            </a:custGeom>
            <a:gradFill rotWithShape="true">
              <a:gsLst>
                <a:gs pos="0">
                  <a:srgbClr val="FFFFFF">
                    <a:alpha val="100000"/>
                  </a:srgbClr>
                </a:gs>
                <a:gs pos="100000">
                  <a:srgbClr val="FFFFFF">
                    <a:alpha val="0"/>
                  </a:srgbClr>
                </a:gs>
              </a:gsLst>
              <a:lin ang="5400000"/>
            </a:gradFill>
          </p:spPr>
        </p:sp>
        <p:sp>
          <p:nvSpPr>
            <p:cNvPr name="TextBox 15" id="15"/>
            <p:cNvSpPr txBox="true"/>
            <p:nvPr/>
          </p:nvSpPr>
          <p:spPr>
            <a:xfrm>
              <a:off x="84421" y="460788"/>
              <a:ext cx="371453" cy="536988"/>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3121120">
            <a:off x="8025639" y="4852396"/>
            <a:ext cx="2051435" cy="4079850"/>
            <a:chOff x="0" y="0"/>
            <a:chExt cx="540296" cy="1074528"/>
          </a:xfrm>
        </p:grpSpPr>
        <p:sp>
          <p:nvSpPr>
            <p:cNvPr name="Freeform 17" id="17"/>
            <p:cNvSpPr/>
            <p:nvPr/>
          </p:nvSpPr>
          <p:spPr>
            <a:xfrm flipH="false" flipV="false" rot="0">
              <a:off x="0" y="0"/>
              <a:ext cx="540296" cy="1074528"/>
            </a:xfrm>
            <a:custGeom>
              <a:avLst/>
              <a:gdLst/>
              <a:ahLst/>
              <a:cxnLst/>
              <a:rect r="r" b="b" t="t" l="l"/>
              <a:pathLst>
                <a:path h="1074528" w="540296">
                  <a:moveTo>
                    <a:pt x="270148" y="0"/>
                  </a:moveTo>
                  <a:lnTo>
                    <a:pt x="540296" y="1074528"/>
                  </a:lnTo>
                  <a:lnTo>
                    <a:pt x="0" y="1074528"/>
                  </a:lnTo>
                  <a:lnTo>
                    <a:pt x="270148" y="0"/>
                  </a:lnTo>
                  <a:close/>
                </a:path>
              </a:pathLst>
            </a:custGeom>
            <a:gradFill rotWithShape="true">
              <a:gsLst>
                <a:gs pos="0">
                  <a:srgbClr val="FFFFFF">
                    <a:alpha val="100000"/>
                  </a:srgbClr>
                </a:gs>
                <a:gs pos="100000">
                  <a:srgbClr val="FFFFFF">
                    <a:alpha val="0"/>
                  </a:srgbClr>
                </a:gs>
              </a:gsLst>
              <a:lin ang="5400000"/>
            </a:gradFill>
          </p:spPr>
        </p:sp>
        <p:sp>
          <p:nvSpPr>
            <p:cNvPr name="TextBox 18" id="18"/>
            <p:cNvSpPr txBox="true"/>
            <p:nvPr/>
          </p:nvSpPr>
          <p:spPr>
            <a:xfrm>
              <a:off x="84421" y="460788"/>
              <a:ext cx="371453" cy="536988"/>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3577904">
            <a:off x="7389742" y="4724664"/>
            <a:ext cx="2354885" cy="2858053"/>
            <a:chOff x="0" y="0"/>
            <a:chExt cx="620217" cy="752738"/>
          </a:xfrm>
        </p:grpSpPr>
        <p:sp>
          <p:nvSpPr>
            <p:cNvPr name="Freeform 20" id="20"/>
            <p:cNvSpPr/>
            <p:nvPr/>
          </p:nvSpPr>
          <p:spPr>
            <a:xfrm flipH="false" flipV="false" rot="0">
              <a:off x="0" y="0"/>
              <a:ext cx="620217" cy="752738"/>
            </a:xfrm>
            <a:custGeom>
              <a:avLst/>
              <a:gdLst/>
              <a:ahLst/>
              <a:cxnLst/>
              <a:rect r="r" b="b" t="t" l="l"/>
              <a:pathLst>
                <a:path h="752738" w="620217">
                  <a:moveTo>
                    <a:pt x="310108" y="0"/>
                  </a:moveTo>
                  <a:lnTo>
                    <a:pt x="620217" y="752738"/>
                  </a:lnTo>
                  <a:lnTo>
                    <a:pt x="0" y="752738"/>
                  </a:lnTo>
                  <a:lnTo>
                    <a:pt x="310108" y="0"/>
                  </a:lnTo>
                  <a:close/>
                </a:path>
              </a:pathLst>
            </a:custGeom>
            <a:gradFill rotWithShape="true">
              <a:gsLst>
                <a:gs pos="0">
                  <a:srgbClr val="FFFFFF">
                    <a:alpha val="100000"/>
                  </a:srgbClr>
                </a:gs>
                <a:gs pos="100000">
                  <a:srgbClr val="FFFFFF">
                    <a:alpha val="0"/>
                  </a:srgbClr>
                </a:gs>
              </a:gsLst>
              <a:lin ang="5400000"/>
            </a:gradFill>
          </p:spPr>
        </p:sp>
        <p:sp>
          <p:nvSpPr>
            <p:cNvPr name="TextBox 21" id="21"/>
            <p:cNvSpPr txBox="true"/>
            <p:nvPr/>
          </p:nvSpPr>
          <p:spPr>
            <a:xfrm>
              <a:off x="96909" y="311386"/>
              <a:ext cx="426399" cy="387586"/>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22" id="22"/>
          <p:cNvSpPr/>
          <p:nvPr/>
        </p:nvSpPr>
        <p:spPr>
          <a:xfrm flipH="false" flipV="false" rot="1094816">
            <a:off x="7914565" y="2819343"/>
            <a:ext cx="461363" cy="205306"/>
          </a:xfrm>
          <a:custGeom>
            <a:avLst/>
            <a:gdLst/>
            <a:ahLst/>
            <a:cxnLst/>
            <a:rect r="r" b="b" t="t" l="l"/>
            <a:pathLst>
              <a:path h="205306" w="461363">
                <a:moveTo>
                  <a:pt x="0" y="0"/>
                </a:moveTo>
                <a:lnTo>
                  <a:pt x="461362" y="0"/>
                </a:lnTo>
                <a:lnTo>
                  <a:pt x="461362" y="205306"/>
                </a:lnTo>
                <a:lnTo>
                  <a:pt x="0" y="20530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3" id="23"/>
          <p:cNvSpPr/>
          <p:nvPr/>
        </p:nvSpPr>
        <p:spPr>
          <a:xfrm flipH="false" flipV="false" rot="1073274">
            <a:off x="7468766" y="2605302"/>
            <a:ext cx="391158" cy="283589"/>
          </a:xfrm>
          <a:custGeom>
            <a:avLst/>
            <a:gdLst/>
            <a:ahLst/>
            <a:cxnLst/>
            <a:rect r="r" b="b" t="t" l="l"/>
            <a:pathLst>
              <a:path h="283589" w="391158">
                <a:moveTo>
                  <a:pt x="0" y="0"/>
                </a:moveTo>
                <a:lnTo>
                  <a:pt x="391157" y="0"/>
                </a:lnTo>
                <a:lnTo>
                  <a:pt x="391157" y="283589"/>
                </a:lnTo>
                <a:lnTo>
                  <a:pt x="0" y="28358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4" id="24"/>
          <p:cNvSpPr/>
          <p:nvPr/>
        </p:nvSpPr>
        <p:spPr>
          <a:xfrm flipH="false" flipV="false" rot="1029082">
            <a:off x="7058689" y="2455752"/>
            <a:ext cx="330576" cy="330576"/>
          </a:xfrm>
          <a:custGeom>
            <a:avLst/>
            <a:gdLst/>
            <a:ahLst/>
            <a:cxnLst/>
            <a:rect r="r" b="b" t="t" l="l"/>
            <a:pathLst>
              <a:path h="330576" w="330576">
                <a:moveTo>
                  <a:pt x="0" y="0"/>
                </a:moveTo>
                <a:lnTo>
                  <a:pt x="330576" y="0"/>
                </a:lnTo>
                <a:lnTo>
                  <a:pt x="330576" y="330576"/>
                </a:lnTo>
                <a:lnTo>
                  <a:pt x="0" y="33057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5" id="25"/>
          <p:cNvSpPr/>
          <p:nvPr/>
        </p:nvSpPr>
        <p:spPr>
          <a:xfrm flipH="false" flipV="false" rot="0">
            <a:off x="13819228" y="0"/>
            <a:ext cx="4431336" cy="1420797"/>
          </a:xfrm>
          <a:custGeom>
            <a:avLst/>
            <a:gdLst/>
            <a:ahLst/>
            <a:cxnLst/>
            <a:rect r="r" b="b" t="t" l="l"/>
            <a:pathLst>
              <a:path h="1420797" w="4431336">
                <a:moveTo>
                  <a:pt x="0" y="0"/>
                </a:moveTo>
                <a:lnTo>
                  <a:pt x="4431335" y="0"/>
                </a:lnTo>
                <a:lnTo>
                  <a:pt x="4431335" y="1420797"/>
                </a:lnTo>
                <a:lnTo>
                  <a:pt x="0" y="1420797"/>
                </a:lnTo>
                <a:lnTo>
                  <a:pt x="0" y="0"/>
                </a:lnTo>
                <a:close/>
              </a:path>
            </a:pathLst>
          </a:custGeom>
          <a:blipFill>
            <a:blip r:embed="rId9"/>
            <a:stretch>
              <a:fillRect l="0" t="0" r="0" b="0"/>
            </a:stretch>
          </a:blipFill>
        </p:spPr>
      </p:sp>
      <p:pic>
        <p:nvPicPr>
          <p:cNvPr name="Picture 26" id="26"/>
          <p:cNvPicPr>
            <a:picLocks noChangeAspect="true"/>
          </p:cNvPicPr>
          <p:nvPr/>
        </p:nvPicPr>
        <p:blipFill>
          <a:blip r:embed="rId10"/>
          <a:srcRect l="0" t="0" r="0" b="0"/>
          <a:stretch>
            <a:fillRect/>
          </a:stretch>
        </p:blipFill>
        <p:spPr>
          <a:xfrm flipH="false" flipV="false" rot="619148">
            <a:off x="12480150" y="4074745"/>
            <a:ext cx="3702902" cy="3573301"/>
          </a:xfrm>
          <a:prstGeom prst="rect">
            <a:avLst/>
          </a:prstGeom>
        </p:spPr>
      </p:pic>
      <p:sp>
        <p:nvSpPr>
          <p:cNvPr name="TextBox 27" id="27"/>
          <p:cNvSpPr txBox="true"/>
          <p:nvPr/>
        </p:nvSpPr>
        <p:spPr>
          <a:xfrm rot="0">
            <a:off x="1028700" y="382145"/>
            <a:ext cx="8850302" cy="570865"/>
          </a:xfrm>
          <a:prstGeom prst="rect">
            <a:avLst/>
          </a:prstGeom>
        </p:spPr>
        <p:txBody>
          <a:bodyPr anchor="t" rtlCol="false" tIns="0" lIns="0" bIns="0" rIns="0">
            <a:spAutoFit/>
          </a:bodyPr>
          <a:lstStyle/>
          <a:p>
            <a:pPr algn="l">
              <a:lnSpc>
                <a:spcPts val="4759"/>
              </a:lnSpc>
              <a:spcBef>
                <a:spcPct val="0"/>
              </a:spcBef>
            </a:pPr>
            <a:r>
              <a:rPr lang="en-US" b="true" sz="3399" i="true">
                <a:solidFill>
                  <a:srgbClr val="061647"/>
                </a:solidFill>
                <a:latin typeface="Proxima Nova Heavy Italics"/>
                <a:ea typeface="Proxima Nova Heavy Italics"/>
                <a:cs typeface="Proxima Nova Heavy Italics"/>
                <a:sym typeface="Proxima Nova Heavy Italics"/>
              </a:rPr>
              <a:t>KỊCH BẢN DEMO THỰC TẾ (LIVE DEMO)</a:t>
            </a:r>
          </a:p>
        </p:txBody>
      </p:sp>
      <p:sp>
        <p:nvSpPr>
          <p:cNvPr name="TextBox 28" id="28"/>
          <p:cNvSpPr txBox="true"/>
          <p:nvPr/>
        </p:nvSpPr>
        <p:spPr>
          <a:xfrm rot="1188773">
            <a:off x="4645460" y="4909255"/>
            <a:ext cx="2667358" cy="1070522"/>
          </a:xfrm>
          <a:prstGeom prst="rect">
            <a:avLst/>
          </a:prstGeom>
        </p:spPr>
        <p:txBody>
          <a:bodyPr anchor="t" rtlCol="false" tIns="0" lIns="0" bIns="0" rIns="0">
            <a:spAutoFit/>
          </a:bodyPr>
          <a:lstStyle/>
          <a:p>
            <a:pPr algn="ctr">
              <a:lnSpc>
                <a:spcPts val="4165"/>
              </a:lnSpc>
            </a:pPr>
            <a:r>
              <a:rPr lang="en-US" b="true" sz="4004" u="sng">
                <a:solidFill>
                  <a:srgbClr val="061647"/>
                </a:solidFill>
                <a:latin typeface="Proxima Nova Heavy"/>
                <a:ea typeface="Proxima Nova Heavy"/>
                <a:cs typeface="Proxima Nova Heavy"/>
                <a:sym typeface="Proxima Nova Heavy"/>
              </a:rPr>
              <a:t>DEMO</a:t>
            </a:r>
          </a:p>
          <a:p>
            <a:pPr algn="ctr">
              <a:lnSpc>
                <a:spcPts val="4165"/>
              </a:lnSpc>
            </a:pPr>
            <a:r>
              <a:rPr lang="en-US" b="true" sz="4004" u="sng">
                <a:solidFill>
                  <a:srgbClr val="061647"/>
                </a:solidFill>
                <a:latin typeface="Proxima Nova Heavy"/>
                <a:ea typeface="Proxima Nova Heavy"/>
                <a:cs typeface="Proxima Nova Heavy"/>
                <a:sym typeface="Proxima Nova Heavy"/>
              </a:rPr>
              <a:t>LIVE</a:t>
            </a:r>
          </a:p>
        </p:txBody>
      </p:sp>
    </p:spTree>
  </p:cSld>
  <p:clrMapOvr>
    <a:masterClrMapping/>
  </p:clrMapOvr>
  <p:transition spd="fast">
    <p:fade/>
  </p:transition>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459" t="-630" r="-11425" b="-32015"/>
            </a:stretch>
          </a:blipFill>
        </p:spPr>
      </p:sp>
      <p:grpSp>
        <p:nvGrpSpPr>
          <p:cNvPr name="Group 3" id="3"/>
          <p:cNvGrpSpPr/>
          <p:nvPr/>
        </p:nvGrpSpPr>
        <p:grpSpPr>
          <a:xfrm rot="0">
            <a:off x="-158456" y="-367399"/>
            <a:ext cx="13041477" cy="11238567"/>
            <a:chOff x="0" y="0"/>
            <a:chExt cx="3434792" cy="2959952"/>
          </a:xfrm>
        </p:grpSpPr>
        <p:sp>
          <p:nvSpPr>
            <p:cNvPr name="Freeform 4" id="4"/>
            <p:cNvSpPr/>
            <p:nvPr/>
          </p:nvSpPr>
          <p:spPr>
            <a:xfrm flipH="false" flipV="false" rot="0">
              <a:off x="0" y="0"/>
              <a:ext cx="3434792" cy="2959952"/>
            </a:xfrm>
            <a:custGeom>
              <a:avLst/>
              <a:gdLst/>
              <a:ahLst/>
              <a:cxnLst/>
              <a:rect r="r" b="b" t="t" l="l"/>
              <a:pathLst>
                <a:path h="2959952" w="3434792">
                  <a:moveTo>
                    <a:pt x="0" y="0"/>
                  </a:moveTo>
                  <a:lnTo>
                    <a:pt x="3434792" y="0"/>
                  </a:lnTo>
                  <a:lnTo>
                    <a:pt x="3434792" y="2959952"/>
                  </a:lnTo>
                  <a:lnTo>
                    <a:pt x="0" y="2959952"/>
                  </a:lnTo>
                  <a:close/>
                </a:path>
              </a:pathLst>
            </a:custGeom>
            <a:gradFill rotWithShape="true">
              <a:gsLst>
                <a:gs pos="0">
                  <a:srgbClr val="002772">
                    <a:alpha val="100000"/>
                  </a:srgbClr>
                </a:gs>
                <a:gs pos="50000">
                  <a:srgbClr val="042B75">
                    <a:alpha val="100000"/>
                  </a:srgbClr>
                </a:gs>
                <a:gs pos="100000">
                  <a:srgbClr val="002872">
                    <a:alpha val="0"/>
                  </a:srgbClr>
                </a:gs>
              </a:gsLst>
              <a:lin ang="0"/>
            </a:gradFill>
          </p:spPr>
        </p:sp>
        <p:sp>
          <p:nvSpPr>
            <p:cNvPr name="TextBox 5" id="5"/>
            <p:cNvSpPr txBox="true"/>
            <p:nvPr/>
          </p:nvSpPr>
          <p:spPr>
            <a:xfrm>
              <a:off x="0" y="-38100"/>
              <a:ext cx="3434792" cy="299805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538578" y="3079324"/>
            <a:ext cx="9979041" cy="2565935"/>
          </a:xfrm>
          <a:prstGeom prst="rect">
            <a:avLst/>
          </a:prstGeom>
        </p:spPr>
        <p:txBody>
          <a:bodyPr anchor="t" rtlCol="false" tIns="0" lIns="0" bIns="0" rIns="0">
            <a:spAutoFit/>
          </a:bodyPr>
          <a:lstStyle/>
          <a:p>
            <a:pPr algn="l">
              <a:lnSpc>
                <a:spcPts val="10182"/>
              </a:lnSpc>
            </a:pPr>
            <a:r>
              <a:rPr lang="en-US" b="true" sz="8777">
                <a:solidFill>
                  <a:srgbClr val="FFFFFF"/>
                </a:solidFill>
                <a:latin typeface="Proxima Nova Heavy"/>
                <a:ea typeface="Proxima Nova Heavy"/>
                <a:cs typeface="Proxima Nova Heavy"/>
                <a:sym typeface="Proxima Nova Heavy"/>
              </a:rPr>
              <a:t>XIN</a:t>
            </a:r>
            <a:r>
              <a:rPr lang="en-US" b="true" sz="8777">
                <a:solidFill>
                  <a:srgbClr val="FFFFFF"/>
                </a:solidFill>
                <a:latin typeface="Proxima Nova Heavy"/>
                <a:ea typeface="Proxima Nova Heavy"/>
                <a:cs typeface="Proxima Nova Heavy"/>
                <a:sym typeface="Proxima Nova Heavy"/>
              </a:rPr>
              <a:t> TRÂN TRỌNG CẢM ƠN!</a:t>
            </a:r>
          </a:p>
        </p:txBody>
      </p:sp>
      <p:sp>
        <p:nvSpPr>
          <p:cNvPr name="TextBox 7" id="7"/>
          <p:cNvSpPr txBox="true"/>
          <p:nvPr/>
        </p:nvSpPr>
        <p:spPr>
          <a:xfrm rot="0">
            <a:off x="1538578" y="6540342"/>
            <a:ext cx="8543060" cy="1478822"/>
          </a:xfrm>
          <a:prstGeom prst="rect">
            <a:avLst/>
          </a:prstGeom>
        </p:spPr>
        <p:txBody>
          <a:bodyPr anchor="t" rtlCol="false" tIns="0" lIns="0" bIns="0" rIns="0">
            <a:spAutoFit/>
          </a:bodyPr>
          <a:lstStyle/>
          <a:p>
            <a:pPr algn="l">
              <a:lnSpc>
                <a:spcPts val="5848"/>
              </a:lnSpc>
            </a:pPr>
            <a:r>
              <a:rPr lang="en-US" b="true" sz="5042" i="true">
                <a:solidFill>
                  <a:srgbClr val="F1D7B6"/>
                </a:solidFill>
                <a:latin typeface="Proxima Nova Bold Italics"/>
                <a:ea typeface="Proxima Nova Bold Italics"/>
                <a:cs typeface="Proxima Nova Bold Italics"/>
                <a:sym typeface="Proxima Nova Bold Italics"/>
              </a:rPr>
              <a:t>Cảm ơn thầy và các bạn</a:t>
            </a:r>
            <a:r>
              <a:rPr lang="en-US" b="true" sz="5042" i="true">
                <a:solidFill>
                  <a:srgbClr val="F1D7B6"/>
                </a:solidFill>
                <a:latin typeface="Proxima Nova Bold Italics"/>
                <a:ea typeface="Proxima Nova Bold Italics"/>
                <a:cs typeface="Proxima Nova Bold Italics"/>
                <a:sym typeface="Proxima Nova Bold Italics"/>
              </a:rPr>
              <a:t> đã lắng nghe.</a:t>
            </a:r>
          </a:p>
        </p:txBody>
      </p:sp>
      <p:grpSp>
        <p:nvGrpSpPr>
          <p:cNvPr name="Group 8" id="8"/>
          <p:cNvGrpSpPr/>
          <p:nvPr/>
        </p:nvGrpSpPr>
        <p:grpSpPr>
          <a:xfrm rot="0">
            <a:off x="-204071" y="3524974"/>
            <a:ext cx="438110" cy="1780314"/>
            <a:chOff x="0" y="0"/>
            <a:chExt cx="115387" cy="468889"/>
          </a:xfrm>
        </p:grpSpPr>
        <p:sp>
          <p:nvSpPr>
            <p:cNvPr name="Freeform 9" id="9"/>
            <p:cNvSpPr/>
            <p:nvPr/>
          </p:nvSpPr>
          <p:spPr>
            <a:xfrm flipH="false" flipV="false" rot="0">
              <a:off x="0" y="0"/>
              <a:ext cx="115387" cy="468889"/>
            </a:xfrm>
            <a:custGeom>
              <a:avLst/>
              <a:gdLst/>
              <a:ahLst/>
              <a:cxnLst/>
              <a:rect r="r" b="b" t="t" l="l"/>
              <a:pathLst>
                <a:path h="468889" w="115387">
                  <a:moveTo>
                    <a:pt x="0" y="0"/>
                  </a:moveTo>
                  <a:lnTo>
                    <a:pt x="115387" y="0"/>
                  </a:lnTo>
                  <a:lnTo>
                    <a:pt x="115387" y="468889"/>
                  </a:lnTo>
                  <a:lnTo>
                    <a:pt x="0" y="468889"/>
                  </a:lnTo>
                  <a:close/>
                </a:path>
              </a:pathLst>
            </a:custGeom>
            <a:gradFill rotWithShape="true">
              <a:gsLst>
                <a:gs pos="0">
                  <a:srgbClr val="235BBB">
                    <a:alpha val="100000"/>
                  </a:srgbClr>
                </a:gs>
                <a:gs pos="100000">
                  <a:srgbClr val="347FFF">
                    <a:alpha val="100000"/>
                  </a:srgbClr>
                </a:gs>
              </a:gsLst>
              <a:lin ang="5400000"/>
            </a:gradFill>
          </p:spPr>
        </p:sp>
        <p:sp>
          <p:nvSpPr>
            <p:cNvPr name="TextBox 10" id="10"/>
            <p:cNvSpPr txBox="true"/>
            <p:nvPr/>
          </p:nvSpPr>
          <p:spPr>
            <a:xfrm>
              <a:off x="0" y="-38100"/>
              <a:ext cx="115387" cy="506989"/>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361715" y="3524974"/>
            <a:ext cx="666985" cy="1780314"/>
            <a:chOff x="0" y="0"/>
            <a:chExt cx="175667" cy="468889"/>
          </a:xfrm>
        </p:grpSpPr>
        <p:sp>
          <p:nvSpPr>
            <p:cNvPr name="Freeform 12" id="12"/>
            <p:cNvSpPr/>
            <p:nvPr/>
          </p:nvSpPr>
          <p:spPr>
            <a:xfrm flipH="false" flipV="false" rot="0">
              <a:off x="0" y="0"/>
              <a:ext cx="175667" cy="468889"/>
            </a:xfrm>
            <a:custGeom>
              <a:avLst/>
              <a:gdLst/>
              <a:ahLst/>
              <a:cxnLst/>
              <a:rect r="r" b="b" t="t" l="l"/>
              <a:pathLst>
                <a:path h="468889" w="175667">
                  <a:moveTo>
                    <a:pt x="0" y="0"/>
                  </a:moveTo>
                  <a:lnTo>
                    <a:pt x="175667" y="0"/>
                  </a:lnTo>
                  <a:lnTo>
                    <a:pt x="175667" y="468889"/>
                  </a:lnTo>
                  <a:lnTo>
                    <a:pt x="0" y="468889"/>
                  </a:lnTo>
                  <a:close/>
                </a:path>
              </a:pathLst>
            </a:custGeom>
            <a:gradFill rotWithShape="true">
              <a:gsLst>
                <a:gs pos="0">
                  <a:srgbClr val="C08846">
                    <a:alpha val="100000"/>
                  </a:srgbClr>
                </a:gs>
                <a:gs pos="100000">
                  <a:srgbClr val="FFC87B">
                    <a:alpha val="100000"/>
                  </a:srgbClr>
                </a:gs>
              </a:gsLst>
              <a:lin ang="5400000"/>
            </a:gradFill>
          </p:spPr>
        </p:sp>
        <p:sp>
          <p:nvSpPr>
            <p:cNvPr name="TextBox 13" id="13"/>
            <p:cNvSpPr txBox="true"/>
            <p:nvPr/>
          </p:nvSpPr>
          <p:spPr>
            <a:xfrm>
              <a:off x="0" y="-38100"/>
              <a:ext cx="175667" cy="506989"/>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1456145">
            <a:off x="11669243" y="3780231"/>
            <a:ext cx="5062914" cy="1769228"/>
          </a:xfrm>
          <a:prstGeom prst="rect">
            <a:avLst/>
          </a:prstGeom>
        </p:spPr>
        <p:txBody>
          <a:bodyPr anchor="t" rtlCol="false" tIns="0" lIns="0" bIns="0" rIns="0">
            <a:spAutoFit/>
          </a:bodyPr>
          <a:lstStyle/>
          <a:p>
            <a:pPr algn="ctr">
              <a:lnSpc>
                <a:spcPts val="13805"/>
              </a:lnSpc>
            </a:pPr>
            <a:r>
              <a:rPr lang="en-US" sz="11900">
                <a:gradFill>
                  <a:gsLst>
                    <a:gs pos="0">
                      <a:srgbClr val="FFE4C2">
                        <a:alpha val="100000"/>
                      </a:srgbClr>
                    </a:gs>
                    <a:gs pos="100000">
                      <a:srgbClr val="87F8FF">
                        <a:alpha val="100000"/>
                      </a:srgbClr>
                    </a:gs>
                  </a:gsLst>
                  <a:lin ang="0"/>
                </a:gradFill>
                <a:latin typeface="Sprite Graffiti"/>
                <a:ea typeface="Sprite Graffiti"/>
                <a:cs typeface="Sprite Graffiti"/>
                <a:sym typeface="Sprite Graffiti"/>
              </a:rPr>
              <a:t>thank</a:t>
            </a:r>
            <a:r>
              <a:rPr lang="en-US" sz="11900">
                <a:gradFill>
                  <a:gsLst>
                    <a:gs pos="0">
                      <a:srgbClr val="FFE4C2">
                        <a:alpha val="100000"/>
                      </a:srgbClr>
                    </a:gs>
                    <a:gs pos="100000">
                      <a:srgbClr val="87F8FF">
                        <a:alpha val="100000"/>
                      </a:srgbClr>
                    </a:gs>
                  </a:gsLst>
                  <a:lin ang="0"/>
                </a:gradFill>
                <a:latin typeface="Sprite Graffiti"/>
                <a:ea typeface="Sprite Graffiti"/>
                <a:cs typeface="Sprite Graffiti"/>
                <a:sym typeface="Sprite Graffiti"/>
              </a:rPr>
              <a:t> you</a:t>
            </a:r>
          </a:p>
        </p:txBody>
      </p:sp>
      <p:sp>
        <p:nvSpPr>
          <p:cNvPr name="Freeform 15" id="15"/>
          <p:cNvSpPr/>
          <p:nvPr/>
        </p:nvSpPr>
        <p:spPr>
          <a:xfrm flipH="false" flipV="false" rot="0">
            <a:off x="14194828" y="0"/>
            <a:ext cx="4055736" cy="1300370"/>
          </a:xfrm>
          <a:custGeom>
            <a:avLst/>
            <a:gdLst/>
            <a:ahLst/>
            <a:cxnLst/>
            <a:rect r="r" b="b" t="t" l="l"/>
            <a:pathLst>
              <a:path h="1300370" w="4055736">
                <a:moveTo>
                  <a:pt x="0" y="0"/>
                </a:moveTo>
                <a:lnTo>
                  <a:pt x="4055735" y="0"/>
                </a:lnTo>
                <a:lnTo>
                  <a:pt x="4055735" y="1300370"/>
                </a:lnTo>
                <a:lnTo>
                  <a:pt x="0" y="1300370"/>
                </a:lnTo>
                <a:lnTo>
                  <a:pt x="0" y="0"/>
                </a:lnTo>
                <a:close/>
              </a:path>
            </a:pathLst>
          </a:custGeom>
          <a:blipFill>
            <a:blip r:embed="rId3"/>
            <a:stretch>
              <a:fillRect l="0" t="0" r="0" b="0"/>
            </a:stretch>
          </a:blipFill>
        </p:spPr>
      </p:sp>
    </p:spTree>
  </p:cSld>
  <p:clrMapOvr>
    <a:masterClrMapping/>
  </p:clrMapOvr>
  <p:transition spd="fast">
    <p:cover dir="d"/>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DAHWBCtviKQ</dc:identifier>
  <dcterms:modified xsi:type="dcterms:W3CDTF">2011-08-01T06:04:30Z</dcterms:modified>
  <cp:revision>1</cp:revision>
  <dc:title>Thuyết trình vân tay</dc:title>
</cp:coreProperties>
</file>